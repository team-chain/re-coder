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98" r:id="rId9"/>
    <p:sldId id="295" r:id="rId10"/>
    <p:sldId id="265" r:id="rId11"/>
    <p:sldId id="266" r:id="rId12"/>
    <p:sldId id="267" r:id="rId13"/>
    <p:sldId id="268" r:id="rId14"/>
    <p:sldId id="300" r:id="rId15"/>
    <p:sldId id="301" r:id="rId16"/>
    <p:sldId id="296" r:id="rId17"/>
    <p:sldId id="273" r:id="rId18"/>
    <p:sldId id="303" r:id="rId19"/>
    <p:sldId id="275" r:id="rId20"/>
    <p:sldId id="302" r:id="rId21"/>
    <p:sldId id="277" r:id="rId22"/>
    <p:sldId id="278" r:id="rId23"/>
    <p:sldId id="279" r:id="rId24"/>
    <p:sldId id="280" r:id="rId25"/>
    <p:sldId id="297" r:id="rId26"/>
    <p:sldId id="283" r:id="rId27"/>
    <p:sldId id="294" r:id="rId28"/>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189"/>
  </p:normalViewPr>
  <p:slideViewPr>
    <p:cSldViewPr snapToGrid="0" snapToObjects="1">
      <p:cViewPr varScale="1">
        <p:scale>
          <a:sx n="143" d="100"/>
          <a:sy n="143" d="100"/>
        </p:scale>
        <p:origin x="7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ReCoder는 VS Code 안에서 자연어 요청 → 설계 결정 → AI 개발 → 보안 검사 → 승인 후 배포 → 운영 감시까지 하나로 잇는 AI Ops Agent입니다.
출처: Recoder 설계서.docx v2.0.9 (2026-10-10), ReCoder_브로셔_수정본.docx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배경과 페르소나, 문제 정의와 서비스 소개에 이어 시스템 아키텍처와 개발·보안·배포 및 운영을 설명합니다. 시연 후 기대 효과, 실제 RAG 실험 결과와 알려진 한계 및 확장 방향, 팀 소개 순서입니다.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바이브 코딩은 이미 일상이 됐습니다. 구글은 엔지니어가 검토·채택하는 신규 코드의 75%가 AI로 작성된다고 밝혔고(구글 클라우드 넥스트 2026), JetBrains 조사에서는 개발자의 90%가 업무에 AI 도구를 정기적으로 쓰고 있습니다. AI 코딩 도구는 선택이 아니라 기본이 됐습니다.</a:t>
            </a:r>
            <a:br/>
            <a:br/>
            <a:r>
              <a:t>기사 화면: 기말발표 자료의 캡처, 빨간 밑줄은 발표용 표시</a:t>
            </a:r>
            <a:br/>
            <a:r>
              <a:t>출처: v.daum.net/v/20260424074412149 (테크42) ; dpg.danawa.com/news/view?boardSeq=60&amp;listSeq=6003754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피차이 CEO는 이를 '코딩 패러다임의 전환'이라 부르며, 엔지니어의 핵심 역할이 코드 생성에서 AI 산출물의 검토·통합으로 이동하고 있다고 말했습니다. 소프트웨어정책연구소(SPRi, RE-192, 2025.04)도 생성형 AI 시대 개발자의 핵심 역량으로 문제 정의, 시스템 설계, AI 결과물 검증 능력을 꼽았습니다. 코드를 쓰는 일은 AI가 맡지만, 결과를 검증하고 배포하고 책임지는 일은 여전히 사람에게 남습니다.</a:t>
            </a:r>
            <a:br/>
            <a:br/>
            <a:r>
              <a:t>출처: v.daum.net/v/20260424074412149 (테크42) ; spri.kr/posts/view/23870?code=research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가상의 사용자 두 명으로 문제를 보여줍니다. AI로 코드는 빨리 만들었지만 Docker와 AWS 배포 설정에서 막히고, 배포해도 안전한지 확인할 방법이 없습니다. 보안 점검 도구는 있어도 따로따로라 매번 빠뜨립니다.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실제 시장에서도 같은 현상이 나타납니다. 프리랜서 플랫폼 크몽에 따르면 바이브코딩 후속 개발 문의가 올해 2분기 전분기 대비 약 200%, 지난해 4분기 대비 반년 만에 약 550% 늘었습니다. 전문가 도움을 가장 많이 찾는 단계는 배포·출시였고, 이어 데이터베이스 구조, 버그 수정·안정화 순이었습니다. 의뢰는 전체 재개발보다 기존 코드의 검수·보완 요청이 많았습니다. 코드는 AI로 만들 수 있게 됐지만, 배포와 운영이 새 병목입니다.</a:t>
            </a:r>
            <a:br/>
            <a:br/>
            <a:r>
              <a:t>출처: 아이뉴스24 2026.09.30 m.inews24.com/v/2010218 ; 테크월드 2026.10.01 epnc.co.kr/news/articleView.html?idxno=407590 (크몽 발표 자료)</a:t>
            </a:r>
            <a:br/>
            <a:r>
              <a:t>기사 화면: 발표자가 직접 캡처 (빨간 밑줄 포함)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 공백에서 가장 먼저 드러나는 문제가 보안입니다. 뉴스1은 미국 코드의 1/3을 AI가 작성하는 상황에서 오류 검수가 문제이며, 사용자 입력값을 철저히 검증하는 시큐어 코딩이 필요하다고 보도했습니다. CIO Korea가 소개한 Tenzai 평가에서는 AI 코딩 도구 5종으로 만든 앱 15개에서 취약점 69개, 치명적 6개가 나왔습니다. 69개는 이 평가의 결과이며 전체 AI 코드의 취약률을 뜻하지 않습니다.</a:t>
            </a:r>
            <a:br/>
            <a:br/>
            <a:r>
              <a:t>기사 화면: 뉴스1은 발표자가 직접 캡처(빨간 밑줄 포함), CIO는 기말발표 자료의 캡처</a:t>
            </a:r>
            <a:br/>
            <a:r>
              <a:t>출처: news1.kr/it-science/general-it/6057933 ; cio.com/article/4117131/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7132B-92F6-6244-E581-82A46DADF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1A7F4-262F-3FE5-B42E-771A1A5C9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EC456-F732-E05C-FB8D-BD67B9582804}"/>
              </a:ext>
            </a:extLst>
          </p:cNvPr>
          <p:cNvSpPr>
            <a:spLocks noGrp="1"/>
          </p:cNvSpPr>
          <p:nvPr>
            <p:ph type="body" idx="1"/>
          </p:nvPr>
        </p:nvSpPr>
        <p:spPr/>
        <p:txBody>
          <a:bodyPr/>
          <a:lstStyle/>
          <a:p>
            <a:r>
              <a:t>기존에는 AI로 코드를 만든 뒤 Dockerfile 작성, 보안 도구 실행, 클라우드 설정, 배포 후 확인을 사람이 도구마다 따로 이어 붙여야 했습니다. 각 연결 지점에서 설정 실수와 점검 누락이 생깁니다. ReCoder는 이 과정을 VS Code 안의 한 흐름으로 묶고, 각 단계에 검증과 승인을 넣었습니다.</a:t>
            </a:r>
            <a:br/>
            <a:br/>
            <a:r>
              <a:t>근거: 보안뉴스 기고 2025.12.9(시크릿 관리·배포 전 보안 검증·최소 권한 권고), Recoder 설계서.docx 1.1</a:t>
            </a:r>
          </a:p>
        </p:txBody>
      </p:sp>
      <p:sp>
        <p:nvSpPr>
          <p:cNvPr id="4" name="Slide Number Placeholder 3">
            <a:extLst>
              <a:ext uri="{FF2B5EF4-FFF2-40B4-BE49-F238E27FC236}">
                <a16:creationId xmlns:a16="http://schemas.microsoft.com/office/drawing/2014/main" id="{9DF39748-43E3-5D17-121D-F88066E5D83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69493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확장은 Develop, Deploy, Security 세 탭으로 구성됩니다. 네 가지 핵심 기능과 승인 원칙을 한 장으로 보여줍니다. 화면은 Deploy 탭의 Drag &amp; Drop 배포 화면입니다.
출처: Recoder 설계서.docx v2.0.9, ReCoder_브로셔_수정본.docx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ReCoder 서비스 아키텍처입니다. 개발자 PC 안의 VS Code 확장과 로컬 Core가 중심이며, 위로는 AI 모델(Bedrock, ReCoder Gateway, Claude/OpenAI API), 오른쪽으로는 사용자 AWS 계정(ECR, ECS, S3, CloudWatch), 아래로는 GitHub, Discord, Marketplace가 연결됩니다. Core는 127.0.0.1에서만 열립니다.</a:t>
            </a:r>
            <a:br/>
            <a:br/>
            <a:r>
              <a:t>출처: ReCoder_브로셔_수정본.docx 원본 아키텍처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아키텍처를 세 영역으로 나눴습니다. 기능 1은 AI 모델을 사용한 설계와 코드 생성, 기능 2는 Docker 빌드와 Trivy·Hadolint·Gitleaks 보안 게이트, 기능 3은 사용자 AWS 계정으로의 배포와 운영입니다. 이후 슬라이드 오른쪽 위의 작은 그림이 지금 설명하는 영역을 표시합니다.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서비스 아키텍처 원본의 개발자 PC 영역을 확대했습니다. VS Code 확장과 로컬 Core, Docker의 연결을 확인한 뒤 기능 1 개발, 기능 2 보안, 기능 3 배포와 운영 순서로 설명합니다. 원본: 제공된 발표자료의 서비스 아키텍처 이미지.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기능 1 영역입니다. 설계 카드 생성과 코드 생성에 쓰는 AI 모델 계층입니다. Bedrock, ReCoder Gateway, Claude API, OpenAI API 중 하나를 연결하며, 학생은 운영자가 올린 ReCoder Gateway를 통해 AWS 키 없이 사용합니다.</a:t>
            </a:r>
            <a:br/>
            <a:br/>
            <a:r>
              <a:t>출처: ReCoder_브로셔_수정본.docx 서비스 아키텍처, Recoder 설계서.docx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AI-DLC 화면입니다. 결제를 어떻게 시작할지 묻는 카드에서 '키 없이 모의 결제로 바로 실행'이 추천으로 표시됩니다. 설계서는 5~8장 카드와 ADR 문서 기록을 설명합니다. 화면 한 장의 선택지 수를 전체 카드 수로 혼동하지 않습니다.</a:t>
            </a:r>
            <a:br/>
            <a:br/>
            <a:r>
              <a:t>출처: Recoder 설계서.docx, 브로셔 원본 화면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Village 화면입니다. '실제 운영 가능한 형태의 쇼핑몰' 요청에 8개 에이전트가 공통 기반 19, 기능 16, 화면 17개 파일을 만들었습니다. 52개 파일 완성은 제공 사례의 결과이며 일반적인 성능으로 주장하지 않습니다.</a:t>
            </a:r>
            <a:br/>
            <a:br/>
            <a:r>
              <a:t>출처: ReCoder_브로셔_수정본.docx 원본 화면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생성 직후에는 결정적 규칙으로 확실한 문제를 먼저 고치고, Docker 빌드와 실행 점검(기동·API 5xx)을 거칩니다. 실패하면 오류 로그와 관련 코드를 AI 교정에 넘기고 다시 빌드합니다.</a:t>
            </a:r>
          </a:p>
          <a:p>
            <a:r>
              <a:t>배포 중 빌드·ECS 실패가 나면 문서 기반 RAG 경로로 넘어갑니다. 규칙으로 처리할 수 있는 오류를 먼저 확인하고, 남은 오류는 BM25와 E5 임베딩 검색을 RRF로 결합해 공식 문서 근거를 찾습니다. 근거 포함 diff를 복사본에서 재검증한 뒤 사용자 승인으로 적용하며, 재배포는 별도 승인입니다. ECS·IAM·S3 환경 오류는 빌드 통과만으로 승인하지 않습니다.</a:t>
            </a:r>
          </a:p>
          <a:p>
            <a:r>
              <a:t>출처: https://github.com/team-chain/Re-Coder/blob/b3c30fd6bbaca89420767f474600e5ee8c63cd42/core/runtime_check.py</a:t>
            </a:r>
          </a:p>
          <a:p>
            <a:r>
              <a:t>https://github.com/team-chain/Re-Coder/blob/b3c30fd6bbaca89420767f474600e5ee8c63cd42/docs/document-grounded-repair.md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기능 2 영역입니다. Core가 Docker로 빌드한 뒤, 배포 전에 Trivy(이미지 취약점), Hadolint(Dockerfile), Gitleaks(비밀값)로 검사합니다. 막을 문제가 있거나 검사를 실행하지 못하면 배포하지 않습니다.</a:t>
            </a:r>
            <a:br/>
            <a:br/>
            <a:r>
              <a:t>출처: ReCoder_브로셔_수정본.docx 서비스 아키텍처, Recoder 설계서.docx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왼쪽은 보안 게이트가 Dockerfile에서 높음 1건을 발견해 빨간불로 배포를 막은 화면입니다. 바로 고칠 수 있는 수정안 2개를 제시하고, 적용하면 원본은 백업에 남깁니다. 오른쪽은 수정안 적용 뒤 재검사해 초록불로 바뀐 화면입니다. 통과는 실행한 검사 범위 안의 결과이며, 범위 밖 결함은 별도 기능 테스트와 사람의 검토가 필요합니다.</a:t>
            </a:r>
            <a:br/>
            <a:br/>
            <a:r>
              <a:t>출처: ReCoder_브로셔_수정본.docx 원본 화면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기능 3 영역입니다. 승인 후 사용자 본인의 AWS 계정으로 배포합니다. 컨테이너 서비스는 ECR에 이미지를 올린 뒤 ECS Fargate로, 정적 사이트는 S3로 배포하고, CloudWatch 로그로 상태를 확인합니다.</a:t>
            </a:r>
            <a:br/>
            <a:br/>
            <a:r>
              <a:t>출처: ReCoder_브로셔_수정본.docx 서비스 아키텍처, Recoder 설계서.docx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배포 대상별 경로를 구분합니다. 로컬 Docker는 AWS 키 없이 이미지 빌드와 컨테이너 실행을 수행합니다. AWS 컨테이너 서비스는 ECR과 ECS Fargate, 정적 사이트는 S3를 사용합니다. 보안 게이트와 사용자 승인을 거친 뒤 실행하며 단계별 상태와 Health Check 결과를 표시합니다. 배포 후 연속 검증은 기본 5분입니다.</a:t>
            </a:r>
          </a:p>
          <a:p>
            <a:r>
              <a:t>화면 설명 순서</a:t>
            </a:r>
          </a:p>
          <a:p>
            <a:r>
              <a:t>01 배포 대상 선택 — Docker는 로컬 컨테이너, ECS는 서버 앱, S3는 정적 사이트에 사용</a:t>
            </a:r>
          </a:p>
          <a:p>
            <a:r>
              <a:t>02 검사와 실행 승인 — 보안 검사 결과와 배포 설정을 확인하고 사용자 승인 뒤 실행</a:t>
            </a:r>
          </a:p>
          <a:p>
            <a:r>
              <a:t>03 배포 상태 검증 — 빌드·업로드·기동 단계를 추적하고 Health Check와 접속 결과 확인</a:t>
            </a:r>
          </a:p>
          <a:p>
            <a:r>
              <a:t>04 이상 감지와 복구 — 배포 직후 5분 감시, 실패 시 롤백 제안, 복구도 승인 후 실행</a:t>
            </a:r>
          </a:p>
          <a:p>
            <a:r>
              <a:t>출처: 제공된 발표자료 및 https://github.com/team-chain/Re-Coder/blob/b3c30fd6bbaca89420767f474600e5ee8c63cd42/core/cv/monitor.py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배포 직후 기본 5분 동안 Health Check·오류 로그·메모리 상태를 관찰합니다. 이상 시 이전 버전 롤백을 제안하며 사용자 승인 뒤 실행합니다. watchdog, CloudWatch, Discord는 선택형 상시 운영 구성입니다. 5분 검증을 장시간 안정성 보장으로 일반화하지 않습니다.</a:t>
            </a:r>
          </a:p>
          <a:p>
            <a:r>
              <a:t>출처: https://github.com/team-chain/Re-Coder/blob/b3c30fd6bbaca89420767f474600e5ee8c63cd42/core/cv/monitor.py</a:t>
            </a:r>
          </a:p>
          <a:p>
            <a:r>
              <a:t>실환경 승인 후 롤백 사례: https://github.com/team-chain/Re-Coder/blob/b3c30fd6bbaca89420767f474600e5ee8c63cd42/docs/production-readiness.md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시연은 AWS 키 없이 가능한 로컬 Docker를 기본으로 합니다. 이 슬라이드는 시연 시나리오이며 실행 완료나 성능 검증 결과가 아닙니다. 발표 전에 Docker와 Core 실행, LLM 연결을 준비합니다.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원본에는 삽입된 동영상 파일이 없습니다. develop README에 공개된 프로젝트 시연 영상으로 연결합니다.</a:t>
            </a:r>
          </a:p>
          <a:p>
            <a:r>
              <a:t>영상: https://youtu.be/1VvfyR7i0tk</a:t>
            </a:r>
          </a:p>
          <a:p>
            <a:r>
              <a:t>출처: https://github.com/team-chain/Re-Coder/blob/b3c30fd6bbaca89420767f474600e5ee8c63cd42/README.md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SPRi 보고서는 AI가 단순 코딩을 일부 대체하면서 문제 정의, 시스템 설계, AI 결과물 검증 능력이 핵심 역량이 된다고 전망합니다. ReCoder는 사용자가 설계를 결정하고 시스템이 결과를 검증하는 구조로 이 방향과 맞닿아 있습니다. 기대 효과는 목표이며, 시간·비용 절감률은 측정 결과가 없으므로 수치로 주장하지 않습니다.</a:t>
            </a:r>
            <a:br/>
            <a:br/>
            <a:r>
              <a:t>출처: spri.kr/posts/view/23870?code=research (RE-192, 2025.4.30)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현재 범위와 확장 방향입니다. 6건은 경계를 확인하려고 넣은 로직 오류 대조군 수, 144회는 2026-10-03 복구 실험의 비교 평가 횟수(36개 과제 × 4조건), 5분은 현재 코드의 감시 기본값입니다. 질문이 나오면 아래 실측값으로 답합니다.</a:t>
            </a:r>
          </a:p>
          <a:p>
            <a:r>
              <a:rPr dirty="0" err="1"/>
              <a:t>첫째</a:t>
            </a:r>
            <a:r>
              <a:rPr dirty="0"/>
              <a:t>, </a:t>
            </a:r>
            <a:r>
              <a:rPr dirty="0" err="1"/>
              <a:t>인가·비즈니스</a:t>
            </a:r>
            <a:r>
              <a:rPr dirty="0"/>
              <a:t> </a:t>
            </a:r>
            <a:r>
              <a:rPr dirty="0" err="1"/>
              <a:t>로직</a:t>
            </a:r>
            <a:r>
              <a:rPr dirty="0"/>
              <a:t> </a:t>
            </a:r>
            <a:r>
              <a:rPr dirty="0" err="1"/>
              <a:t>오류는</a:t>
            </a:r>
            <a:r>
              <a:rPr dirty="0"/>
              <a:t> </a:t>
            </a:r>
            <a:r>
              <a:rPr dirty="0" err="1"/>
              <a:t>규칙과</a:t>
            </a:r>
            <a:r>
              <a:rPr dirty="0"/>
              <a:t> </a:t>
            </a:r>
            <a:r>
              <a:rPr dirty="0" err="1"/>
              <a:t>스캐너</a:t>
            </a:r>
            <a:r>
              <a:rPr dirty="0"/>
              <a:t> </a:t>
            </a:r>
            <a:r>
              <a:rPr dirty="0" err="1"/>
              <a:t>범위</a:t>
            </a:r>
            <a:r>
              <a:rPr dirty="0"/>
              <a:t> </a:t>
            </a:r>
            <a:r>
              <a:rPr dirty="0" err="1"/>
              <a:t>밖입니다</a:t>
            </a:r>
            <a:r>
              <a:rPr dirty="0"/>
              <a:t>. </a:t>
            </a:r>
            <a:r>
              <a:rPr dirty="0" err="1"/>
              <a:t>로직</a:t>
            </a:r>
            <a:r>
              <a:rPr dirty="0"/>
              <a:t> </a:t>
            </a:r>
            <a:r>
              <a:rPr dirty="0" err="1"/>
              <a:t>오류</a:t>
            </a:r>
            <a:r>
              <a:rPr dirty="0"/>
              <a:t> </a:t>
            </a:r>
            <a:r>
              <a:rPr dirty="0" err="1"/>
              <a:t>대조군</a:t>
            </a:r>
            <a:r>
              <a:rPr dirty="0"/>
              <a:t> 6건은 D </a:t>
            </a:r>
            <a:r>
              <a:rPr dirty="0" err="1"/>
              <a:t>조건에서</a:t>
            </a:r>
            <a:r>
              <a:rPr dirty="0"/>
              <a:t> </a:t>
            </a:r>
            <a:r>
              <a:rPr dirty="0" err="1"/>
              <a:t>자동</a:t>
            </a:r>
            <a:r>
              <a:rPr dirty="0"/>
              <a:t> </a:t>
            </a:r>
            <a:r>
              <a:rPr dirty="0" err="1"/>
              <a:t>수정</a:t>
            </a:r>
            <a:r>
              <a:rPr dirty="0"/>
              <a:t> 0건이었습니다. </a:t>
            </a:r>
            <a:r>
              <a:rPr dirty="0" err="1"/>
              <a:t>설계</a:t>
            </a:r>
            <a:r>
              <a:rPr dirty="0"/>
              <a:t> </a:t>
            </a:r>
            <a:r>
              <a:rPr dirty="0" err="1"/>
              <a:t>카드·ADR</a:t>
            </a:r>
            <a:r>
              <a:rPr dirty="0"/>
              <a:t> </a:t>
            </a:r>
            <a:r>
              <a:rPr dirty="0" err="1"/>
              <a:t>기준</a:t>
            </a:r>
            <a:r>
              <a:rPr dirty="0"/>
              <a:t> </a:t>
            </a:r>
            <a:r>
              <a:rPr dirty="0" err="1"/>
              <a:t>기능</a:t>
            </a:r>
            <a:r>
              <a:rPr dirty="0"/>
              <a:t> </a:t>
            </a:r>
            <a:r>
              <a:rPr dirty="0" err="1"/>
              <a:t>테스트와</a:t>
            </a:r>
            <a:r>
              <a:rPr dirty="0"/>
              <a:t> </a:t>
            </a:r>
            <a:r>
              <a:rPr dirty="0" err="1"/>
              <a:t>역할별</a:t>
            </a:r>
            <a:r>
              <a:rPr dirty="0"/>
              <a:t> </a:t>
            </a:r>
            <a:r>
              <a:rPr dirty="0" err="1"/>
              <a:t>접근</a:t>
            </a:r>
            <a:r>
              <a:rPr dirty="0"/>
              <a:t> </a:t>
            </a:r>
            <a:r>
              <a:rPr dirty="0" err="1"/>
              <a:t>테스트</a:t>
            </a:r>
            <a:r>
              <a:rPr dirty="0"/>
              <a:t>(</a:t>
            </a:r>
            <a:r>
              <a:rPr dirty="0" err="1"/>
              <a:t>타</a:t>
            </a:r>
            <a:r>
              <a:rPr dirty="0"/>
              <a:t> </a:t>
            </a:r>
            <a:r>
              <a:rPr dirty="0" err="1"/>
              <a:t>사용자</a:t>
            </a:r>
            <a:r>
              <a:rPr dirty="0"/>
              <a:t> </a:t>
            </a:r>
            <a:r>
              <a:rPr dirty="0" err="1"/>
              <a:t>리소스</a:t>
            </a:r>
            <a:r>
              <a:rPr dirty="0"/>
              <a:t> → 403)</a:t>
            </a:r>
            <a:r>
              <a:rPr dirty="0" err="1"/>
              <a:t>로</a:t>
            </a:r>
            <a:r>
              <a:rPr dirty="0"/>
              <a:t> </a:t>
            </a:r>
            <a:r>
              <a:rPr dirty="0" err="1"/>
              <a:t>보완하고</a:t>
            </a:r>
            <a:r>
              <a:rPr dirty="0"/>
              <a:t>, </a:t>
            </a:r>
            <a:r>
              <a:rPr dirty="0" err="1"/>
              <a:t>로직</a:t>
            </a:r>
            <a:r>
              <a:rPr dirty="0"/>
              <a:t> </a:t>
            </a:r>
            <a:r>
              <a:rPr dirty="0" err="1"/>
              <a:t>오류는</a:t>
            </a:r>
            <a:r>
              <a:rPr dirty="0"/>
              <a:t> </a:t>
            </a:r>
            <a:r>
              <a:rPr dirty="0" err="1"/>
              <a:t>자동</a:t>
            </a:r>
            <a:r>
              <a:rPr dirty="0"/>
              <a:t> </a:t>
            </a:r>
            <a:r>
              <a:rPr dirty="0" err="1"/>
              <a:t>수정</a:t>
            </a:r>
            <a:r>
              <a:rPr dirty="0"/>
              <a:t> </a:t>
            </a:r>
            <a:r>
              <a:rPr dirty="0" err="1"/>
              <a:t>대신</a:t>
            </a:r>
            <a:r>
              <a:rPr dirty="0"/>
              <a:t> </a:t>
            </a:r>
            <a:r>
              <a:rPr dirty="0" err="1"/>
              <a:t>사람</a:t>
            </a:r>
            <a:r>
              <a:rPr dirty="0"/>
              <a:t> </a:t>
            </a:r>
            <a:r>
              <a:rPr dirty="0" err="1"/>
              <a:t>검토로</a:t>
            </a:r>
            <a:r>
              <a:rPr dirty="0"/>
              <a:t> </a:t>
            </a:r>
            <a:r>
              <a:rPr dirty="0" err="1"/>
              <a:t>넘깁니다</a:t>
            </a:r>
            <a:r>
              <a:rPr dirty="0"/>
              <a:t>.</a:t>
            </a:r>
          </a:p>
          <a:p>
            <a:r>
              <a:rPr dirty="0" err="1"/>
              <a:t>둘째</a:t>
            </a:r>
            <a:r>
              <a:rPr dirty="0"/>
              <a:t>, </a:t>
            </a:r>
            <a:r>
              <a:rPr dirty="0" err="1"/>
              <a:t>문서</a:t>
            </a:r>
            <a:r>
              <a:rPr dirty="0"/>
              <a:t> </a:t>
            </a:r>
            <a:r>
              <a:rPr dirty="0" err="1"/>
              <a:t>기반</a:t>
            </a:r>
            <a:r>
              <a:rPr dirty="0"/>
              <a:t> D </a:t>
            </a:r>
            <a:r>
              <a:rPr dirty="0" err="1"/>
              <a:t>조건</a:t>
            </a:r>
            <a:r>
              <a:rPr dirty="0"/>
              <a:t> </a:t>
            </a:r>
            <a:r>
              <a:rPr dirty="0" err="1"/>
              <a:t>해결은</a:t>
            </a:r>
            <a:r>
              <a:rPr dirty="0"/>
              <a:t> 21/32(65.6%)</a:t>
            </a:r>
            <a:r>
              <a:rPr dirty="0" err="1"/>
              <a:t>로</a:t>
            </a:r>
            <a:r>
              <a:rPr dirty="0"/>
              <a:t> </a:t>
            </a:r>
            <a:r>
              <a:rPr dirty="0" err="1"/>
              <a:t>대형</a:t>
            </a:r>
            <a:r>
              <a:rPr dirty="0"/>
              <a:t> </a:t>
            </a:r>
            <a:r>
              <a:rPr dirty="0" err="1"/>
              <a:t>모델</a:t>
            </a:r>
            <a:r>
              <a:rPr dirty="0"/>
              <a:t> </a:t>
            </a:r>
            <a:r>
              <a:rPr dirty="0" err="1"/>
              <a:t>단독</a:t>
            </a:r>
            <a:r>
              <a:rPr dirty="0"/>
              <a:t> 30/32(93.8%)</a:t>
            </a:r>
            <a:r>
              <a:rPr dirty="0" err="1"/>
              <a:t>보다</a:t>
            </a:r>
            <a:r>
              <a:rPr dirty="0"/>
              <a:t> </a:t>
            </a:r>
            <a:r>
              <a:rPr dirty="0" err="1"/>
              <a:t>낮았습니다</a:t>
            </a:r>
            <a:r>
              <a:rPr dirty="0"/>
              <a:t>. 36개 </a:t>
            </a:r>
            <a:r>
              <a:rPr dirty="0" err="1"/>
              <a:t>합성</a:t>
            </a:r>
            <a:r>
              <a:rPr dirty="0"/>
              <a:t> </a:t>
            </a:r>
            <a:r>
              <a:rPr dirty="0" err="1"/>
              <a:t>과제를</a:t>
            </a:r>
            <a:r>
              <a:rPr dirty="0"/>
              <a:t> </a:t>
            </a:r>
            <a:r>
              <a:rPr dirty="0" err="1"/>
              <a:t>조건별</a:t>
            </a:r>
            <a:r>
              <a:rPr dirty="0"/>
              <a:t> 1회(seed 42) </a:t>
            </a:r>
            <a:r>
              <a:rPr dirty="0" err="1"/>
              <a:t>평가한</a:t>
            </a:r>
            <a:r>
              <a:rPr dirty="0"/>
              <a:t> </a:t>
            </a:r>
            <a:r>
              <a:rPr dirty="0" err="1"/>
              <a:t>탐색</a:t>
            </a:r>
            <a:r>
              <a:rPr dirty="0"/>
              <a:t> </a:t>
            </a:r>
            <a:r>
              <a:rPr dirty="0" err="1"/>
              <a:t>실험이며</a:t>
            </a:r>
            <a:r>
              <a:rPr dirty="0"/>
              <a:t>, </a:t>
            </a:r>
            <a:r>
              <a:rPr dirty="0" err="1"/>
              <a:t>규칙이</a:t>
            </a:r>
            <a:r>
              <a:rPr dirty="0"/>
              <a:t> </a:t>
            </a:r>
            <a:r>
              <a:rPr dirty="0" err="1"/>
              <a:t>처리한</a:t>
            </a:r>
            <a:r>
              <a:rPr dirty="0"/>
              <a:t> 4건은 </a:t>
            </a:r>
            <a:r>
              <a:rPr dirty="0" err="1"/>
              <a:t>분모에서</a:t>
            </a:r>
            <a:r>
              <a:rPr dirty="0"/>
              <a:t> </a:t>
            </a:r>
            <a:r>
              <a:rPr dirty="0" err="1"/>
              <a:t>제외했습니다</a:t>
            </a:r>
            <a:r>
              <a:rPr dirty="0"/>
              <a:t>. </a:t>
            </a:r>
            <a:r>
              <a:rPr dirty="0" err="1"/>
              <a:t>오류</a:t>
            </a:r>
            <a:r>
              <a:rPr dirty="0"/>
              <a:t> </a:t>
            </a:r>
            <a:r>
              <a:rPr dirty="0" err="1"/>
              <a:t>유형별로</a:t>
            </a:r>
            <a:r>
              <a:rPr dirty="0"/>
              <a:t> </a:t>
            </a:r>
            <a:r>
              <a:rPr dirty="0" err="1"/>
              <a:t>모델</a:t>
            </a:r>
            <a:r>
              <a:rPr dirty="0"/>
              <a:t> </a:t>
            </a:r>
            <a:r>
              <a:rPr dirty="0" err="1"/>
              <a:t>단독과</a:t>
            </a:r>
            <a:r>
              <a:rPr dirty="0"/>
              <a:t> </a:t>
            </a:r>
            <a:r>
              <a:rPr dirty="0" err="1"/>
              <a:t>문서</a:t>
            </a:r>
            <a:r>
              <a:rPr dirty="0"/>
              <a:t> </a:t>
            </a:r>
            <a:r>
              <a:rPr dirty="0" err="1"/>
              <a:t>근거</a:t>
            </a:r>
            <a:r>
              <a:rPr dirty="0"/>
              <a:t> </a:t>
            </a:r>
            <a:r>
              <a:rPr dirty="0" err="1"/>
              <a:t>경로를</a:t>
            </a:r>
            <a:r>
              <a:rPr dirty="0"/>
              <a:t> </a:t>
            </a:r>
            <a:r>
              <a:rPr dirty="0" err="1"/>
              <a:t>나누고</a:t>
            </a:r>
            <a:r>
              <a:rPr dirty="0"/>
              <a:t>, </a:t>
            </a:r>
            <a:r>
              <a:rPr dirty="0" err="1"/>
              <a:t>미사용</a:t>
            </a:r>
            <a:r>
              <a:rPr dirty="0"/>
              <a:t> </a:t>
            </a:r>
            <a:r>
              <a:rPr dirty="0" err="1"/>
              <a:t>저장소·오류로</a:t>
            </a:r>
            <a:r>
              <a:rPr dirty="0"/>
              <a:t> </a:t>
            </a:r>
            <a:r>
              <a:rPr dirty="0" err="1"/>
              <a:t>만든</a:t>
            </a:r>
            <a:r>
              <a:rPr dirty="0"/>
              <a:t> </a:t>
            </a:r>
            <a:r>
              <a:rPr dirty="0" err="1"/>
              <a:t>검증</a:t>
            </a:r>
            <a:r>
              <a:rPr dirty="0"/>
              <a:t> </a:t>
            </a:r>
            <a:r>
              <a:rPr dirty="0" err="1"/>
              <a:t>집합에서</a:t>
            </a:r>
            <a:r>
              <a:rPr dirty="0"/>
              <a:t> </a:t>
            </a:r>
            <a:r>
              <a:rPr dirty="0" err="1"/>
              <a:t>다중</a:t>
            </a:r>
            <a:r>
              <a:rPr dirty="0"/>
              <a:t> </a:t>
            </a:r>
            <a:r>
              <a:rPr dirty="0" err="1"/>
              <a:t>seed로</a:t>
            </a:r>
            <a:r>
              <a:rPr dirty="0"/>
              <a:t> </a:t>
            </a:r>
            <a:r>
              <a:rPr dirty="0" err="1"/>
              <a:t>반복</a:t>
            </a:r>
            <a:r>
              <a:rPr dirty="0"/>
              <a:t> </a:t>
            </a:r>
            <a:r>
              <a:rPr dirty="0" err="1"/>
              <a:t>측정할</a:t>
            </a:r>
            <a:r>
              <a:rPr dirty="0"/>
              <a:t> </a:t>
            </a:r>
            <a:r>
              <a:rPr dirty="0" err="1"/>
              <a:t>계획입니다</a:t>
            </a:r>
            <a:r>
              <a:rPr dirty="0"/>
              <a:t>. </a:t>
            </a:r>
            <a:r>
              <a:rPr dirty="0" err="1"/>
              <a:t>쇼핑몰</a:t>
            </a:r>
            <a:r>
              <a:rPr dirty="0"/>
              <a:t> </a:t>
            </a:r>
            <a:r>
              <a:rPr dirty="0" err="1"/>
              <a:t>수락</a:t>
            </a:r>
            <a:r>
              <a:rPr dirty="0"/>
              <a:t> 50항목으로 </a:t>
            </a:r>
            <a:r>
              <a:rPr dirty="0" err="1"/>
              <a:t>생성·빌드·복구</a:t>
            </a:r>
            <a:r>
              <a:rPr dirty="0"/>
              <a:t> </a:t>
            </a:r>
            <a:r>
              <a:rPr dirty="0" err="1"/>
              <a:t>성공률과</a:t>
            </a:r>
            <a:r>
              <a:rPr dirty="0"/>
              <a:t> </a:t>
            </a:r>
            <a:r>
              <a:rPr dirty="0" err="1"/>
              <a:t>배포</a:t>
            </a:r>
            <a:r>
              <a:rPr dirty="0"/>
              <a:t> </a:t>
            </a:r>
            <a:r>
              <a:rPr dirty="0" err="1"/>
              <a:t>시간도</a:t>
            </a:r>
            <a:r>
              <a:rPr dirty="0"/>
              <a:t> </a:t>
            </a:r>
            <a:r>
              <a:rPr dirty="0" err="1"/>
              <a:t>측정합니다</a:t>
            </a:r>
            <a:r>
              <a:rPr dirty="0"/>
              <a:t>.</a:t>
            </a:r>
          </a:p>
          <a:p>
            <a:r>
              <a:rPr dirty="0" err="1"/>
              <a:t>셋째</a:t>
            </a:r>
            <a:r>
              <a:rPr dirty="0"/>
              <a:t>, </a:t>
            </a:r>
            <a:r>
              <a:rPr dirty="0" err="1"/>
              <a:t>배포</a:t>
            </a:r>
            <a:r>
              <a:rPr dirty="0"/>
              <a:t> </a:t>
            </a:r>
            <a:r>
              <a:rPr dirty="0" err="1"/>
              <a:t>직후</a:t>
            </a:r>
            <a:r>
              <a:rPr dirty="0"/>
              <a:t> </a:t>
            </a:r>
            <a:r>
              <a:rPr dirty="0" err="1"/>
              <a:t>기본</a:t>
            </a:r>
            <a:r>
              <a:rPr dirty="0"/>
              <a:t> </a:t>
            </a:r>
            <a:r>
              <a:rPr dirty="0" err="1"/>
              <a:t>감시는</a:t>
            </a:r>
            <a:r>
              <a:rPr dirty="0"/>
              <a:t> 5분이며 </a:t>
            </a:r>
            <a:r>
              <a:rPr dirty="0" err="1"/>
              <a:t>watchdog·CloudWatch·Discord</a:t>
            </a:r>
            <a:r>
              <a:rPr dirty="0"/>
              <a:t> </a:t>
            </a:r>
            <a:r>
              <a:rPr dirty="0" err="1"/>
              <a:t>상시</a:t>
            </a:r>
            <a:r>
              <a:rPr dirty="0"/>
              <a:t> </a:t>
            </a:r>
            <a:r>
              <a:rPr dirty="0" err="1"/>
              <a:t>감시는</a:t>
            </a:r>
            <a:r>
              <a:rPr dirty="0"/>
              <a:t> </a:t>
            </a:r>
            <a:r>
              <a:rPr dirty="0" err="1"/>
              <a:t>선택</a:t>
            </a:r>
            <a:r>
              <a:rPr dirty="0"/>
              <a:t> </a:t>
            </a:r>
            <a:r>
              <a:rPr dirty="0" err="1"/>
              <a:t>구성입니다</a:t>
            </a:r>
            <a:r>
              <a:rPr dirty="0"/>
              <a:t>. CloudWatch </a:t>
            </a:r>
            <a:r>
              <a:rPr dirty="0" err="1"/>
              <a:t>경보와</a:t>
            </a:r>
            <a:r>
              <a:rPr dirty="0"/>
              <a:t> Discord </a:t>
            </a:r>
            <a:r>
              <a:rPr dirty="0" err="1"/>
              <a:t>알림을</a:t>
            </a:r>
            <a:r>
              <a:rPr dirty="0"/>
              <a:t> </a:t>
            </a:r>
            <a:r>
              <a:rPr dirty="0" err="1"/>
              <a:t>기본</a:t>
            </a:r>
            <a:r>
              <a:rPr dirty="0"/>
              <a:t> </a:t>
            </a:r>
            <a:r>
              <a:rPr dirty="0" err="1"/>
              <a:t>연결하고</a:t>
            </a:r>
            <a:r>
              <a:rPr dirty="0"/>
              <a:t>, ECS </a:t>
            </a:r>
            <a:r>
              <a:rPr dirty="0" err="1"/>
              <a:t>이미지</a:t>
            </a:r>
            <a:r>
              <a:rPr dirty="0"/>
              <a:t> </a:t>
            </a:r>
            <a:r>
              <a:rPr dirty="0" err="1"/>
              <a:t>pull·IAM</a:t>
            </a:r>
            <a:r>
              <a:rPr dirty="0"/>
              <a:t> </a:t>
            </a:r>
            <a:r>
              <a:rPr dirty="0" err="1"/>
              <a:t>권한</a:t>
            </a:r>
            <a:r>
              <a:rPr dirty="0"/>
              <a:t> </a:t>
            </a:r>
            <a:r>
              <a:rPr dirty="0" err="1"/>
              <a:t>오류는</a:t>
            </a:r>
            <a:r>
              <a:rPr dirty="0"/>
              <a:t> </a:t>
            </a:r>
            <a:r>
              <a:rPr dirty="0" err="1"/>
              <a:t>실제</a:t>
            </a:r>
            <a:r>
              <a:rPr dirty="0"/>
              <a:t> AWS </a:t>
            </a:r>
            <a:r>
              <a:rPr dirty="0" err="1"/>
              <a:t>계정에서</a:t>
            </a:r>
            <a:r>
              <a:rPr dirty="0"/>
              <a:t> </a:t>
            </a:r>
            <a:r>
              <a:rPr dirty="0" err="1"/>
              <a:t>재현하며</a:t>
            </a:r>
            <a:r>
              <a:rPr dirty="0"/>
              <a:t>, </a:t>
            </a:r>
            <a:r>
              <a:rPr dirty="0" err="1"/>
              <a:t>장애</a:t>
            </a:r>
            <a:r>
              <a:rPr dirty="0"/>
              <a:t> </a:t>
            </a:r>
            <a:r>
              <a:rPr dirty="0" err="1"/>
              <a:t>주입으로</a:t>
            </a:r>
            <a:r>
              <a:rPr dirty="0"/>
              <a:t> </a:t>
            </a:r>
            <a:r>
              <a:rPr dirty="0" err="1"/>
              <a:t>롤백·DB</a:t>
            </a:r>
            <a:r>
              <a:rPr dirty="0"/>
              <a:t> </a:t>
            </a:r>
            <a:r>
              <a:rPr dirty="0" err="1"/>
              <a:t>복구</a:t>
            </a:r>
            <a:r>
              <a:rPr dirty="0"/>
              <a:t> </a:t>
            </a:r>
            <a:r>
              <a:rPr dirty="0" err="1"/>
              <a:t>경로를</a:t>
            </a:r>
            <a:r>
              <a:rPr dirty="0"/>
              <a:t> </a:t>
            </a:r>
            <a:r>
              <a:rPr dirty="0" err="1"/>
              <a:t>점검합니다</a:t>
            </a:r>
            <a:r>
              <a:rPr dirty="0"/>
              <a:t>. RAG </a:t>
            </a:r>
            <a:r>
              <a:rPr dirty="0" err="1"/>
              <a:t>실험의</a:t>
            </a:r>
            <a:r>
              <a:rPr dirty="0"/>
              <a:t> ECS/ECR 4건은 </a:t>
            </a:r>
            <a:r>
              <a:rPr dirty="0" err="1"/>
              <a:t>로컬</a:t>
            </a:r>
            <a:r>
              <a:rPr dirty="0"/>
              <a:t> </a:t>
            </a:r>
            <a:r>
              <a:rPr dirty="0" err="1"/>
              <a:t>계약</a:t>
            </a:r>
            <a:r>
              <a:rPr dirty="0"/>
              <a:t> </a:t>
            </a:r>
            <a:r>
              <a:rPr dirty="0" err="1"/>
              <a:t>검사로</a:t>
            </a:r>
            <a:r>
              <a:rPr dirty="0"/>
              <a:t> </a:t>
            </a:r>
            <a:r>
              <a:rPr dirty="0" err="1"/>
              <a:t>실제</a:t>
            </a:r>
            <a:r>
              <a:rPr dirty="0"/>
              <a:t> Fargate </a:t>
            </a:r>
            <a:r>
              <a:rPr dirty="0" err="1"/>
              <a:t>배포</a:t>
            </a:r>
            <a:r>
              <a:rPr dirty="0"/>
              <a:t> </a:t>
            </a:r>
            <a:r>
              <a:rPr dirty="0" err="1"/>
              <a:t>성공과</a:t>
            </a:r>
            <a:r>
              <a:rPr dirty="0"/>
              <a:t> </a:t>
            </a:r>
            <a:r>
              <a:rPr dirty="0" err="1"/>
              <a:t>별개입니다</a:t>
            </a:r>
            <a:r>
              <a:rPr dirty="0"/>
              <a:t>.</a:t>
            </a:r>
          </a:p>
          <a:p>
            <a:r>
              <a:rPr dirty="0" err="1"/>
              <a:t>출처</a:t>
            </a:r>
            <a:r>
              <a:rPr dirty="0"/>
              <a:t>: https://</a:t>
            </a:r>
            <a:r>
              <a:rPr dirty="0" err="1"/>
              <a:t>github.com</a:t>
            </a:r>
            <a:r>
              <a:rPr dirty="0"/>
              <a:t>/team-chain/Re-Coder/blob/b3c30fd6bbaca89420767f474600e5ee8c63cd42/benchmarks/repair/</a:t>
            </a:r>
            <a:r>
              <a:rPr dirty="0" err="1"/>
              <a:t>RESULTS.md</a:t>
            </a:r>
            <a:endParaRPr dirty="0"/>
          </a:p>
          <a:p>
            <a:r>
              <a:rPr dirty="0"/>
              <a:t>https://</a:t>
            </a:r>
            <a:r>
              <a:rPr dirty="0" err="1"/>
              <a:t>github.com</a:t>
            </a:r>
            <a:r>
              <a:rPr dirty="0"/>
              <a:t>/team-chain/Re-Coder/blob/b3c30fd6bbaca89420767f474600e5ee8c63cd42/core/cv/</a:t>
            </a:r>
            <a:r>
              <a:rPr dirty="0" err="1"/>
              <a:t>monitor.py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팀 Chain은 두 명입니다. 이동규는 백엔드·인프라, 윤세빈은 AI·프론트엔드와 확장을 맡았습니다. 설계서는 윤세빈을 확장·코드 분석, 브로셔는 AI·Front로 설명하므로 두 문서를 포괄했습니다. 개발 환경은 브로셔 기준입니다.</a:t>
            </a:r>
            <a:br/>
            <a:br/>
            <a:r>
              <a:t>출처: Recoder 설계서.docx 1.3, ReCoder_브로셔_수정본.docx 3장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들어주셔서 감사합니다. 질문을 받겠습니다.
디자인 참고: AWS11기_4조_발표자료.pdf, AWS 13기 4조 최종 발표 자료(BADA)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1F4F8"/>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56505B0-A191-453A-B68B-FBCCF23238F3}"/>
              </a:ext>
            </a:extLst>
          </p:cNvPr>
          <p:cNvSpPr>
            <a:spLocks noGrp="1"/>
          </p:cNvSpPr>
          <p:nvPr>
            <p:ph type="title" idx="100" hasCustomPrompt="1"/>
          </p:nvPr>
        </p:nvSpPr>
        <p:spPr>
          <a:xfrm>
            <a:off x="320040" y="182880"/>
            <a:ext cx="6035040" cy="457200"/>
          </a:xfrm>
          <a:prstGeom prst="rect">
            <a:avLst/>
          </a:prstGeom>
          <a:noFill/>
        </p:spPr>
        <p:txBody>
          <a:bodyPr wrap="square"/>
          <a:lstStyle>
            <a:lvl1pPr marL="0" indent="0" algn="l">
              <a:buNone/>
              <a:defRPr sz="2000" b="1">
                <a:solidFill>
                  <a:srgbClr val="2B7FD4"/>
                </a:solidFill>
                <a:latin typeface="Malgun Gothic"/>
                <a:ea typeface="Malgun Gothic"/>
                <a:cs typeface="Malgun Gothic"/>
              </a:defRPr>
            </a:lvl1pPr>
          </a:lstStyle>
          <a:p>
            <a:pPr marL="0" indent="0" algn="l">
              <a:buNone/>
            </a:pPr>
            <a:endParaRPr sz="2000"/>
          </a:p>
        </p:txBody>
      </p:sp>
      <p:sp>
        <p:nvSpPr>
          <p:cNvPr id="3" name="Text 0">
            <a:extLst>
              <a:ext uri="{FF2B5EF4-FFF2-40B4-BE49-F238E27FC236}">
                <a16:creationId xmlns:a16="http://schemas.microsoft.com/office/drawing/2014/main" id="{09DBC2D9-8690-4FE6-A4AE-2E98A8345BCB}"/>
              </a:ext>
            </a:extLst>
          </p:cNvPr>
          <p:cNvSpPr>
            <a:spLocks noGrp="1"/>
          </p:cNvSpPr>
          <p:nvPr>
            <p:ph type="body" idx="101" hasCustomPrompt="1"/>
          </p:nvPr>
        </p:nvSpPr>
        <p:spPr>
          <a:xfrm>
            <a:off x="6355080" y="228600"/>
            <a:ext cx="2468880" cy="365760"/>
          </a:xfrm>
          <a:prstGeom prst="rect">
            <a:avLst/>
          </a:prstGeom>
          <a:noFill/>
        </p:spPr>
        <p:txBody>
          <a:bodyPr wrap="square"/>
          <a:lstStyle>
            <a:lvl1pPr marL="0" indent="0" algn="r">
              <a:buNone/>
              <a:defRPr sz="1000" b="1">
                <a:solidFill>
                  <a:srgbClr val="2B7FD4"/>
                </a:solidFill>
                <a:latin typeface="Malgun Gothic"/>
                <a:ea typeface="Malgun Gothic"/>
                <a:cs typeface="Malgun Gothic"/>
              </a:defRPr>
            </a:lvl1pPr>
          </a:lstStyle>
          <a:p>
            <a:pPr marL="0" indent="0" algn="r">
              <a:buNone/>
            </a:pPr>
            <a:endParaRPr sz="1000"/>
          </a:p>
        </p:txBody>
      </p:sp>
      <p:sp>
        <p:nvSpPr>
          <p:cNvPr id="25" name="Slide Number Placeholder 0">
            <a:extLst>
              <a:ext uri="{FF2B5EF4-FFF2-40B4-BE49-F238E27FC236}">
                <a16:creationId xmlns:a16="http://schemas.microsoft.com/office/drawing/2014/main" id="{227EA2E4-1872-4BD7-8F83-3E34D5F9B46D}"/>
              </a:ext>
            </a:extLst>
          </p:cNvPr>
          <p:cNvSpPr>
            <a:spLocks noGrp="1"/>
          </p:cNvSpPr>
          <p:nvPr>
            <p:ph type="sldNum" idx="4294967295"/>
          </p:nvPr>
        </p:nvSpPr>
        <p:spPr>
          <a:xfrm>
            <a:off x="8366760" y="4773168"/>
            <a:ext cx="457200" cy="228600"/>
          </a:xfrm>
          <a:prstGeom prst="rect">
            <a:avLst/>
          </a:prstGeom>
        </p:spPr>
        <p:txBody>
          <a:bodyPr/>
          <a:lstStyle>
            <a:lvl1pPr>
              <a:buNone/>
              <a:defRPr sz="900">
                <a:solidFill>
                  <a:srgbClr val="2B7FD4"/>
                </a:solidFill>
                <a:latin typeface="Malgun Gothic"/>
                <a:ea typeface="Malgun Gothic"/>
                <a:cs typeface="Malgun Gothic"/>
              </a:defRPr>
            </a:lvl1pPr>
          </a:lstStyle>
          <a:p>
            <a:pPr algn="r">
              <a:buNone/>
            </a:pPr>
            <a:fld id="{F7021451-1387-4CA6-816F-3879F97B5CBC}" type="slidenum">
              <a:rPr b="1"/>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G">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30D719-C57E-43E1-8DBB-86E0E1235B59}"/>
              </a:ext>
            </a:extLst>
          </p:cNvPr>
          <p:cNvSpPr>
            <a:spLocks noGrp="1"/>
          </p:cNvSpPr>
          <p:nvPr>
            <p:ph type="title" idx="100" hasCustomPrompt="1"/>
          </p:nvPr>
        </p:nvSpPr>
        <p:spPr>
          <a:xfrm>
            <a:off x="320040" y="182880"/>
            <a:ext cx="6035040" cy="457200"/>
          </a:xfrm>
          <a:prstGeom prst="rect">
            <a:avLst/>
          </a:prstGeom>
          <a:noFill/>
        </p:spPr>
        <p:txBody>
          <a:bodyPr wrap="square"/>
          <a:lstStyle>
            <a:lvl1pPr marL="0" indent="0" algn="l">
              <a:buNone/>
              <a:defRPr sz="2000" b="1">
                <a:solidFill>
                  <a:srgbClr val="2B7FD4"/>
                </a:solidFill>
                <a:latin typeface="Malgun Gothic"/>
                <a:ea typeface="Malgun Gothic"/>
                <a:cs typeface="Malgun Gothic"/>
              </a:defRPr>
            </a:lvl1pPr>
          </a:lstStyle>
          <a:p>
            <a:pPr marL="0" indent="0" algn="l">
              <a:buNone/>
            </a:pPr>
            <a:endParaRPr sz="2000"/>
          </a:p>
        </p:txBody>
      </p:sp>
      <p:sp>
        <p:nvSpPr>
          <p:cNvPr id="3" name="Text 0">
            <a:extLst>
              <a:ext uri="{FF2B5EF4-FFF2-40B4-BE49-F238E27FC236}">
                <a16:creationId xmlns:a16="http://schemas.microsoft.com/office/drawing/2014/main" id="{A62F569D-2DEE-4EB0-9D25-2502B900F87A}"/>
              </a:ext>
            </a:extLst>
          </p:cNvPr>
          <p:cNvSpPr>
            <a:spLocks noGrp="1"/>
          </p:cNvSpPr>
          <p:nvPr>
            <p:ph type="body" idx="101" hasCustomPrompt="1"/>
          </p:nvPr>
        </p:nvSpPr>
        <p:spPr>
          <a:xfrm>
            <a:off x="6355080" y="228600"/>
            <a:ext cx="2468880" cy="365760"/>
          </a:xfrm>
          <a:prstGeom prst="rect">
            <a:avLst/>
          </a:prstGeom>
          <a:noFill/>
        </p:spPr>
        <p:txBody>
          <a:bodyPr wrap="square"/>
          <a:lstStyle>
            <a:lvl1pPr marL="0" indent="0" algn="r">
              <a:buNone/>
              <a:defRPr sz="1000" b="1">
                <a:solidFill>
                  <a:srgbClr val="2B7FD4"/>
                </a:solidFill>
                <a:latin typeface="Malgun Gothic"/>
                <a:ea typeface="Malgun Gothic"/>
                <a:cs typeface="Malgun Gothic"/>
              </a:defRPr>
            </a:lvl1pPr>
          </a:lstStyle>
          <a:p>
            <a:pPr marL="0" indent="0" algn="r">
              <a:buNone/>
            </a:pPr>
            <a:endParaRPr sz="1000"/>
          </a:p>
        </p:txBody>
      </p:sp>
      <p:sp>
        <p:nvSpPr>
          <p:cNvPr id="25" name="Slide Number Placeholder 0">
            <a:extLst>
              <a:ext uri="{FF2B5EF4-FFF2-40B4-BE49-F238E27FC236}">
                <a16:creationId xmlns:a16="http://schemas.microsoft.com/office/drawing/2014/main" id="{715AFA78-8897-4D39-93D2-A165EC484FD5}"/>
              </a:ext>
            </a:extLst>
          </p:cNvPr>
          <p:cNvSpPr>
            <a:spLocks noGrp="1"/>
          </p:cNvSpPr>
          <p:nvPr>
            <p:ph type="sldNum" idx="4294967295"/>
          </p:nvPr>
        </p:nvSpPr>
        <p:spPr>
          <a:xfrm>
            <a:off x="8366760" y="4773168"/>
            <a:ext cx="457200" cy="228600"/>
          </a:xfrm>
          <a:prstGeom prst="rect">
            <a:avLst/>
          </a:prstGeom>
        </p:spPr>
        <p:txBody>
          <a:bodyPr/>
          <a:lstStyle>
            <a:lvl1pPr>
              <a:buNone/>
              <a:defRPr sz="900">
                <a:solidFill>
                  <a:srgbClr val="2B7FD4"/>
                </a:solidFill>
                <a:latin typeface="Malgun Gothic"/>
                <a:ea typeface="Malgun Gothic"/>
                <a:cs typeface="Malgun Gothic"/>
              </a:defRPr>
            </a:lvl1pPr>
          </a:lstStyle>
          <a:p>
            <a:pPr algn="r">
              <a:buNone/>
            </a:pPr>
            <a:fld id="{F7021451-1387-4CA6-816F-3879F97B5CBC}" type="slidenum">
              <a:rPr b="1"/>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F1F4F8"/>
        </a:solidFill>
        <a:effectLst/>
      </p:bgPr>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A1207B0A-2200-46F8-9868-B871E8A7B266}"/>
              </a:ext>
            </a:extLst>
          </p:cNvPr>
          <p:cNvSpPr>
            <a:spLocks noGrp="1"/>
          </p:cNvSpPr>
          <p:nvPr>
            <p:ph type="sldNum" idx="4294967295"/>
          </p:nvPr>
        </p:nvSpPr>
        <p:spPr>
          <a:xfrm>
            <a:off x="8366760" y="4773168"/>
            <a:ext cx="457200" cy="228600"/>
          </a:xfrm>
          <a:prstGeom prst="rect">
            <a:avLst/>
          </a:prstGeom>
        </p:spPr>
        <p:txBody>
          <a:bodyPr/>
          <a:lstStyle>
            <a:lvl1pPr>
              <a:buNone/>
              <a:defRPr sz="900">
                <a:solidFill>
                  <a:srgbClr val="2B7FD4"/>
                </a:solidFill>
                <a:latin typeface="Malgun Gothic"/>
                <a:ea typeface="Malgun Gothic"/>
                <a:cs typeface="Malgun Gothic"/>
              </a:defRPr>
            </a:lvl1pPr>
          </a:lstStyle>
          <a:p>
            <a:pPr algn="r">
              <a:buNone/>
            </a:pPr>
            <a:fld id="{F7021451-1387-4CA6-816F-3879F97B5CBC}" type="slidenum">
              <a:rPr b="1"/>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LAIN">
    <p:bg>
      <p:bgPr>
        <a:solidFill>
          <a:srgbClr val="F1F4F8"/>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AN">
    <p:bg>
      <p:bgPr>
        <a:solidFill>
          <a:srgbClr val="0B122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31886544-2A83-4945-AC7D-F99D9399DD60}"/>
              </a:ext>
            </a:extLst>
          </p:cNvPr>
          <p:cNvSpPr>
            <a:spLocks noGrp="1"/>
          </p:cNvSpPr>
          <p:nvPr>
            <p:ph type="sldNum" idx="4294967295"/>
          </p:nvPr>
        </p:nvSpPr>
        <p:spPr>
          <a:xfrm>
            <a:off x="8366760" y="4773168"/>
            <a:ext cx="457200" cy="228600"/>
          </a:xfrm>
          <a:prstGeom prst="rect">
            <a:avLst/>
          </a:prstGeom>
        </p:spPr>
        <p:txBody>
          <a:bodyPr/>
          <a:lstStyle>
            <a:lvl1pPr>
              <a:buNone/>
              <a:defRPr sz="900">
                <a:solidFill>
                  <a:srgbClr val="2B7FD4"/>
                </a:solidFill>
                <a:latin typeface="Malgun Gothic"/>
                <a:ea typeface="Malgun Gothic"/>
                <a:cs typeface="Malgun Gothic"/>
              </a:defRPr>
            </a:lvl1pPr>
          </a:lstStyle>
          <a:p>
            <a:pPr algn="r">
              <a:buNone/>
            </a:pPr>
            <a:fld id="{F7021451-1387-4CA6-816F-3879F97B5CBC}" type="slidenum">
              <a:rPr b="1"/>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8.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5.jpe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274320"/>
            <a:ext cx="1097280" cy="228600"/>
          </a:xfrm>
          <a:prstGeom prst="rect">
            <a:avLst/>
          </a:prstGeom>
          <a:noFill/>
          <a:ln/>
        </p:spPr>
        <p:txBody>
          <a:bodyPr wrap="square" lIns="0" tIns="0" rIns="0" bIns="0" rtlCol="0" anchor="t"/>
          <a:lstStyle/>
          <a:p>
            <a:pPr marL="0" indent="0">
              <a:buNone/>
            </a:pPr>
            <a:r>
              <a:rPr lang="en-US" sz="900" b="1" dirty="0">
                <a:solidFill>
                  <a:srgbClr val="141B26"/>
                </a:solidFill>
                <a:latin typeface="Malgun Gothic" pitchFamily="34" charset="0"/>
                <a:ea typeface="Malgun Gothic" pitchFamily="34" charset="-122"/>
                <a:cs typeface="Malgun Gothic" pitchFamily="34" charset="-120"/>
              </a:rPr>
              <a:t>TEAM Chain</a:t>
            </a:r>
            <a:endParaRPr lang="en-US" sz="900" dirty="0"/>
          </a:p>
        </p:txBody>
      </p:sp>
      <p:sp>
        <p:nvSpPr>
          <p:cNvPr id="3" name="Text 1"/>
          <p:cNvSpPr txBox="1"/>
          <p:nvPr/>
        </p:nvSpPr>
        <p:spPr>
          <a:xfrm>
            <a:off x="1600200" y="274320"/>
            <a:ext cx="2194560" cy="228600"/>
          </a:xfrm>
          <a:prstGeom prst="rect">
            <a:avLst/>
          </a:prstGeom>
          <a:noFill/>
          <a:ln/>
        </p:spPr>
        <p:txBody>
          <a:bodyPr wrap="square" lIns="0" tIns="0" rIns="0" bIns="0" rtlCol="0" anchor="t"/>
          <a:lstStyle/>
          <a:p>
            <a:pPr marL="0" indent="0">
              <a:buNone/>
            </a:pPr>
            <a:r>
              <a:rPr lang="en-US" sz="900" b="1" dirty="0">
                <a:solidFill>
                  <a:srgbClr val="98A2B0"/>
                </a:solidFill>
                <a:latin typeface="Malgun Gothic" pitchFamily="34" charset="0"/>
                <a:ea typeface="Malgun Gothic" pitchFamily="34" charset="-122"/>
                <a:cs typeface="Malgun Gothic" pitchFamily="34" charset="-120"/>
              </a:rPr>
              <a:t>컴퓨터소프트웨어공학과 졸업작품</a:t>
            </a:r>
            <a:endParaRPr lang="en-US" sz="900" dirty="0"/>
          </a:p>
        </p:txBody>
      </p:sp>
      <p:sp>
        <p:nvSpPr>
          <p:cNvPr id="4" name="Text 2"/>
          <p:cNvSpPr txBox="1"/>
          <p:nvPr/>
        </p:nvSpPr>
        <p:spPr>
          <a:xfrm>
            <a:off x="3840480" y="274320"/>
            <a:ext cx="731520" cy="228600"/>
          </a:xfrm>
          <a:prstGeom prst="rect">
            <a:avLst/>
          </a:prstGeom>
          <a:noFill/>
          <a:ln/>
        </p:spPr>
        <p:txBody>
          <a:bodyPr wrap="square" lIns="0" tIns="0" rIns="0" bIns="0" rtlCol="0" anchor="t"/>
          <a:lstStyle/>
          <a:p>
            <a:pPr marL="0" indent="0">
              <a:buNone/>
            </a:pPr>
            <a:r>
              <a:rPr lang="en-US" sz="900" b="1" dirty="0">
                <a:solidFill>
                  <a:srgbClr val="98A2B0"/>
                </a:solidFill>
                <a:latin typeface="Malgun Gothic" pitchFamily="34" charset="0"/>
                <a:ea typeface="Malgun Gothic" pitchFamily="34" charset="-122"/>
                <a:cs typeface="Malgun Gothic" pitchFamily="34" charset="-120"/>
              </a:rPr>
              <a:t>2026.10</a:t>
            </a:r>
            <a:r>
              <a:rPr lang="en-US" altLang="ko-KR" sz="900" b="1" dirty="0">
                <a:solidFill>
                  <a:srgbClr val="98A2B0"/>
                </a:solidFill>
                <a:latin typeface="Malgun Gothic" pitchFamily="34" charset="0"/>
                <a:ea typeface="Malgun Gothic" pitchFamily="34" charset="-122"/>
                <a:cs typeface="Malgun Gothic" pitchFamily="34" charset="-120"/>
              </a:rPr>
              <a:t>.13</a:t>
            </a:r>
            <a:endParaRPr lang="en-US" sz="900" dirty="0"/>
          </a:p>
        </p:txBody>
      </p:sp>
      <p:sp>
        <p:nvSpPr>
          <p:cNvPr id="5" name="Shape 3"/>
          <p:cNvSpPr/>
          <p:nvPr/>
        </p:nvSpPr>
        <p:spPr>
          <a:xfrm>
            <a:off x="365760" y="822960"/>
            <a:ext cx="1280160" cy="329184"/>
          </a:xfrm>
          <a:prstGeom prst="roundRect">
            <a:avLst>
              <a:gd name="adj" fmla="val 50000"/>
            </a:avLst>
          </a:prstGeom>
          <a:solidFill>
            <a:srgbClr val="FFFFFF"/>
          </a:solidFill>
          <a:ln/>
          <a:effectLst>
            <a:outerShdw blurRad="127000" dist="25400" dir="5400000" algn="bl" rotWithShape="0">
              <a:srgbClr val="000000">
                <a:alpha val="10000"/>
              </a:srgbClr>
            </a:outerShdw>
          </a:effectLst>
        </p:spPr>
        <p:txBody>
          <a:bodyPr/>
          <a:lstStyle/>
          <a:p>
            <a:endParaRPr lang="ko-KR" altLang="en-US"/>
          </a:p>
        </p:txBody>
      </p:sp>
      <p:sp>
        <p:nvSpPr>
          <p:cNvPr id="6" name="Text 4"/>
          <p:cNvSpPr txBox="1"/>
          <p:nvPr/>
        </p:nvSpPr>
        <p:spPr>
          <a:xfrm>
            <a:off x="365760" y="822960"/>
            <a:ext cx="1280160" cy="329184"/>
          </a:xfrm>
          <a:prstGeom prst="rect">
            <a:avLst/>
          </a:prstGeom>
          <a:noFill/>
          <a:ln/>
        </p:spPr>
        <p:txBody>
          <a:bodyPr wrap="square" lIns="0" tIns="0" rIns="0" bIns="0" rtlCol="0" anchor="ctr"/>
          <a:lstStyle/>
          <a:p>
            <a:pPr marL="0" indent="0" algn="ctr">
              <a:buNone/>
            </a:pPr>
            <a:r>
              <a:rPr lang="en-US" sz="1050" b="1" dirty="0">
                <a:solidFill>
                  <a:srgbClr val="141B26"/>
                </a:solidFill>
                <a:latin typeface="Malgun Gothic" pitchFamily="34" charset="0"/>
                <a:ea typeface="Malgun Gothic" pitchFamily="34" charset="-122"/>
                <a:cs typeface="Malgun Gothic" pitchFamily="34" charset="-120"/>
              </a:rPr>
              <a:t>AI DevOps Agent</a:t>
            </a:r>
            <a:endParaRPr lang="en-US" sz="1050" dirty="0"/>
          </a:p>
        </p:txBody>
      </p:sp>
      <p:sp>
        <p:nvSpPr>
          <p:cNvPr id="7" name="Text 5"/>
          <p:cNvSpPr txBox="1"/>
          <p:nvPr/>
        </p:nvSpPr>
        <p:spPr>
          <a:xfrm>
            <a:off x="667839" y="1417320"/>
            <a:ext cx="3058341" cy="320040"/>
          </a:xfrm>
          <a:prstGeom prst="rect">
            <a:avLst/>
          </a:prstGeom>
          <a:noFill/>
          <a:ln/>
        </p:spPr>
        <p:txBody>
          <a:bodyPr wrap="square" lIns="0" tIns="0" rIns="0" bIns="0" rtlCol="0" anchor="t"/>
          <a:lstStyle/>
          <a:p>
            <a:r>
              <a:rPr lang="ko-KR" altLang="ko-KR" sz="1400" b="1" dirty="0"/>
              <a:t>코드 생성부터 보안 검사와 배포까지</a:t>
            </a:r>
            <a:endParaRPr lang="ko-KR" altLang="ko-KR" sz="1400" dirty="0"/>
          </a:p>
        </p:txBody>
      </p:sp>
      <p:sp>
        <p:nvSpPr>
          <p:cNvPr id="8" name="Text 6"/>
          <p:cNvSpPr txBox="1"/>
          <p:nvPr/>
        </p:nvSpPr>
        <p:spPr>
          <a:xfrm>
            <a:off x="365760" y="1737360"/>
            <a:ext cx="4206240" cy="685800"/>
          </a:xfrm>
          <a:prstGeom prst="rect">
            <a:avLst/>
          </a:prstGeom>
          <a:noFill/>
          <a:ln/>
        </p:spPr>
        <p:txBody>
          <a:bodyPr wrap="square" lIns="0" tIns="0" rIns="0" bIns="0" rtlCol="0" anchor="t"/>
          <a:lstStyle/>
          <a:p>
            <a:pPr marL="0" indent="0">
              <a:buNone/>
            </a:pPr>
            <a:r>
              <a:rPr lang="en-US" sz="3200" b="1" dirty="0">
                <a:solidFill>
                  <a:srgbClr val="141B26"/>
                </a:solidFill>
                <a:latin typeface="Malgun Gothic" pitchFamily="34" charset="0"/>
                <a:ea typeface="Malgun Gothic" pitchFamily="34" charset="-122"/>
                <a:cs typeface="Malgun Gothic" pitchFamily="34" charset="-120"/>
              </a:rPr>
              <a:t>AI DevOps 에이전트</a:t>
            </a:r>
            <a:endParaRPr lang="en-US" sz="3200" dirty="0"/>
          </a:p>
        </p:txBody>
      </p:sp>
      <p:pic>
        <p:nvPicPr>
          <p:cNvPr id="9" name="Image 0" descr="/home/claude/work/a/logo.png"/>
          <p:cNvPicPr>
            <a:picLocks noChangeAspect="1"/>
          </p:cNvPicPr>
          <p:nvPr/>
        </p:nvPicPr>
        <p:blipFill>
          <a:blip r:embed="rId3"/>
          <a:stretch>
            <a:fillRect/>
          </a:stretch>
        </p:blipFill>
        <p:spPr>
          <a:xfrm>
            <a:off x="365760" y="2450592"/>
            <a:ext cx="676656" cy="676656"/>
          </a:xfrm>
          <a:prstGeom prst="rect">
            <a:avLst/>
          </a:prstGeom>
        </p:spPr>
      </p:pic>
      <p:sp>
        <p:nvSpPr>
          <p:cNvPr id="10" name="Text 7"/>
          <p:cNvSpPr txBox="1"/>
          <p:nvPr/>
        </p:nvSpPr>
        <p:spPr>
          <a:xfrm>
            <a:off x="1143000" y="2423160"/>
            <a:ext cx="2377440" cy="731520"/>
          </a:xfrm>
          <a:prstGeom prst="rect">
            <a:avLst/>
          </a:prstGeom>
          <a:noFill/>
          <a:ln/>
        </p:spPr>
        <p:txBody>
          <a:bodyPr wrap="square" lIns="0" tIns="0" rIns="0" bIns="0" rtlCol="0" anchor="t"/>
          <a:lstStyle/>
          <a:p>
            <a:pPr marL="0" indent="0">
              <a:buNone/>
            </a:pPr>
            <a:r>
              <a:rPr lang="en-US" sz="4000" b="1" dirty="0">
                <a:solidFill>
                  <a:srgbClr val="2B7FD4"/>
                </a:solidFill>
                <a:latin typeface="Malgun Gothic" pitchFamily="34" charset="0"/>
                <a:ea typeface="Malgun Gothic" pitchFamily="34" charset="-122"/>
                <a:cs typeface="Malgun Gothic" pitchFamily="34" charset="-120"/>
              </a:rPr>
              <a:t>ReCoder</a:t>
            </a:r>
            <a:endParaRPr lang="en-US" sz="4000" dirty="0"/>
          </a:p>
        </p:txBody>
      </p:sp>
      <p:sp>
        <p:nvSpPr>
          <p:cNvPr id="11" name="Shape 8"/>
          <p:cNvSpPr/>
          <p:nvPr/>
        </p:nvSpPr>
        <p:spPr>
          <a:xfrm>
            <a:off x="3429000" y="2816352"/>
            <a:ext cx="411480" cy="0"/>
          </a:xfrm>
          <a:prstGeom prst="line">
            <a:avLst/>
          </a:prstGeom>
          <a:noFill/>
          <a:ln w="15875">
            <a:solidFill>
              <a:srgbClr val="C5CDD8"/>
            </a:solidFill>
            <a:prstDash val="solid"/>
          </a:ln>
        </p:spPr>
        <p:txBody>
          <a:bodyPr/>
          <a:lstStyle/>
          <a:p>
            <a:endParaRPr lang="ko-KR" altLang="en-US"/>
          </a:p>
        </p:txBody>
      </p:sp>
      <p:sp>
        <p:nvSpPr>
          <p:cNvPr id="12" name="Text 9"/>
          <p:cNvSpPr txBox="1"/>
          <p:nvPr/>
        </p:nvSpPr>
        <p:spPr>
          <a:xfrm>
            <a:off x="365760" y="4434840"/>
            <a:ext cx="2743200" cy="274320"/>
          </a:xfrm>
          <a:prstGeom prst="rect">
            <a:avLst/>
          </a:prstGeom>
          <a:noFill/>
          <a:ln/>
        </p:spPr>
        <p:txBody>
          <a:bodyPr wrap="square" lIns="0" tIns="0" rIns="0" bIns="0" rtlCol="0" anchor="t"/>
          <a:lstStyle/>
          <a:p>
            <a:pPr marL="0" indent="0">
              <a:buNone/>
            </a:pPr>
            <a:r>
              <a:rPr lang="en-US" sz="1000" b="1" dirty="0">
                <a:solidFill>
                  <a:srgbClr val="5E6878"/>
                </a:solidFill>
                <a:latin typeface="Malgun Gothic" pitchFamily="34" charset="0"/>
                <a:ea typeface="Malgun Gothic" pitchFamily="34" charset="-122"/>
                <a:cs typeface="Malgun Gothic" pitchFamily="34" charset="-120"/>
              </a:rPr>
              <a:t>이동규 · </a:t>
            </a:r>
            <a:r>
              <a:rPr lang="en-US" sz="1000" b="1" dirty="0" err="1">
                <a:solidFill>
                  <a:srgbClr val="5E6878"/>
                </a:solidFill>
                <a:latin typeface="Malgun Gothic" pitchFamily="34" charset="0"/>
                <a:ea typeface="Malgun Gothic" pitchFamily="34" charset="-122"/>
                <a:cs typeface="Malgun Gothic" pitchFamily="34" charset="-120"/>
              </a:rPr>
              <a:t>윤세빈</a:t>
            </a:r>
            <a:endParaRPr lang="en-US" sz="1000" b="1" dirty="0"/>
          </a:p>
        </p:txBody>
      </p:sp>
      <p:pic>
        <p:nvPicPr>
          <p:cNvPr id="13" name="Image 1" descr="/home/claude/work/a/mock_cover.png"/>
          <p:cNvPicPr>
            <a:picLocks noChangeAspect="1"/>
          </p:cNvPicPr>
          <p:nvPr/>
        </p:nvPicPr>
        <p:blipFill>
          <a:blip r:embed="rId4"/>
          <a:stretch>
            <a:fillRect/>
          </a:stretch>
        </p:blipFill>
        <p:spPr>
          <a:xfrm>
            <a:off x="3931920" y="777240"/>
            <a:ext cx="5029200" cy="3143250"/>
          </a:xfrm>
          <a:prstGeom prst="rect">
            <a:avLst/>
          </a:prstGeom>
        </p:spPr>
      </p:pic>
      <p:pic>
        <p:nvPicPr>
          <p:cNvPr id="14" name="Image 2" descr="/home/claude/work/a/vscode.png"/>
          <p:cNvPicPr>
            <a:picLocks noChangeAspect="1"/>
          </p:cNvPicPr>
          <p:nvPr/>
        </p:nvPicPr>
        <p:blipFill>
          <a:blip r:embed="rId5"/>
          <a:stretch>
            <a:fillRect/>
          </a:stretch>
        </p:blipFill>
        <p:spPr>
          <a:xfrm>
            <a:off x="5504688" y="4005072"/>
            <a:ext cx="329184" cy="307049"/>
          </a:xfrm>
          <a:prstGeom prst="rect">
            <a:avLst/>
          </a:prstGeom>
        </p:spPr>
      </p:pic>
      <p:sp>
        <p:nvSpPr>
          <p:cNvPr id="15" name="Text 10"/>
          <p:cNvSpPr txBox="1"/>
          <p:nvPr/>
        </p:nvSpPr>
        <p:spPr>
          <a:xfrm>
            <a:off x="5925312" y="3986784"/>
            <a:ext cx="2011680" cy="329184"/>
          </a:xfrm>
          <a:prstGeom prst="rect">
            <a:avLst/>
          </a:prstGeom>
          <a:noFill/>
          <a:ln/>
        </p:spPr>
        <p:txBody>
          <a:bodyPr wrap="square" lIns="0" tIns="0" rIns="0" bIns="0" rtlCol="0" anchor="ctr"/>
          <a:lstStyle/>
          <a:p>
            <a:pPr marL="0" indent="0">
              <a:buNone/>
            </a:pPr>
            <a:r>
              <a:rPr lang="en-US" sz="1300" b="1" dirty="0">
                <a:solidFill>
                  <a:srgbClr val="141B26"/>
                </a:solidFill>
                <a:latin typeface="Malgun Gothic" pitchFamily="34" charset="0"/>
                <a:ea typeface="Malgun Gothic" pitchFamily="34" charset="-122"/>
                <a:cs typeface="Malgun Gothic" pitchFamily="34" charset="-120"/>
              </a:rPr>
              <a:t>Visual Studio Code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5DF677E-7A55-475C-A359-243F42E621EC}"/>
              </a:ext>
            </a:extLst>
          </p:cNvPr>
          <p:cNvSpPr>
            <a:spLocks noGrp="1"/>
          </p:cNvSpPr>
          <p:nvPr/>
        </p:nvSpPr>
        <p:spPr>
          <a:xfrm>
            <a:off x="365760" y="228600"/>
            <a:ext cx="4572000" cy="731520"/>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4400" b="1">
                <a:solidFill>
                  <a:srgbClr val="000000"/>
                </a:solidFill>
                <a:latin typeface="Malgun Gothic"/>
                <a:ea typeface="Malgun Gothic"/>
                <a:cs typeface="Malgun Gothic"/>
              </a:rPr>
              <a:t>목차</a:t>
            </a:r>
            <a:endParaRPr sz="4400"/>
          </a:p>
        </p:txBody>
      </p:sp>
      <p:sp>
        <p:nvSpPr>
          <p:cNvPr id="3" name="Text 1">
            <a:extLst>
              <a:ext uri="{FF2B5EF4-FFF2-40B4-BE49-F238E27FC236}">
                <a16:creationId xmlns:a16="http://schemas.microsoft.com/office/drawing/2014/main" id="{57B32CEE-F55D-4472-B7B7-7D41DD4EBF55}"/>
              </a:ext>
            </a:extLst>
          </p:cNvPr>
          <p:cNvSpPr>
            <a:spLocks noGrp="1"/>
          </p:cNvSpPr>
          <p:nvPr/>
        </p:nvSpPr>
        <p:spPr>
          <a:xfrm>
            <a:off x="411480" y="1325880"/>
            <a:ext cx="914400" cy="640080"/>
          </a:xfrm>
          <a:prstGeom prst="rect">
            <a:avLst/>
          </a:prstGeom>
          <a:noFill/>
        </p:spPr>
        <p:txBody>
          <a:bodyPr wrap="square" lIns="0" tIns="0" rIns="0" bIns="0" anchor="ctr"/>
          <a:lstStyle/>
          <a:p>
            <a:pPr marL="0" indent="0">
              <a:buNone/>
            </a:pPr>
            <a:r>
              <a:rPr sz="3400" b="1">
                <a:solidFill>
                  <a:srgbClr val="141B26"/>
                </a:solidFill>
                <a:latin typeface="Malgun Gothic"/>
                <a:ea typeface="Malgun Gothic"/>
                <a:cs typeface="Malgun Gothic"/>
              </a:rPr>
              <a:t>01</a:t>
            </a:r>
            <a:endParaRPr sz="3400"/>
          </a:p>
        </p:txBody>
      </p:sp>
      <p:sp>
        <p:nvSpPr>
          <p:cNvPr id="4" name="Text 2">
            <a:extLst>
              <a:ext uri="{FF2B5EF4-FFF2-40B4-BE49-F238E27FC236}">
                <a16:creationId xmlns:a16="http://schemas.microsoft.com/office/drawing/2014/main" id="{21EC759E-D42A-4FBE-8B71-2C990499FE66}"/>
              </a:ext>
            </a:extLst>
          </p:cNvPr>
          <p:cNvSpPr>
            <a:spLocks noGrp="1"/>
          </p:cNvSpPr>
          <p:nvPr/>
        </p:nvSpPr>
        <p:spPr>
          <a:xfrm>
            <a:off x="1371600" y="1399032"/>
            <a:ext cx="2926080" cy="320040"/>
          </a:xfrm>
          <a:prstGeom prst="rect">
            <a:avLst/>
          </a:prstGeom>
          <a:noFill/>
        </p:spPr>
        <p:txBody>
          <a:bodyPr wrap="square" lIns="0" tIns="0" rIns="0" bIns="0" anchor="t"/>
          <a:lstStyle>
            <a:defPPr>
              <a:defRPr>
                <a:solidFill>
                  <a:srgbClr val="000000"/>
                </a:solidFill>
              </a:defRPr>
            </a:defPPr>
          </a:lstStyle>
          <a:p>
            <a:pPr marL="0" indent="0">
              <a:buNone/>
            </a:pPr>
            <a:r>
              <a:rPr sz="1500" b="1">
                <a:solidFill>
                  <a:srgbClr val="000000"/>
                </a:solidFill>
                <a:latin typeface="Malgun Gothic"/>
                <a:ea typeface="Malgun Gothic"/>
                <a:cs typeface="Malgun Gothic"/>
              </a:rPr>
              <a:t>프로젝트 개요</a:t>
            </a:r>
            <a:endParaRPr sz="1500"/>
          </a:p>
        </p:txBody>
      </p:sp>
      <p:sp>
        <p:nvSpPr>
          <p:cNvPr id="5" name="Text 3">
            <a:extLst>
              <a:ext uri="{FF2B5EF4-FFF2-40B4-BE49-F238E27FC236}">
                <a16:creationId xmlns:a16="http://schemas.microsoft.com/office/drawing/2014/main" id="{7088B4E1-E726-4476-8DF0-822E06106009}"/>
              </a:ext>
            </a:extLst>
          </p:cNvPr>
          <p:cNvSpPr>
            <a:spLocks noGrp="1"/>
          </p:cNvSpPr>
          <p:nvPr/>
        </p:nvSpPr>
        <p:spPr>
          <a:xfrm>
            <a:off x="1371600" y="1719072"/>
            <a:ext cx="3108960" cy="640080"/>
          </a:xfrm>
          <a:prstGeom prst="rect">
            <a:avLst/>
          </a:prstGeom>
          <a:noFill/>
        </p:spPr>
        <p:txBody>
          <a:bodyPr wrap="square" lIns="0" tIns="0" rIns="0" bIns="0" anchor="t"/>
          <a:lstStyle>
            <a:defPPr>
              <a:defRPr>
                <a:solidFill>
                  <a:srgbClr val="000000"/>
                </a:solidFill>
              </a:defRPr>
            </a:defPPr>
          </a:lstStyle>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배경과</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페르소나</a:t>
            </a:r>
            <a:endParaRPr sz="900" dirty="0">
              <a:solidFill>
                <a:schemeClr val="bg1">
                  <a:lumMod val="50000"/>
                </a:schemeClr>
              </a:solidFill>
            </a:endParaRPr>
          </a:p>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문제</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정의</a:t>
            </a:r>
            <a:endParaRPr sz="900" dirty="0">
              <a:solidFill>
                <a:schemeClr val="bg1">
                  <a:lumMod val="50000"/>
                </a:schemeClr>
              </a:solidFill>
            </a:endParaRPr>
          </a:p>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서비스</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소개</a:t>
            </a:r>
            <a:endParaRPr sz="900" dirty="0">
              <a:solidFill>
                <a:schemeClr val="bg1">
                  <a:lumMod val="50000"/>
                </a:schemeClr>
              </a:solidFill>
            </a:endParaRPr>
          </a:p>
        </p:txBody>
      </p:sp>
      <p:sp>
        <p:nvSpPr>
          <p:cNvPr id="6" name="Text 4">
            <a:extLst>
              <a:ext uri="{FF2B5EF4-FFF2-40B4-BE49-F238E27FC236}">
                <a16:creationId xmlns:a16="http://schemas.microsoft.com/office/drawing/2014/main" id="{8FB4065A-E29E-43A2-9C6E-2318BD80FA58}"/>
              </a:ext>
            </a:extLst>
          </p:cNvPr>
          <p:cNvSpPr>
            <a:spLocks noGrp="1"/>
          </p:cNvSpPr>
          <p:nvPr/>
        </p:nvSpPr>
        <p:spPr>
          <a:xfrm>
            <a:off x="411480" y="2377440"/>
            <a:ext cx="914400" cy="640080"/>
          </a:xfrm>
          <a:prstGeom prst="rect">
            <a:avLst/>
          </a:prstGeom>
          <a:noFill/>
        </p:spPr>
        <p:txBody>
          <a:bodyPr wrap="square" lIns="0" tIns="0" rIns="0" bIns="0" anchor="ctr"/>
          <a:lstStyle/>
          <a:p>
            <a:pPr marL="0" indent="0">
              <a:buNone/>
            </a:pPr>
            <a:r>
              <a:rPr sz="3400" b="1">
                <a:solidFill>
                  <a:srgbClr val="141B26"/>
                </a:solidFill>
                <a:latin typeface="Malgun Gothic"/>
                <a:ea typeface="Malgun Gothic"/>
                <a:cs typeface="Malgun Gothic"/>
              </a:rPr>
              <a:t>02</a:t>
            </a:r>
            <a:endParaRPr sz="3400"/>
          </a:p>
        </p:txBody>
      </p:sp>
      <p:sp>
        <p:nvSpPr>
          <p:cNvPr id="7" name="Text 5">
            <a:extLst>
              <a:ext uri="{FF2B5EF4-FFF2-40B4-BE49-F238E27FC236}">
                <a16:creationId xmlns:a16="http://schemas.microsoft.com/office/drawing/2014/main" id="{7492C9E9-E21D-407E-8E30-6DF123E1BB1A}"/>
              </a:ext>
            </a:extLst>
          </p:cNvPr>
          <p:cNvSpPr>
            <a:spLocks noGrp="1"/>
          </p:cNvSpPr>
          <p:nvPr/>
        </p:nvSpPr>
        <p:spPr>
          <a:xfrm>
            <a:off x="1371600" y="2450592"/>
            <a:ext cx="2926080" cy="320040"/>
          </a:xfrm>
          <a:prstGeom prst="rect">
            <a:avLst/>
          </a:prstGeom>
          <a:noFill/>
        </p:spPr>
        <p:txBody>
          <a:bodyPr wrap="square" lIns="0" tIns="0" rIns="0" bIns="0" anchor="t"/>
          <a:lstStyle>
            <a:defPPr>
              <a:defRPr>
                <a:solidFill>
                  <a:srgbClr val="000000"/>
                </a:solidFill>
              </a:defRPr>
            </a:defPPr>
          </a:lstStyle>
          <a:p>
            <a:pPr marL="0" indent="0">
              <a:buNone/>
            </a:pPr>
            <a:r>
              <a:rPr sz="1500" b="1">
                <a:solidFill>
                  <a:srgbClr val="000000"/>
                </a:solidFill>
                <a:latin typeface="Malgun Gothic"/>
                <a:ea typeface="Malgun Gothic"/>
                <a:cs typeface="Malgun Gothic"/>
              </a:rPr>
              <a:t>기능별 심층 분석</a:t>
            </a:r>
            <a:endParaRPr sz="1500"/>
          </a:p>
        </p:txBody>
      </p:sp>
      <p:sp>
        <p:nvSpPr>
          <p:cNvPr id="8" name="Text 6">
            <a:extLst>
              <a:ext uri="{FF2B5EF4-FFF2-40B4-BE49-F238E27FC236}">
                <a16:creationId xmlns:a16="http://schemas.microsoft.com/office/drawing/2014/main" id="{1A067E86-6DC2-454B-B5C2-46512F8D1769}"/>
              </a:ext>
            </a:extLst>
          </p:cNvPr>
          <p:cNvSpPr>
            <a:spLocks noGrp="1"/>
          </p:cNvSpPr>
          <p:nvPr/>
        </p:nvSpPr>
        <p:spPr>
          <a:xfrm>
            <a:off x="1371600" y="2770632"/>
            <a:ext cx="3108960" cy="640080"/>
          </a:xfrm>
          <a:prstGeom prst="rect">
            <a:avLst/>
          </a:prstGeom>
          <a:noFill/>
        </p:spPr>
        <p:txBody>
          <a:bodyPr wrap="square" lIns="0" tIns="0" rIns="0" bIns="0" anchor="t"/>
          <a:lstStyle>
            <a:defPPr>
              <a:defRPr>
                <a:solidFill>
                  <a:srgbClr val="000000"/>
                </a:solidFill>
              </a:defRPr>
            </a:defPPr>
          </a:lstStyle>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시스템</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아키텍처</a:t>
            </a:r>
            <a:endParaRPr sz="900" b="1" dirty="0">
              <a:solidFill>
                <a:schemeClr val="bg1">
                  <a:lumMod val="50000"/>
                </a:schemeClr>
              </a:solidFill>
              <a:latin typeface="Malgun Gothic"/>
              <a:ea typeface="Malgun Gothic"/>
              <a:cs typeface="Malgun Gothic"/>
            </a:endParaRPr>
          </a:p>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개발·보안·배포와</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운영</a:t>
            </a:r>
            <a:endParaRPr sz="900" b="1" dirty="0">
              <a:solidFill>
                <a:schemeClr val="bg1">
                  <a:lumMod val="50000"/>
                </a:schemeClr>
              </a:solidFill>
              <a:latin typeface="Malgun Gothic"/>
              <a:ea typeface="Malgun Gothic"/>
              <a:cs typeface="Malgun Gothic"/>
            </a:endParaRPr>
          </a:p>
          <a:p>
            <a:pPr>
              <a:spcAft>
                <a:spcPts val="300"/>
              </a:spcAft>
              <a:buNone/>
            </a:pPr>
            <a:r>
              <a:rPr sz="900" b="1" dirty="0">
                <a:solidFill>
                  <a:schemeClr val="bg1">
                    <a:lumMod val="50000"/>
                  </a:schemeClr>
                </a:solidFill>
                <a:latin typeface="Malgun Gothic"/>
                <a:ea typeface="Malgun Gothic"/>
                <a:cs typeface="Malgun Gothic"/>
              </a:rPr>
              <a:t>•  AI</a:t>
            </a:r>
            <a:r>
              <a:rPr lang="ko-KR" altLang="en-US"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파이프라인</a:t>
            </a:r>
            <a:r>
              <a:rPr lang="ko-KR" altLang="en-US" sz="900" b="1" dirty="0">
                <a:solidFill>
                  <a:schemeClr val="bg1">
                    <a:lumMod val="50000"/>
                  </a:schemeClr>
                </a:solidFill>
                <a:latin typeface="Malgun Gothic"/>
                <a:ea typeface="Malgun Gothic"/>
                <a:cs typeface="Malgun Gothic"/>
              </a:rPr>
              <a:t> 설계</a:t>
            </a:r>
            <a:endParaRPr sz="900" b="1" dirty="0">
              <a:solidFill>
                <a:schemeClr val="bg1">
                  <a:lumMod val="50000"/>
                </a:schemeClr>
              </a:solidFill>
              <a:latin typeface="Malgun Gothic"/>
              <a:ea typeface="Malgun Gothic"/>
              <a:cs typeface="Malgun Gothic"/>
            </a:endParaRPr>
          </a:p>
        </p:txBody>
      </p:sp>
      <p:sp>
        <p:nvSpPr>
          <p:cNvPr id="9" name="Text 7">
            <a:extLst>
              <a:ext uri="{FF2B5EF4-FFF2-40B4-BE49-F238E27FC236}">
                <a16:creationId xmlns:a16="http://schemas.microsoft.com/office/drawing/2014/main" id="{87360093-9AC6-493E-B00B-31EDBEA1715C}"/>
              </a:ext>
            </a:extLst>
          </p:cNvPr>
          <p:cNvSpPr>
            <a:spLocks noGrp="1"/>
          </p:cNvSpPr>
          <p:nvPr/>
        </p:nvSpPr>
        <p:spPr>
          <a:xfrm>
            <a:off x="411480" y="3429000"/>
            <a:ext cx="914400" cy="640080"/>
          </a:xfrm>
          <a:prstGeom prst="rect">
            <a:avLst/>
          </a:prstGeom>
          <a:noFill/>
        </p:spPr>
        <p:txBody>
          <a:bodyPr wrap="square" lIns="0" tIns="0" rIns="0" bIns="0" anchor="ctr"/>
          <a:lstStyle/>
          <a:p>
            <a:pPr marL="0" indent="0">
              <a:buNone/>
            </a:pPr>
            <a:r>
              <a:rPr sz="3400" b="1">
                <a:solidFill>
                  <a:srgbClr val="141B26"/>
                </a:solidFill>
                <a:latin typeface="Malgun Gothic"/>
                <a:ea typeface="Malgun Gothic"/>
                <a:cs typeface="Malgun Gothic"/>
              </a:rPr>
              <a:t>03</a:t>
            </a:r>
            <a:endParaRPr sz="3400"/>
          </a:p>
        </p:txBody>
      </p:sp>
      <p:sp>
        <p:nvSpPr>
          <p:cNvPr id="10" name="Text 8">
            <a:extLst>
              <a:ext uri="{FF2B5EF4-FFF2-40B4-BE49-F238E27FC236}">
                <a16:creationId xmlns:a16="http://schemas.microsoft.com/office/drawing/2014/main" id="{CFFA78E2-2BA8-44E8-8AB9-A96AE6751B43}"/>
              </a:ext>
            </a:extLst>
          </p:cNvPr>
          <p:cNvSpPr>
            <a:spLocks noGrp="1"/>
          </p:cNvSpPr>
          <p:nvPr/>
        </p:nvSpPr>
        <p:spPr>
          <a:xfrm>
            <a:off x="1371600" y="3502152"/>
            <a:ext cx="2926080" cy="320040"/>
          </a:xfrm>
          <a:prstGeom prst="rect">
            <a:avLst/>
          </a:prstGeom>
          <a:noFill/>
        </p:spPr>
        <p:txBody>
          <a:bodyPr wrap="square" lIns="0" tIns="0" rIns="0" bIns="0" anchor="t"/>
          <a:lstStyle>
            <a:defPPr>
              <a:defRPr>
                <a:solidFill>
                  <a:srgbClr val="000000"/>
                </a:solidFill>
              </a:defRPr>
            </a:defPPr>
          </a:lstStyle>
          <a:p>
            <a:pPr marL="0" indent="0">
              <a:buNone/>
            </a:pPr>
            <a:r>
              <a:rPr sz="1500" b="1">
                <a:solidFill>
                  <a:srgbClr val="000000"/>
                </a:solidFill>
                <a:latin typeface="Malgun Gothic"/>
                <a:ea typeface="Malgun Gothic"/>
                <a:cs typeface="Malgun Gothic"/>
              </a:rPr>
              <a:t>데모 시연</a:t>
            </a:r>
            <a:endParaRPr sz="1500"/>
          </a:p>
        </p:txBody>
      </p:sp>
      <p:sp>
        <p:nvSpPr>
          <p:cNvPr id="11" name="Text 9">
            <a:extLst>
              <a:ext uri="{FF2B5EF4-FFF2-40B4-BE49-F238E27FC236}">
                <a16:creationId xmlns:a16="http://schemas.microsoft.com/office/drawing/2014/main" id="{5C3209D3-C144-4155-961B-F417A40C3B55}"/>
              </a:ext>
            </a:extLst>
          </p:cNvPr>
          <p:cNvSpPr>
            <a:spLocks noGrp="1"/>
          </p:cNvSpPr>
          <p:nvPr/>
        </p:nvSpPr>
        <p:spPr>
          <a:xfrm>
            <a:off x="1371600" y="3822192"/>
            <a:ext cx="3108960" cy="640080"/>
          </a:xfrm>
          <a:prstGeom prst="rect">
            <a:avLst/>
          </a:prstGeom>
          <a:noFill/>
        </p:spPr>
        <p:txBody>
          <a:bodyPr wrap="square" lIns="0" tIns="0" rIns="0" bIns="0" anchor="t"/>
          <a:lstStyle>
            <a:defPPr>
              <a:defRPr>
                <a:solidFill>
                  <a:srgbClr val="000000"/>
                </a:solidFill>
              </a:defRPr>
            </a:defPPr>
          </a:lstStyle>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시연</a:t>
            </a:r>
            <a:endParaRPr sz="900" dirty="0">
              <a:solidFill>
                <a:schemeClr val="bg1">
                  <a:lumMod val="50000"/>
                </a:schemeClr>
              </a:solidFill>
            </a:endParaRPr>
          </a:p>
        </p:txBody>
      </p:sp>
      <p:sp>
        <p:nvSpPr>
          <p:cNvPr id="12" name="Text 10">
            <a:extLst>
              <a:ext uri="{FF2B5EF4-FFF2-40B4-BE49-F238E27FC236}">
                <a16:creationId xmlns:a16="http://schemas.microsoft.com/office/drawing/2014/main" id="{E6A90AB4-70EC-43AB-B164-663E52E052AE}"/>
              </a:ext>
            </a:extLst>
          </p:cNvPr>
          <p:cNvSpPr>
            <a:spLocks noGrp="1"/>
          </p:cNvSpPr>
          <p:nvPr/>
        </p:nvSpPr>
        <p:spPr>
          <a:xfrm>
            <a:off x="4663440" y="1325880"/>
            <a:ext cx="914400" cy="640080"/>
          </a:xfrm>
          <a:prstGeom prst="rect">
            <a:avLst/>
          </a:prstGeom>
          <a:noFill/>
        </p:spPr>
        <p:txBody>
          <a:bodyPr wrap="square" lIns="0" tIns="0" rIns="0" bIns="0" anchor="ctr"/>
          <a:lstStyle/>
          <a:p>
            <a:pPr marL="0" indent="0">
              <a:buNone/>
            </a:pPr>
            <a:r>
              <a:rPr sz="3400" b="1">
                <a:solidFill>
                  <a:srgbClr val="141B26"/>
                </a:solidFill>
                <a:latin typeface="Malgun Gothic"/>
                <a:ea typeface="Malgun Gothic"/>
                <a:cs typeface="Malgun Gothic"/>
              </a:rPr>
              <a:t>04</a:t>
            </a:r>
            <a:endParaRPr sz="3400"/>
          </a:p>
        </p:txBody>
      </p:sp>
      <p:sp>
        <p:nvSpPr>
          <p:cNvPr id="13" name="Text 11">
            <a:extLst>
              <a:ext uri="{FF2B5EF4-FFF2-40B4-BE49-F238E27FC236}">
                <a16:creationId xmlns:a16="http://schemas.microsoft.com/office/drawing/2014/main" id="{EDDD29FE-882E-4AE3-B93E-5454066BBE17}"/>
              </a:ext>
            </a:extLst>
          </p:cNvPr>
          <p:cNvSpPr>
            <a:spLocks noGrp="1"/>
          </p:cNvSpPr>
          <p:nvPr/>
        </p:nvSpPr>
        <p:spPr>
          <a:xfrm>
            <a:off x="5623560" y="1399032"/>
            <a:ext cx="2926080" cy="320040"/>
          </a:xfrm>
          <a:prstGeom prst="rect">
            <a:avLst/>
          </a:prstGeom>
          <a:noFill/>
        </p:spPr>
        <p:txBody>
          <a:bodyPr wrap="square" lIns="0" tIns="0" rIns="0" bIns="0" anchor="t"/>
          <a:lstStyle>
            <a:defPPr>
              <a:defRPr>
                <a:solidFill>
                  <a:srgbClr val="000000"/>
                </a:solidFill>
              </a:defRPr>
            </a:defPPr>
          </a:lstStyle>
          <a:p>
            <a:pPr marL="0" indent="0">
              <a:buNone/>
            </a:pPr>
            <a:r>
              <a:rPr sz="1500" b="1">
                <a:solidFill>
                  <a:srgbClr val="000000"/>
                </a:solidFill>
                <a:latin typeface="Malgun Gothic"/>
                <a:ea typeface="Malgun Gothic"/>
                <a:cs typeface="Malgun Gothic"/>
              </a:rPr>
              <a:t>기대 효과</a:t>
            </a:r>
            <a:endParaRPr sz="1500"/>
          </a:p>
        </p:txBody>
      </p:sp>
      <p:sp>
        <p:nvSpPr>
          <p:cNvPr id="14" name="Text 12">
            <a:extLst>
              <a:ext uri="{FF2B5EF4-FFF2-40B4-BE49-F238E27FC236}">
                <a16:creationId xmlns:a16="http://schemas.microsoft.com/office/drawing/2014/main" id="{7A20FF27-4132-4026-BFC9-DD90D88C868A}"/>
              </a:ext>
            </a:extLst>
          </p:cNvPr>
          <p:cNvSpPr>
            <a:spLocks noGrp="1"/>
          </p:cNvSpPr>
          <p:nvPr/>
        </p:nvSpPr>
        <p:spPr>
          <a:xfrm>
            <a:off x="5623560" y="1719072"/>
            <a:ext cx="3108960" cy="640080"/>
          </a:xfrm>
          <a:prstGeom prst="rect">
            <a:avLst/>
          </a:prstGeom>
          <a:noFill/>
        </p:spPr>
        <p:txBody>
          <a:bodyPr wrap="square" lIns="0" tIns="0" rIns="0" bIns="0" anchor="t"/>
          <a:lstStyle>
            <a:defPPr>
              <a:defRPr>
                <a:solidFill>
                  <a:srgbClr val="000000"/>
                </a:solidFill>
              </a:defRPr>
            </a:defPPr>
          </a:lstStyle>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기대</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효과</a:t>
            </a:r>
            <a:endParaRPr sz="900" dirty="0">
              <a:solidFill>
                <a:schemeClr val="bg1">
                  <a:lumMod val="50000"/>
                </a:schemeClr>
              </a:solidFill>
            </a:endParaRPr>
          </a:p>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실험</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결과와</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확인된</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한계</a:t>
            </a:r>
            <a:endParaRPr sz="900" dirty="0">
              <a:solidFill>
                <a:schemeClr val="bg1">
                  <a:lumMod val="50000"/>
                </a:schemeClr>
              </a:solidFill>
            </a:endParaRPr>
          </a:p>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확장</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방향</a:t>
            </a:r>
            <a:endParaRPr sz="900" dirty="0">
              <a:solidFill>
                <a:schemeClr val="bg1">
                  <a:lumMod val="50000"/>
                </a:schemeClr>
              </a:solidFill>
            </a:endParaRPr>
          </a:p>
        </p:txBody>
      </p:sp>
      <p:sp>
        <p:nvSpPr>
          <p:cNvPr id="15" name="Text 13">
            <a:extLst>
              <a:ext uri="{FF2B5EF4-FFF2-40B4-BE49-F238E27FC236}">
                <a16:creationId xmlns:a16="http://schemas.microsoft.com/office/drawing/2014/main" id="{BFCE4256-BD6A-4F95-9429-DD2E1CA3892D}"/>
              </a:ext>
            </a:extLst>
          </p:cNvPr>
          <p:cNvSpPr>
            <a:spLocks noGrp="1"/>
          </p:cNvSpPr>
          <p:nvPr/>
        </p:nvSpPr>
        <p:spPr>
          <a:xfrm>
            <a:off x="4663440" y="2377440"/>
            <a:ext cx="914400" cy="640080"/>
          </a:xfrm>
          <a:prstGeom prst="rect">
            <a:avLst/>
          </a:prstGeom>
          <a:noFill/>
        </p:spPr>
        <p:txBody>
          <a:bodyPr wrap="square" lIns="0" tIns="0" rIns="0" bIns="0" anchor="ctr"/>
          <a:lstStyle/>
          <a:p>
            <a:pPr marL="0" indent="0">
              <a:buNone/>
            </a:pPr>
            <a:r>
              <a:rPr sz="3400" b="1">
                <a:solidFill>
                  <a:srgbClr val="141B26"/>
                </a:solidFill>
                <a:latin typeface="Malgun Gothic"/>
                <a:ea typeface="Malgun Gothic"/>
                <a:cs typeface="Malgun Gothic"/>
              </a:rPr>
              <a:t>05</a:t>
            </a:r>
            <a:endParaRPr sz="3400"/>
          </a:p>
        </p:txBody>
      </p:sp>
      <p:sp>
        <p:nvSpPr>
          <p:cNvPr id="16" name="Text 14">
            <a:extLst>
              <a:ext uri="{FF2B5EF4-FFF2-40B4-BE49-F238E27FC236}">
                <a16:creationId xmlns:a16="http://schemas.microsoft.com/office/drawing/2014/main" id="{5CD99F54-7E77-45AD-96D4-F73267AA083E}"/>
              </a:ext>
            </a:extLst>
          </p:cNvPr>
          <p:cNvSpPr>
            <a:spLocks noGrp="1"/>
          </p:cNvSpPr>
          <p:nvPr/>
        </p:nvSpPr>
        <p:spPr>
          <a:xfrm>
            <a:off x="5623560" y="2450592"/>
            <a:ext cx="2926080" cy="320040"/>
          </a:xfrm>
          <a:prstGeom prst="rect">
            <a:avLst/>
          </a:prstGeom>
          <a:noFill/>
        </p:spPr>
        <p:txBody>
          <a:bodyPr wrap="square" lIns="0" tIns="0" rIns="0" bIns="0" anchor="t"/>
          <a:lstStyle>
            <a:defPPr>
              <a:defRPr>
                <a:solidFill>
                  <a:srgbClr val="000000"/>
                </a:solidFill>
              </a:defRPr>
            </a:defPPr>
          </a:lstStyle>
          <a:p>
            <a:pPr marL="0" indent="0">
              <a:buNone/>
            </a:pPr>
            <a:r>
              <a:rPr sz="1500" b="1">
                <a:solidFill>
                  <a:srgbClr val="000000"/>
                </a:solidFill>
                <a:latin typeface="Malgun Gothic"/>
                <a:ea typeface="Malgun Gothic"/>
                <a:cs typeface="Malgun Gothic"/>
              </a:rPr>
              <a:t>팀 소개</a:t>
            </a:r>
            <a:endParaRPr sz="1500"/>
          </a:p>
        </p:txBody>
      </p:sp>
      <p:sp>
        <p:nvSpPr>
          <p:cNvPr id="17" name="Text 15">
            <a:extLst>
              <a:ext uri="{FF2B5EF4-FFF2-40B4-BE49-F238E27FC236}">
                <a16:creationId xmlns:a16="http://schemas.microsoft.com/office/drawing/2014/main" id="{CC2C245E-FD75-4E21-A669-122EE7CCBFA6}"/>
              </a:ext>
            </a:extLst>
          </p:cNvPr>
          <p:cNvSpPr>
            <a:spLocks noGrp="1"/>
          </p:cNvSpPr>
          <p:nvPr/>
        </p:nvSpPr>
        <p:spPr>
          <a:xfrm>
            <a:off x="5623560" y="2770632"/>
            <a:ext cx="3108960" cy="640080"/>
          </a:xfrm>
          <a:prstGeom prst="rect">
            <a:avLst/>
          </a:prstGeom>
          <a:noFill/>
        </p:spPr>
        <p:txBody>
          <a:bodyPr wrap="square" lIns="0" tIns="0" rIns="0" bIns="0" anchor="t"/>
          <a:lstStyle>
            <a:defPPr>
              <a:defRPr>
                <a:solidFill>
                  <a:srgbClr val="000000"/>
                </a:solidFill>
              </a:defRPr>
            </a:defPPr>
          </a:lstStyle>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팀</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구성</a:t>
            </a:r>
            <a:endParaRPr sz="900" dirty="0">
              <a:solidFill>
                <a:schemeClr val="bg1">
                  <a:lumMod val="50000"/>
                </a:schemeClr>
              </a:solidFill>
            </a:endParaRPr>
          </a:p>
          <a:p>
            <a:pPr marL="0" indent="0">
              <a:spcAft>
                <a:spcPts val="300"/>
              </a:spcAft>
              <a:buNone/>
            </a:pP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개발</a:t>
            </a:r>
            <a:r>
              <a:rPr sz="900" b="1" dirty="0">
                <a:solidFill>
                  <a:schemeClr val="bg1">
                    <a:lumMod val="50000"/>
                  </a:schemeClr>
                </a:solidFill>
                <a:latin typeface="Malgun Gothic"/>
                <a:ea typeface="Malgun Gothic"/>
                <a:cs typeface="Malgun Gothic"/>
              </a:rPr>
              <a:t> </a:t>
            </a:r>
            <a:r>
              <a:rPr sz="900" b="1" dirty="0" err="1">
                <a:solidFill>
                  <a:schemeClr val="bg1">
                    <a:lumMod val="50000"/>
                  </a:schemeClr>
                </a:solidFill>
                <a:latin typeface="Malgun Gothic"/>
                <a:ea typeface="Malgun Gothic"/>
                <a:cs typeface="Malgun Gothic"/>
              </a:rPr>
              <a:t>환경</a:t>
            </a:r>
            <a:endParaRPr sz="900" dirty="0">
              <a:solidFill>
                <a:schemeClr val="bg1">
                  <a:lumMod val="50000"/>
                </a:schemeClr>
              </a:solidFill>
            </a:endParaRPr>
          </a:p>
        </p:txBody>
      </p:sp>
    </p:spTree>
    <p:extLst>
      <p:ext uri="{BB962C8B-B14F-4D97-AF65-F5344CB8AC3E}">
        <p14:creationId xmlns:p14="http://schemas.microsoft.com/office/powerpoint/2010/main" val="945793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B02F66-E076-4A1A-A2E3-B1A7CA3C3A67}"/>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algn="l">
              <a:defRPr sz="2000" b="1">
                <a:solidFill>
                  <a:srgbClr val="000000"/>
                </a:solidFill>
                <a:latin typeface="Malgun Gothic"/>
                <a:ea typeface="Malgun Gothic"/>
                <a:cs typeface="Malgun Gothic"/>
              </a:defRPr>
            </a:pPr>
            <a:r>
              <a:rPr sz="2000" b="1">
                <a:solidFill>
                  <a:srgbClr val="000000"/>
                </a:solidFill>
                <a:latin typeface="Malgun Gothic"/>
                <a:ea typeface="Malgun Gothic"/>
                <a:cs typeface="Malgun Gothic"/>
              </a:rPr>
              <a:t>|  배경 : 바이브 코딩의 확산</a:t>
            </a:r>
            <a:endParaRPr sz="1800">
              <a:solidFill>
                <a:schemeClr val="tx1"/>
              </a:solidFill>
            </a:endParaRPr>
          </a:p>
        </p:txBody>
      </p:sp>
      <p:sp>
        <p:nvSpPr>
          <p:cNvPr id="3" name="Text 0">
            <a:extLst>
              <a:ext uri="{FF2B5EF4-FFF2-40B4-BE49-F238E27FC236}">
                <a16:creationId xmlns:a16="http://schemas.microsoft.com/office/drawing/2014/main" id="{C0C11C85-AFC0-433D-990B-F15388A2AFA4}"/>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01 프로젝트 개요</a:t>
            </a:r>
            <a:endParaRPr sz="1000"/>
          </a:p>
        </p:txBody>
      </p:sp>
      <p:sp>
        <p:nvSpPr>
          <p:cNvPr id="4" name="Text 2">
            <a:extLst>
              <a:ext uri="{FF2B5EF4-FFF2-40B4-BE49-F238E27FC236}">
                <a16:creationId xmlns:a16="http://schemas.microsoft.com/office/drawing/2014/main" id="{746091D3-17CF-47AD-A1EC-0D47F6249AA5}"/>
              </a:ext>
            </a:extLst>
          </p:cNvPr>
          <p:cNvSpPr>
            <a:spLocks noGrp="1"/>
          </p:cNvSpPr>
          <p:nvPr/>
        </p:nvSpPr>
        <p:spPr>
          <a:xfrm>
            <a:off x="411480" y="777240"/>
            <a:ext cx="8229600" cy="411480"/>
          </a:xfrm>
          <a:prstGeom prst="rect">
            <a:avLst/>
          </a:prstGeom>
          <a:noFill/>
        </p:spPr>
        <p:txBody>
          <a:bodyPr wrap="square" lIns="0" tIns="0" rIns="0" bIns="0" anchor="t"/>
          <a:lstStyle>
            <a:defPPr>
              <a:defRPr>
                <a:solidFill>
                  <a:srgbClr val="000000"/>
                </a:solidFill>
              </a:defRPr>
            </a:defPPr>
          </a:lstStyle>
          <a:p>
            <a:pPr marL="0" indent="0">
              <a:buNone/>
            </a:pPr>
            <a:r>
              <a:rPr sz="1800" b="1" dirty="0">
                <a:solidFill>
                  <a:schemeClr val="bg1">
                    <a:lumMod val="50000"/>
                  </a:schemeClr>
                </a:solidFill>
                <a:latin typeface="Malgun Gothic"/>
                <a:ea typeface="Malgun Gothic"/>
                <a:cs typeface="Malgun Gothic"/>
              </a:rPr>
              <a:t>AI </a:t>
            </a:r>
            <a:r>
              <a:rPr sz="1800" b="1" dirty="0" err="1">
                <a:solidFill>
                  <a:schemeClr val="bg1">
                    <a:lumMod val="50000"/>
                  </a:schemeClr>
                </a:solidFill>
                <a:latin typeface="Malgun Gothic"/>
                <a:ea typeface="Malgun Gothic"/>
                <a:cs typeface="Malgun Gothic"/>
              </a:rPr>
              <a:t>코딩은</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이제</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선택이</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아니라</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기본이</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되었습니다</a:t>
            </a:r>
            <a:endParaRPr sz="1800" dirty="0">
              <a:solidFill>
                <a:schemeClr val="bg1">
                  <a:lumMod val="50000"/>
                </a:schemeClr>
              </a:solidFill>
            </a:endParaRPr>
          </a:p>
        </p:txBody>
      </p:sp>
      <p:sp>
        <p:nvSpPr>
          <p:cNvPr id="5" name="Shape 3">
            <a:extLst>
              <a:ext uri="{FF2B5EF4-FFF2-40B4-BE49-F238E27FC236}">
                <a16:creationId xmlns:a16="http://schemas.microsoft.com/office/drawing/2014/main" id="{0F08DA9B-5C93-44CC-9FE1-7B086073A505}"/>
              </a:ext>
            </a:extLst>
          </p:cNvPr>
          <p:cNvSpPr>
            <a:spLocks noGrp="1"/>
          </p:cNvSpPr>
          <p:nvPr/>
        </p:nvSpPr>
        <p:spPr>
          <a:xfrm>
            <a:off x="411480" y="1325880"/>
            <a:ext cx="4816275" cy="2660904"/>
          </a:xfrm>
          <a:prstGeom prst="roundRect">
            <a:avLst>
              <a:gd name="adj" fmla="val 2749"/>
            </a:avLst>
          </a:prstGeom>
          <a:solidFill>
            <a:srgbClr val="FFFFFF"/>
          </a:solidFill>
          <a:effectLst>
            <a:outerShdw blurRad="127000" dist="25400" dir="5400000" algn="bl" rotWithShape="0">
              <a:srgbClr val="000000">
                <a:alpha val="10000"/>
              </a:srgbClr>
            </a:outerShdw>
          </a:effectLst>
        </p:spPr>
        <p:txBody>
          <a:bodyPr/>
          <a:lstStyle/>
          <a:p>
            <a:endParaRPr/>
          </a:p>
        </p:txBody>
      </p:sp>
      <p:pic>
        <p:nvPicPr>
          <p:cNvPr id="6" name="Image 0">
            <a:extLst>
              <a:ext uri="{FF2B5EF4-FFF2-40B4-BE49-F238E27FC236}">
                <a16:creationId xmlns:a16="http://schemas.microsoft.com/office/drawing/2014/main" id="{5B149DA2-E093-4AAE-ABEB-0768C6302815}"/>
              </a:ext>
            </a:extLst>
          </p:cNvPr>
          <p:cNvPicPr>
            <a:picLocks noChangeAspect="1"/>
          </p:cNvPicPr>
          <p:nvPr/>
        </p:nvPicPr>
        <p:blipFill>
          <a:blip r:embed="rId3"/>
          <a:stretch>
            <a:fillRect/>
          </a:stretch>
        </p:blipFill>
        <p:spPr>
          <a:xfrm>
            <a:off x="484632" y="1399032"/>
            <a:ext cx="4669971" cy="2514600"/>
          </a:xfrm>
          <a:prstGeom prst="rect">
            <a:avLst/>
          </a:prstGeom>
        </p:spPr>
      </p:pic>
      <p:sp>
        <p:nvSpPr>
          <p:cNvPr id="7" name="Shape 4">
            <a:extLst>
              <a:ext uri="{FF2B5EF4-FFF2-40B4-BE49-F238E27FC236}">
                <a16:creationId xmlns:a16="http://schemas.microsoft.com/office/drawing/2014/main" id="{F39DB361-0F77-4D90-900C-B035D0394E66}"/>
              </a:ext>
            </a:extLst>
          </p:cNvPr>
          <p:cNvSpPr>
            <a:spLocks noGrp="1"/>
          </p:cNvSpPr>
          <p:nvPr/>
        </p:nvSpPr>
        <p:spPr>
          <a:xfrm>
            <a:off x="1158186" y="3778921"/>
            <a:ext cx="3973966" cy="0"/>
          </a:xfrm>
          <a:prstGeom prst="line">
            <a:avLst/>
          </a:prstGeom>
          <a:noFill/>
          <a:ln w="25400">
            <a:solidFill>
              <a:srgbClr val="E02B2B"/>
            </a:solidFill>
            <a:prstDash val="solid"/>
          </a:ln>
        </p:spPr>
        <p:txBody>
          <a:bodyPr/>
          <a:lstStyle/>
          <a:p>
            <a:endParaRPr/>
          </a:p>
        </p:txBody>
      </p:sp>
      <p:sp>
        <p:nvSpPr>
          <p:cNvPr id="8" name="Text 5">
            <a:extLst>
              <a:ext uri="{FF2B5EF4-FFF2-40B4-BE49-F238E27FC236}">
                <a16:creationId xmlns:a16="http://schemas.microsoft.com/office/drawing/2014/main" id="{83F602B7-7D73-444E-8847-AF19C5464975}"/>
              </a:ext>
            </a:extLst>
          </p:cNvPr>
          <p:cNvSpPr>
            <a:spLocks noGrp="1"/>
          </p:cNvSpPr>
          <p:nvPr/>
        </p:nvSpPr>
        <p:spPr>
          <a:xfrm>
            <a:off x="411480" y="4041648"/>
            <a:ext cx="4114800" cy="201168"/>
          </a:xfrm>
          <a:prstGeom prst="rect">
            <a:avLst/>
          </a:prstGeom>
          <a:noFill/>
        </p:spPr>
        <p:txBody>
          <a:bodyPr wrap="square" lIns="0" tIns="0" rIns="0" bIns="0" anchor="t"/>
          <a:lstStyle/>
          <a:p>
            <a:pPr marL="0" indent="0">
              <a:buNone/>
            </a:pPr>
            <a:r>
              <a:rPr sz="800">
                <a:solidFill>
                  <a:srgbClr val="98A2B0"/>
                </a:solidFill>
                <a:latin typeface="Malgun Gothic"/>
                <a:ea typeface="Malgun Gothic"/>
                <a:cs typeface="Malgun Gothic"/>
              </a:rPr>
              <a:t>테크42 · 2026.04.24 (구글 클라우드 넥스트 2026)</a:t>
            </a:r>
            <a:endParaRPr sz="800"/>
          </a:p>
        </p:txBody>
      </p:sp>
      <p:sp>
        <p:nvSpPr>
          <p:cNvPr id="9" name="Shape 6">
            <a:extLst>
              <a:ext uri="{FF2B5EF4-FFF2-40B4-BE49-F238E27FC236}">
                <a16:creationId xmlns:a16="http://schemas.microsoft.com/office/drawing/2014/main" id="{9A0ADE5B-618F-49C1-9BFE-28650F31FB80}"/>
              </a:ext>
            </a:extLst>
          </p:cNvPr>
          <p:cNvSpPr>
            <a:spLocks noGrp="1"/>
          </p:cNvSpPr>
          <p:nvPr/>
        </p:nvSpPr>
        <p:spPr>
          <a:xfrm>
            <a:off x="5410635" y="1325880"/>
            <a:ext cx="3232030" cy="2660904"/>
          </a:xfrm>
          <a:prstGeom prst="roundRect">
            <a:avLst>
              <a:gd name="adj" fmla="val 2749"/>
            </a:avLst>
          </a:prstGeom>
          <a:solidFill>
            <a:srgbClr val="FFFFFF"/>
          </a:solidFill>
          <a:effectLst>
            <a:outerShdw blurRad="127000" dist="25400" dir="5400000" algn="bl" rotWithShape="0">
              <a:srgbClr val="000000">
                <a:alpha val="10000"/>
              </a:srgbClr>
            </a:outerShdw>
          </a:effectLst>
        </p:spPr>
        <p:txBody>
          <a:bodyPr/>
          <a:lstStyle/>
          <a:p>
            <a:endParaRPr/>
          </a:p>
        </p:txBody>
      </p:sp>
      <p:pic>
        <p:nvPicPr>
          <p:cNvPr id="10" name="Image 1">
            <a:extLst>
              <a:ext uri="{FF2B5EF4-FFF2-40B4-BE49-F238E27FC236}">
                <a16:creationId xmlns:a16="http://schemas.microsoft.com/office/drawing/2014/main" id="{1D427AC2-398F-47FC-AAE3-8B1E9DCBFF48}"/>
              </a:ext>
            </a:extLst>
          </p:cNvPr>
          <p:cNvPicPr>
            <a:picLocks noChangeAspect="1"/>
          </p:cNvPicPr>
          <p:nvPr/>
        </p:nvPicPr>
        <p:blipFill>
          <a:blip r:embed="rId4"/>
          <a:stretch>
            <a:fillRect/>
          </a:stretch>
        </p:blipFill>
        <p:spPr>
          <a:xfrm>
            <a:off x="5483787" y="1399032"/>
            <a:ext cx="3085726" cy="2514600"/>
          </a:xfrm>
          <a:prstGeom prst="rect">
            <a:avLst/>
          </a:prstGeom>
        </p:spPr>
      </p:pic>
      <p:sp>
        <p:nvSpPr>
          <p:cNvPr id="11" name="Shape 7">
            <a:extLst>
              <a:ext uri="{FF2B5EF4-FFF2-40B4-BE49-F238E27FC236}">
                <a16:creationId xmlns:a16="http://schemas.microsoft.com/office/drawing/2014/main" id="{09015F65-BABA-4BB3-81A9-5E89B7882B85}"/>
              </a:ext>
            </a:extLst>
          </p:cNvPr>
          <p:cNvSpPr>
            <a:spLocks noGrp="1"/>
          </p:cNvSpPr>
          <p:nvPr/>
        </p:nvSpPr>
        <p:spPr>
          <a:xfrm>
            <a:off x="7094446" y="3736953"/>
            <a:ext cx="1327150" cy="0"/>
          </a:xfrm>
          <a:prstGeom prst="line">
            <a:avLst/>
          </a:prstGeom>
          <a:noFill/>
          <a:ln w="25400">
            <a:solidFill>
              <a:srgbClr val="E02B2B"/>
            </a:solidFill>
            <a:prstDash val="solid"/>
          </a:ln>
        </p:spPr>
        <p:txBody>
          <a:bodyPr/>
          <a:lstStyle/>
          <a:p>
            <a:endParaRPr/>
          </a:p>
        </p:txBody>
      </p:sp>
      <p:sp>
        <p:nvSpPr>
          <p:cNvPr id="12" name="Shape 8">
            <a:extLst>
              <a:ext uri="{FF2B5EF4-FFF2-40B4-BE49-F238E27FC236}">
                <a16:creationId xmlns:a16="http://schemas.microsoft.com/office/drawing/2014/main" id="{94F8018C-627F-46A8-BE8B-991E83CAB5C0}"/>
              </a:ext>
            </a:extLst>
          </p:cNvPr>
          <p:cNvSpPr>
            <a:spLocks noGrp="1"/>
          </p:cNvSpPr>
          <p:nvPr/>
        </p:nvSpPr>
        <p:spPr>
          <a:xfrm>
            <a:off x="5555692" y="3854054"/>
            <a:ext cx="2804272" cy="0"/>
          </a:xfrm>
          <a:prstGeom prst="line">
            <a:avLst/>
          </a:prstGeom>
          <a:noFill/>
          <a:ln w="25400">
            <a:solidFill>
              <a:srgbClr val="E02B2B"/>
            </a:solidFill>
            <a:prstDash val="solid"/>
          </a:ln>
        </p:spPr>
        <p:txBody>
          <a:bodyPr/>
          <a:lstStyle/>
          <a:p>
            <a:endParaRPr/>
          </a:p>
        </p:txBody>
      </p:sp>
      <p:sp>
        <p:nvSpPr>
          <p:cNvPr id="13" name="Text 9">
            <a:extLst>
              <a:ext uri="{FF2B5EF4-FFF2-40B4-BE49-F238E27FC236}">
                <a16:creationId xmlns:a16="http://schemas.microsoft.com/office/drawing/2014/main" id="{AD894757-0232-486F-B792-1CD20EEFCCD6}"/>
              </a:ext>
            </a:extLst>
          </p:cNvPr>
          <p:cNvSpPr>
            <a:spLocks noGrp="1"/>
          </p:cNvSpPr>
          <p:nvPr/>
        </p:nvSpPr>
        <p:spPr>
          <a:xfrm>
            <a:off x="5410635" y="4041648"/>
            <a:ext cx="3291840" cy="201168"/>
          </a:xfrm>
          <a:prstGeom prst="rect">
            <a:avLst/>
          </a:prstGeom>
          <a:noFill/>
        </p:spPr>
        <p:txBody>
          <a:bodyPr wrap="square" lIns="0" tIns="0" rIns="0" bIns="0" anchor="t"/>
          <a:lstStyle/>
          <a:p>
            <a:pPr marL="0" indent="0">
              <a:buNone/>
            </a:pPr>
            <a:r>
              <a:rPr sz="800">
                <a:solidFill>
                  <a:srgbClr val="98A2B0"/>
                </a:solidFill>
                <a:latin typeface="Malgun Gothic"/>
                <a:ea typeface="Malgun Gothic"/>
                <a:cs typeface="Malgun Gothic"/>
              </a:rPr>
              <a:t>다나와 AI matters · 2026.04.29 (JetBrains 개발자 조사)</a:t>
            </a:r>
            <a:endParaRPr sz="800"/>
          </a:p>
        </p:txBody>
      </p:sp>
      <p:sp>
        <p:nvSpPr>
          <p:cNvPr id="25" name="Slide Number Placeholder 0">
            <a:extLst>
              <a:ext uri="{FF2B5EF4-FFF2-40B4-BE49-F238E27FC236}">
                <a16:creationId xmlns:a16="http://schemas.microsoft.com/office/drawing/2014/main" id="{625D6C63-71C6-48D8-BCD8-4976972B1AEF}"/>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202359C0-8A7A-196E-DD58-8E6569619F09}" type="slidenum">
              <a:rPr sz="900" b="1">
                <a:solidFill>
                  <a:srgbClr val="2B7FD4"/>
                </a:solidFill>
                <a:latin typeface="Malgun Gothic"/>
                <a:ea typeface="Malgun Gothic"/>
                <a:cs typeface="Malgun Gothic"/>
              </a:rPr>
              <a:t>3</a:t>
            </a:fld>
            <a:endParaRPr/>
          </a:p>
        </p:txBody>
      </p:sp>
    </p:spTree>
    <p:extLst>
      <p:ext uri="{BB962C8B-B14F-4D97-AF65-F5344CB8AC3E}">
        <p14:creationId xmlns:p14="http://schemas.microsoft.com/office/powerpoint/2010/main" val="1880084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1F6E943-03AC-4B87-8CDC-603A0026A0C8}"/>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a:solidFill>
                  <a:srgbClr val="000000"/>
                </a:solidFill>
                <a:latin typeface="Malgun Gothic"/>
                <a:ea typeface="Malgun Gothic"/>
                <a:cs typeface="Malgun Gothic"/>
              </a:rPr>
              <a:t>|  배경 : 코드는 AI가, 결과 책임은 사람이</a:t>
            </a:r>
            <a:endParaRPr sz="1800">
              <a:solidFill>
                <a:schemeClr val="tx1"/>
              </a:solidFill>
            </a:endParaRPr>
          </a:p>
        </p:txBody>
      </p:sp>
      <p:sp>
        <p:nvSpPr>
          <p:cNvPr id="3" name="Text 0">
            <a:extLst>
              <a:ext uri="{FF2B5EF4-FFF2-40B4-BE49-F238E27FC236}">
                <a16:creationId xmlns:a16="http://schemas.microsoft.com/office/drawing/2014/main" id="{518F4D3D-FAA7-406B-8A0B-DAC77D5F20F9}"/>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01 프로젝트 개요</a:t>
            </a:r>
            <a:endParaRPr sz="1000"/>
          </a:p>
        </p:txBody>
      </p:sp>
      <p:sp>
        <p:nvSpPr>
          <p:cNvPr id="4" name="Text 2">
            <a:extLst>
              <a:ext uri="{FF2B5EF4-FFF2-40B4-BE49-F238E27FC236}">
                <a16:creationId xmlns:a16="http://schemas.microsoft.com/office/drawing/2014/main" id="{FA530C98-E9A6-422F-89B1-E45F84EC8ED4}"/>
              </a:ext>
            </a:extLst>
          </p:cNvPr>
          <p:cNvSpPr>
            <a:spLocks noGrp="1"/>
          </p:cNvSpPr>
          <p:nvPr/>
        </p:nvSpPr>
        <p:spPr>
          <a:xfrm>
            <a:off x="411480" y="777240"/>
            <a:ext cx="8229600" cy="411480"/>
          </a:xfrm>
          <a:prstGeom prst="rect">
            <a:avLst/>
          </a:prstGeom>
          <a:noFill/>
        </p:spPr>
        <p:txBody>
          <a:bodyPr wrap="square" lIns="0" tIns="0" rIns="0" bIns="0" anchor="t"/>
          <a:lstStyle>
            <a:defPPr>
              <a:defRPr>
                <a:solidFill>
                  <a:srgbClr val="000000"/>
                </a:solidFill>
              </a:defRPr>
            </a:defPPr>
          </a:lstStyle>
          <a:p>
            <a:pPr marL="0" indent="0">
              <a:buNone/>
            </a:pPr>
            <a:r>
              <a:rPr sz="1800" b="1" dirty="0" err="1">
                <a:solidFill>
                  <a:schemeClr val="bg1">
                    <a:lumMod val="50000"/>
                  </a:schemeClr>
                </a:solidFill>
                <a:latin typeface="Malgun Gothic"/>
                <a:ea typeface="Malgun Gothic"/>
                <a:cs typeface="Malgun Gothic"/>
              </a:rPr>
              <a:t>코드를</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쓰는</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일은</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AI로</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넘어가고</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사람에게는</a:t>
            </a:r>
            <a:r>
              <a:rPr sz="1800" b="1" dirty="0">
                <a:solidFill>
                  <a:schemeClr val="bg1">
                    <a:lumMod val="50000"/>
                  </a:schemeClr>
                </a:solidFill>
                <a:latin typeface="Malgun Gothic"/>
                <a:ea typeface="Malgun Gothic"/>
                <a:cs typeface="Malgun Gothic"/>
              </a:rPr>
              <a:t> </a:t>
            </a:r>
            <a:r>
              <a:rPr sz="1800" b="1" u="sng" dirty="0" err="1">
                <a:solidFill>
                  <a:schemeClr val="bg1">
                    <a:lumMod val="50000"/>
                  </a:schemeClr>
                </a:solidFill>
                <a:latin typeface="Malgun Gothic"/>
                <a:ea typeface="Malgun Gothic"/>
                <a:cs typeface="Malgun Gothic"/>
              </a:rPr>
              <a:t>검토와</a:t>
            </a:r>
            <a:r>
              <a:rPr sz="1800" b="1" u="sng" dirty="0">
                <a:solidFill>
                  <a:schemeClr val="bg1">
                    <a:lumMod val="50000"/>
                  </a:schemeClr>
                </a:solidFill>
                <a:latin typeface="Malgun Gothic"/>
                <a:ea typeface="Malgun Gothic"/>
                <a:cs typeface="Malgun Gothic"/>
              </a:rPr>
              <a:t> </a:t>
            </a:r>
            <a:r>
              <a:rPr sz="1800" b="1" u="sng" dirty="0" err="1">
                <a:solidFill>
                  <a:schemeClr val="bg1">
                    <a:lumMod val="50000"/>
                  </a:schemeClr>
                </a:solidFill>
                <a:latin typeface="Malgun Gothic"/>
                <a:ea typeface="Malgun Gothic"/>
                <a:cs typeface="Malgun Gothic"/>
              </a:rPr>
              <a:t>책임</a:t>
            </a:r>
            <a:r>
              <a:rPr sz="1800" b="1" dirty="0" err="1">
                <a:solidFill>
                  <a:schemeClr val="bg1">
                    <a:lumMod val="50000"/>
                  </a:schemeClr>
                </a:solidFill>
                <a:latin typeface="Malgun Gothic"/>
                <a:ea typeface="Malgun Gothic"/>
                <a:cs typeface="Malgun Gothic"/>
              </a:rPr>
              <a:t>이</a:t>
            </a:r>
            <a:r>
              <a:rPr sz="1800" b="1" dirty="0">
                <a:solidFill>
                  <a:schemeClr val="bg1">
                    <a:lumMod val="50000"/>
                  </a:schemeClr>
                </a:solidFill>
                <a:latin typeface="Malgun Gothic"/>
                <a:ea typeface="Malgun Gothic"/>
                <a:cs typeface="Malgun Gothic"/>
              </a:rPr>
              <a:t> </a:t>
            </a:r>
            <a:r>
              <a:rPr sz="1800" b="1" dirty="0" err="1">
                <a:solidFill>
                  <a:schemeClr val="bg1">
                    <a:lumMod val="50000"/>
                  </a:schemeClr>
                </a:solidFill>
                <a:latin typeface="Malgun Gothic"/>
                <a:ea typeface="Malgun Gothic"/>
                <a:cs typeface="Malgun Gothic"/>
              </a:rPr>
              <a:t>남습니다</a:t>
            </a:r>
            <a:endParaRPr sz="1800" dirty="0">
              <a:solidFill>
                <a:schemeClr val="bg1">
                  <a:lumMod val="50000"/>
                </a:schemeClr>
              </a:solidFill>
            </a:endParaRPr>
          </a:p>
        </p:txBody>
      </p:sp>
      <p:sp>
        <p:nvSpPr>
          <p:cNvPr id="5" name="Shape 3">
            <a:extLst>
              <a:ext uri="{FF2B5EF4-FFF2-40B4-BE49-F238E27FC236}">
                <a16:creationId xmlns:a16="http://schemas.microsoft.com/office/drawing/2014/main" id="{92BE67C1-CEF7-4A6C-BD3E-36C844B7CFA6}"/>
              </a:ext>
            </a:extLst>
          </p:cNvPr>
          <p:cNvSpPr>
            <a:spLocks noGrp="1"/>
          </p:cNvSpPr>
          <p:nvPr/>
        </p:nvSpPr>
        <p:spPr>
          <a:xfrm>
            <a:off x="411480" y="1389888"/>
            <a:ext cx="8321040" cy="1082773"/>
          </a:xfrm>
          <a:prstGeom prst="roundRect">
            <a:avLst>
              <a:gd name="adj" fmla="val 6756"/>
            </a:avLst>
          </a:prstGeom>
          <a:solidFill>
            <a:srgbClr val="FFFFFF"/>
          </a:solidFill>
          <a:effectLst>
            <a:outerShdw blurRad="127000" dist="25400" dir="5400000" algn="bl" rotWithShape="0">
              <a:srgbClr val="000000">
                <a:alpha val="10000"/>
              </a:srgbClr>
            </a:outerShdw>
          </a:effectLst>
        </p:spPr>
        <p:txBody>
          <a:bodyPr/>
          <a:lstStyle/>
          <a:p>
            <a:endParaRPr/>
          </a:p>
        </p:txBody>
      </p:sp>
      <p:pic>
        <p:nvPicPr>
          <p:cNvPr id="6" name="Image 0">
            <a:extLst>
              <a:ext uri="{FF2B5EF4-FFF2-40B4-BE49-F238E27FC236}">
                <a16:creationId xmlns:a16="http://schemas.microsoft.com/office/drawing/2014/main" id="{358DB1B8-17E3-41AB-B7D8-9F4EF38D5CBE}"/>
              </a:ext>
            </a:extLst>
          </p:cNvPr>
          <p:cNvPicPr>
            <a:picLocks noChangeAspect="1"/>
          </p:cNvPicPr>
          <p:nvPr/>
        </p:nvPicPr>
        <p:blipFill>
          <a:blip r:embed="rId3"/>
          <a:stretch>
            <a:fillRect/>
          </a:stretch>
        </p:blipFill>
        <p:spPr>
          <a:xfrm>
            <a:off x="502920" y="1481328"/>
            <a:ext cx="8138160" cy="899893"/>
          </a:xfrm>
          <a:prstGeom prst="rect">
            <a:avLst/>
          </a:prstGeom>
        </p:spPr>
      </p:pic>
      <p:sp>
        <p:nvSpPr>
          <p:cNvPr id="7" name="Shape 4">
            <a:extLst>
              <a:ext uri="{FF2B5EF4-FFF2-40B4-BE49-F238E27FC236}">
                <a16:creationId xmlns:a16="http://schemas.microsoft.com/office/drawing/2014/main" id="{4AACAE5B-8418-45E6-BBF5-FC042EBFC479}"/>
              </a:ext>
            </a:extLst>
          </p:cNvPr>
          <p:cNvSpPr>
            <a:spLocks noGrp="1"/>
          </p:cNvSpPr>
          <p:nvPr/>
        </p:nvSpPr>
        <p:spPr>
          <a:xfrm>
            <a:off x="4885006" y="1982138"/>
            <a:ext cx="3716948" cy="0"/>
          </a:xfrm>
          <a:prstGeom prst="line">
            <a:avLst/>
          </a:prstGeom>
          <a:noFill/>
          <a:ln w="25400">
            <a:solidFill>
              <a:srgbClr val="E02B2B"/>
            </a:solidFill>
            <a:prstDash val="solid"/>
          </a:ln>
        </p:spPr>
        <p:txBody>
          <a:bodyPr/>
          <a:lstStyle/>
          <a:p>
            <a:endParaRPr/>
          </a:p>
        </p:txBody>
      </p:sp>
      <p:sp>
        <p:nvSpPr>
          <p:cNvPr id="8" name="Shape 5">
            <a:extLst>
              <a:ext uri="{FF2B5EF4-FFF2-40B4-BE49-F238E27FC236}">
                <a16:creationId xmlns:a16="http://schemas.microsoft.com/office/drawing/2014/main" id="{3088B946-E1B6-415B-877B-7BDC0EE2B621}"/>
              </a:ext>
            </a:extLst>
          </p:cNvPr>
          <p:cNvSpPr>
            <a:spLocks noGrp="1"/>
          </p:cNvSpPr>
          <p:nvPr/>
        </p:nvSpPr>
        <p:spPr>
          <a:xfrm>
            <a:off x="620297" y="2279494"/>
            <a:ext cx="2324071" cy="0"/>
          </a:xfrm>
          <a:prstGeom prst="line">
            <a:avLst/>
          </a:prstGeom>
          <a:noFill/>
          <a:ln w="25400">
            <a:solidFill>
              <a:srgbClr val="E02B2B"/>
            </a:solidFill>
            <a:prstDash val="solid"/>
          </a:ln>
        </p:spPr>
        <p:txBody>
          <a:bodyPr/>
          <a:lstStyle/>
          <a:p>
            <a:endParaRPr/>
          </a:p>
        </p:txBody>
      </p:sp>
      <p:sp>
        <p:nvSpPr>
          <p:cNvPr id="9" name="Text 6">
            <a:extLst>
              <a:ext uri="{FF2B5EF4-FFF2-40B4-BE49-F238E27FC236}">
                <a16:creationId xmlns:a16="http://schemas.microsoft.com/office/drawing/2014/main" id="{A5572C3B-4976-4178-AEAB-F22776F9213D}"/>
              </a:ext>
            </a:extLst>
          </p:cNvPr>
          <p:cNvSpPr>
            <a:spLocks noGrp="1"/>
          </p:cNvSpPr>
          <p:nvPr/>
        </p:nvSpPr>
        <p:spPr>
          <a:xfrm>
            <a:off x="411480" y="2536669"/>
            <a:ext cx="6400800" cy="201168"/>
          </a:xfrm>
          <a:prstGeom prst="rect">
            <a:avLst/>
          </a:prstGeom>
          <a:noFill/>
        </p:spPr>
        <p:txBody>
          <a:bodyPr wrap="square" lIns="0" tIns="0" rIns="0" bIns="0" anchor="t"/>
          <a:lstStyle/>
          <a:p>
            <a:pPr marL="0" indent="0">
              <a:buNone/>
            </a:pPr>
            <a:r>
              <a:rPr sz="800">
                <a:solidFill>
                  <a:srgbClr val="98A2B0"/>
                </a:solidFill>
                <a:latin typeface="Malgun Gothic"/>
                <a:ea typeface="Malgun Gothic"/>
                <a:cs typeface="Malgun Gothic"/>
              </a:rPr>
              <a:t>테크42 · 2026.04.24 — 순다르 피차이 구글 CEO, 구글 클라우드 넥스트 2026 기조연설</a:t>
            </a:r>
            <a:endParaRPr sz="800"/>
          </a:p>
        </p:txBody>
      </p:sp>
      <p:sp>
        <p:nvSpPr>
          <p:cNvPr id="10" name="Shape 7">
            <a:extLst>
              <a:ext uri="{FF2B5EF4-FFF2-40B4-BE49-F238E27FC236}">
                <a16:creationId xmlns:a16="http://schemas.microsoft.com/office/drawing/2014/main" id="{6137FFD6-F9AF-4CFA-A2C0-3305343CE73D}"/>
              </a:ext>
            </a:extLst>
          </p:cNvPr>
          <p:cNvSpPr>
            <a:spLocks noGrp="1"/>
          </p:cNvSpPr>
          <p:nvPr/>
        </p:nvSpPr>
        <p:spPr>
          <a:xfrm>
            <a:off x="411480" y="2926080"/>
            <a:ext cx="4023360" cy="1143000"/>
          </a:xfrm>
          <a:prstGeom prst="roundRect">
            <a:avLst>
              <a:gd name="adj" fmla="val 9600"/>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11" name="Shape 8">
            <a:extLst>
              <a:ext uri="{FF2B5EF4-FFF2-40B4-BE49-F238E27FC236}">
                <a16:creationId xmlns:a16="http://schemas.microsoft.com/office/drawing/2014/main" id="{D1A537A1-C2E1-4E5F-A2AA-998B39716CB5}"/>
              </a:ext>
            </a:extLst>
          </p:cNvPr>
          <p:cNvSpPr>
            <a:spLocks noGrp="1"/>
          </p:cNvSpPr>
          <p:nvPr/>
        </p:nvSpPr>
        <p:spPr>
          <a:xfrm>
            <a:off x="640080" y="3172968"/>
            <a:ext cx="658368" cy="658368"/>
          </a:xfrm>
          <a:prstGeom prst="ellipse">
            <a:avLst/>
          </a:prstGeom>
          <a:solidFill>
            <a:srgbClr val="E6F0FB"/>
          </a:solidFill>
        </p:spPr>
        <p:txBody>
          <a:bodyPr/>
          <a:lstStyle/>
          <a:p>
            <a:endParaRPr/>
          </a:p>
        </p:txBody>
      </p:sp>
      <p:pic>
        <p:nvPicPr>
          <p:cNvPr id="12" name="Image 1">
            <a:extLst>
              <a:ext uri="{FF2B5EF4-FFF2-40B4-BE49-F238E27FC236}">
                <a16:creationId xmlns:a16="http://schemas.microsoft.com/office/drawing/2014/main" id="{43C269E9-4379-4CEC-AE34-A745F00A8701}"/>
              </a:ext>
            </a:extLst>
          </p:cNvPr>
          <p:cNvPicPr>
            <a:picLocks noChangeAspect="1"/>
          </p:cNvPicPr>
          <p:nvPr/>
        </p:nvPicPr>
        <p:blipFill>
          <a:blip r:embed="rId4"/>
          <a:stretch>
            <a:fillRect/>
          </a:stretch>
        </p:blipFill>
        <p:spPr>
          <a:xfrm>
            <a:off x="784921" y="3317809"/>
            <a:ext cx="368686" cy="368686"/>
          </a:xfrm>
          <a:prstGeom prst="rect">
            <a:avLst/>
          </a:prstGeom>
        </p:spPr>
      </p:pic>
      <p:sp>
        <p:nvSpPr>
          <p:cNvPr id="13" name="Text 9">
            <a:extLst>
              <a:ext uri="{FF2B5EF4-FFF2-40B4-BE49-F238E27FC236}">
                <a16:creationId xmlns:a16="http://schemas.microsoft.com/office/drawing/2014/main" id="{E32E4460-5B1B-4C3E-985F-2A6225E2621B}"/>
              </a:ext>
            </a:extLst>
          </p:cNvPr>
          <p:cNvSpPr>
            <a:spLocks noGrp="1"/>
          </p:cNvSpPr>
          <p:nvPr/>
        </p:nvSpPr>
        <p:spPr>
          <a:xfrm>
            <a:off x="1463040" y="3127248"/>
            <a:ext cx="2834640" cy="320040"/>
          </a:xfrm>
          <a:prstGeom prst="rect">
            <a:avLst/>
          </a:prstGeom>
          <a:noFill/>
        </p:spPr>
        <p:txBody>
          <a:bodyPr wrap="square" lIns="0" tIns="0" rIns="0" bIns="0" anchor="t"/>
          <a:lstStyle>
            <a:defPPr>
              <a:defRPr>
                <a:solidFill>
                  <a:srgbClr val="000000"/>
                </a:solidFill>
              </a:defRPr>
            </a:defPPr>
          </a:lstStyle>
          <a:p>
            <a:pPr marL="0" indent="0">
              <a:buNone/>
            </a:pPr>
            <a:r>
              <a:rPr sz="1350" b="1">
                <a:solidFill>
                  <a:srgbClr val="000000"/>
                </a:solidFill>
                <a:latin typeface="Malgun Gothic"/>
                <a:ea typeface="Malgun Gothic"/>
                <a:cs typeface="Malgun Gothic"/>
              </a:rPr>
              <a:t>AI가 맡는 일</a:t>
            </a:r>
            <a:endParaRPr sz="1350"/>
          </a:p>
        </p:txBody>
      </p:sp>
      <p:sp>
        <p:nvSpPr>
          <p:cNvPr id="14" name="Text 10">
            <a:extLst>
              <a:ext uri="{FF2B5EF4-FFF2-40B4-BE49-F238E27FC236}">
                <a16:creationId xmlns:a16="http://schemas.microsoft.com/office/drawing/2014/main" id="{ECB359F2-1663-41FB-94A8-05DA6DDF1E5A}"/>
              </a:ext>
            </a:extLst>
          </p:cNvPr>
          <p:cNvSpPr>
            <a:spLocks noGrp="1"/>
          </p:cNvSpPr>
          <p:nvPr/>
        </p:nvSpPr>
        <p:spPr>
          <a:xfrm>
            <a:off x="1463040" y="3474720"/>
            <a:ext cx="2880360" cy="457200"/>
          </a:xfrm>
          <a:prstGeom prst="rect">
            <a:avLst/>
          </a:prstGeom>
          <a:noFill/>
        </p:spPr>
        <p:txBody>
          <a:bodyPr wrap="square" lIns="0" tIns="0" rIns="0" bIns="0" anchor="t"/>
          <a:lstStyle/>
          <a:p>
            <a:pPr marL="0" indent="0">
              <a:buNone/>
            </a:pPr>
            <a:r>
              <a:rPr sz="1100">
                <a:solidFill>
                  <a:srgbClr val="444444"/>
                </a:solidFill>
                <a:latin typeface="Malgun Gothic"/>
                <a:ea typeface="Malgun Gothic"/>
                <a:cs typeface="Malgun Gothic"/>
              </a:rPr>
              <a:t>코드 생성 · 수정 · 반복 작업</a:t>
            </a:r>
            <a:endParaRPr sz="1100"/>
          </a:p>
        </p:txBody>
      </p:sp>
      <p:sp>
        <p:nvSpPr>
          <p:cNvPr id="15" name="Shape 11">
            <a:extLst>
              <a:ext uri="{FF2B5EF4-FFF2-40B4-BE49-F238E27FC236}">
                <a16:creationId xmlns:a16="http://schemas.microsoft.com/office/drawing/2014/main" id="{3B20675E-2FD9-42BB-87F2-D17352AC511E}"/>
              </a:ext>
            </a:extLst>
          </p:cNvPr>
          <p:cNvSpPr>
            <a:spLocks noGrp="1"/>
          </p:cNvSpPr>
          <p:nvPr/>
        </p:nvSpPr>
        <p:spPr>
          <a:xfrm>
            <a:off x="4709160" y="2926080"/>
            <a:ext cx="4023360" cy="1143000"/>
          </a:xfrm>
          <a:prstGeom prst="roundRect">
            <a:avLst>
              <a:gd name="adj" fmla="val 9600"/>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16" name="Shape 12">
            <a:extLst>
              <a:ext uri="{FF2B5EF4-FFF2-40B4-BE49-F238E27FC236}">
                <a16:creationId xmlns:a16="http://schemas.microsoft.com/office/drawing/2014/main" id="{6A3148B6-B706-4B3C-8A85-AEF998E40D0C}"/>
              </a:ext>
            </a:extLst>
          </p:cNvPr>
          <p:cNvSpPr>
            <a:spLocks noGrp="1"/>
          </p:cNvSpPr>
          <p:nvPr/>
        </p:nvSpPr>
        <p:spPr>
          <a:xfrm>
            <a:off x="4937760" y="3172968"/>
            <a:ext cx="658368" cy="658368"/>
          </a:xfrm>
          <a:prstGeom prst="ellipse">
            <a:avLst/>
          </a:prstGeom>
          <a:solidFill>
            <a:srgbClr val="E6F0FB"/>
          </a:solidFill>
        </p:spPr>
        <p:txBody>
          <a:bodyPr/>
          <a:lstStyle/>
          <a:p>
            <a:endParaRPr/>
          </a:p>
        </p:txBody>
      </p:sp>
      <p:pic>
        <p:nvPicPr>
          <p:cNvPr id="17" name="Image 2">
            <a:extLst>
              <a:ext uri="{FF2B5EF4-FFF2-40B4-BE49-F238E27FC236}">
                <a16:creationId xmlns:a16="http://schemas.microsoft.com/office/drawing/2014/main" id="{C085F16B-38E4-459C-82D3-F6966E8D5857}"/>
              </a:ext>
            </a:extLst>
          </p:cNvPr>
          <p:cNvPicPr>
            <a:picLocks noChangeAspect="1"/>
          </p:cNvPicPr>
          <p:nvPr/>
        </p:nvPicPr>
        <p:blipFill>
          <a:blip r:embed="rId5"/>
          <a:stretch>
            <a:fillRect/>
          </a:stretch>
        </p:blipFill>
        <p:spPr>
          <a:xfrm>
            <a:off x="5082601" y="3317809"/>
            <a:ext cx="368686" cy="368686"/>
          </a:xfrm>
          <a:prstGeom prst="rect">
            <a:avLst/>
          </a:prstGeom>
        </p:spPr>
      </p:pic>
      <p:sp>
        <p:nvSpPr>
          <p:cNvPr id="18" name="Text 13">
            <a:extLst>
              <a:ext uri="{FF2B5EF4-FFF2-40B4-BE49-F238E27FC236}">
                <a16:creationId xmlns:a16="http://schemas.microsoft.com/office/drawing/2014/main" id="{740F5449-7EBB-4DCB-8A11-D2E237314F46}"/>
              </a:ext>
            </a:extLst>
          </p:cNvPr>
          <p:cNvSpPr>
            <a:spLocks noGrp="1"/>
          </p:cNvSpPr>
          <p:nvPr/>
        </p:nvSpPr>
        <p:spPr>
          <a:xfrm>
            <a:off x="5760720" y="3127248"/>
            <a:ext cx="2834640" cy="320040"/>
          </a:xfrm>
          <a:prstGeom prst="rect">
            <a:avLst/>
          </a:prstGeom>
          <a:noFill/>
        </p:spPr>
        <p:txBody>
          <a:bodyPr wrap="square" lIns="0" tIns="0" rIns="0" bIns="0" anchor="t"/>
          <a:lstStyle>
            <a:defPPr>
              <a:defRPr>
                <a:solidFill>
                  <a:srgbClr val="000000"/>
                </a:solidFill>
              </a:defRPr>
            </a:defPPr>
          </a:lstStyle>
          <a:p>
            <a:pPr marL="0" indent="0">
              <a:buNone/>
            </a:pPr>
            <a:r>
              <a:rPr sz="1350" b="1">
                <a:solidFill>
                  <a:srgbClr val="000000"/>
                </a:solidFill>
                <a:latin typeface="Malgun Gothic"/>
                <a:ea typeface="Malgun Gothic"/>
                <a:cs typeface="Malgun Gothic"/>
              </a:rPr>
              <a:t>사람이 맡는 일</a:t>
            </a:r>
            <a:endParaRPr sz="1350"/>
          </a:p>
        </p:txBody>
      </p:sp>
      <p:sp>
        <p:nvSpPr>
          <p:cNvPr id="19" name="Text 14">
            <a:extLst>
              <a:ext uri="{FF2B5EF4-FFF2-40B4-BE49-F238E27FC236}">
                <a16:creationId xmlns:a16="http://schemas.microsoft.com/office/drawing/2014/main" id="{1F876B05-92E0-4FAA-8D57-A18DCE736F25}"/>
              </a:ext>
            </a:extLst>
          </p:cNvPr>
          <p:cNvSpPr>
            <a:spLocks noGrp="1"/>
          </p:cNvSpPr>
          <p:nvPr/>
        </p:nvSpPr>
        <p:spPr>
          <a:xfrm>
            <a:off x="5760720" y="3474720"/>
            <a:ext cx="2880360" cy="457200"/>
          </a:xfrm>
          <a:prstGeom prst="rect">
            <a:avLst/>
          </a:prstGeom>
          <a:noFill/>
        </p:spPr>
        <p:txBody>
          <a:bodyPr wrap="square" lIns="0" tIns="0" rIns="0" bIns="0" anchor="t"/>
          <a:lstStyle/>
          <a:p>
            <a:pPr marL="0" indent="0">
              <a:buNone/>
            </a:pPr>
            <a:r>
              <a:rPr sz="1100">
                <a:solidFill>
                  <a:srgbClr val="444444"/>
                </a:solidFill>
                <a:latin typeface="Malgun Gothic"/>
                <a:ea typeface="Malgun Gothic"/>
                <a:cs typeface="Malgun Gothic"/>
              </a:rPr>
              <a:t>설계 판단 · 결과 검증 · 배포 승인 · 운영 책임</a:t>
            </a:r>
            <a:endParaRPr sz="1100"/>
          </a:p>
        </p:txBody>
      </p:sp>
      <p:sp>
        <p:nvSpPr>
          <p:cNvPr id="20" name="Shape 15">
            <a:extLst>
              <a:ext uri="{FF2B5EF4-FFF2-40B4-BE49-F238E27FC236}">
                <a16:creationId xmlns:a16="http://schemas.microsoft.com/office/drawing/2014/main" id="{F4A057B0-DE02-4723-BE04-A1C9CE8A5F54}"/>
              </a:ext>
            </a:extLst>
          </p:cNvPr>
          <p:cNvSpPr>
            <a:spLocks noGrp="1"/>
          </p:cNvSpPr>
          <p:nvPr/>
        </p:nvSpPr>
        <p:spPr>
          <a:xfrm>
            <a:off x="4242816" y="3273552"/>
            <a:ext cx="438912" cy="438912"/>
          </a:xfrm>
          <a:prstGeom prst="ellipse">
            <a:avLst/>
          </a:prstGeom>
          <a:solidFill>
            <a:srgbClr val="2B7FD4"/>
          </a:solidFill>
          <a:ln w="25400">
            <a:solidFill>
              <a:srgbClr val="FFFFFF"/>
            </a:solidFill>
            <a:prstDash val="solid"/>
          </a:ln>
        </p:spPr>
        <p:txBody>
          <a:bodyPr/>
          <a:lstStyle/>
          <a:p>
            <a:endParaRPr/>
          </a:p>
        </p:txBody>
      </p:sp>
      <p:pic>
        <p:nvPicPr>
          <p:cNvPr id="21" name="Image 3">
            <a:extLst>
              <a:ext uri="{FF2B5EF4-FFF2-40B4-BE49-F238E27FC236}">
                <a16:creationId xmlns:a16="http://schemas.microsoft.com/office/drawing/2014/main" id="{7729F4E2-80C5-448A-827C-C6F98EFB9DF3}"/>
              </a:ext>
            </a:extLst>
          </p:cNvPr>
          <p:cNvPicPr>
            <a:picLocks noChangeAspect="1"/>
          </p:cNvPicPr>
          <p:nvPr/>
        </p:nvPicPr>
        <p:blipFill>
          <a:blip r:embed="rId6"/>
          <a:stretch>
            <a:fillRect/>
          </a:stretch>
        </p:blipFill>
        <p:spPr>
          <a:xfrm>
            <a:off x="4325112" y="3355848"/>
            <a:ext cx="274320" cy="274320"/>
          </a:xfrm>
          <a:prstGeom prst="rect">
            <a:avLst/>
          </a:prstGeom>
        </p:spPr>
      </p:pic>
      <p:sp>
        <p:nvSpPr>
          <p:cNvPr id="25" name="Slide Number Placeholder 0">
            <a:extLst>
              <a:ext uri="{FF2B5EF4-FFF2-40B4-BE49-F238E27FC236}">
                <a16:creationId xmlns:a16="http://schemas.microsoft.com/office/drawing/2014/main" id="{57D3121D-41C6-4B33-ABF4-4170EAAC5532}"/>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EFD6AB9A-5F9E-5F59-51AB-3C8734130965}" type="slidenum">
              <a:rPr sz="900" b="1">
                <a:solidFill>
                  <a:srgbClr val="2B7FD4"/>
                </a:solidFill>
                <a:latin typeface="Malgun Gothic"/>
                <a:ea typeface="Malgun Gothic"/>
                <a:cs typeface="Malgun Gothic"/>
              </a:rPr>
              <a:t>4</a:t>
            </a:fld>
            <a:endParaRPr/>
          </a:p>
        </p:txBody>
      </p:sp>
    </p:spTree>
    <p:extLst>
      <p:ext uri="{BB962C8B-B14F-4D97-AF65-F5344CB8AC3E}">
        <p14:creationId xmlns:p14="http://schemas.microsoft.com/office/powerpoint/2010/main" val="1551211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63E0E05-03AF-4F8E-9021-DB86BC64CABF}"/>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a:solidFill>
                  <a:srgbClr val="000000"/>
                </a:solidFill>
                <a:latin typeface="Malgun Gothic"/>
                <a:ea typeface="Malgun Gothic"/>
                <a:cs typeface="Malgun Gothic"/>
              </a:rPr>
              <a:t>|  페르소나 : 어려움과 요구사항</a:t>
            </a:r>
            <a:endParaRPr sz="2000"/>
          </a:p>
        </p:txBody>
      </p:sp>
      <p:sp>
        <p:nvSpPr>
          <p:cNvPr id="3" name="Text 1">
            <a:extLst>
              <a:ext uri="{FF2B5EF4-FFF2-40B4-BE49-F238E27FC236}">
                <a16:creationId xmlns:a16="http://schemas.microsoft.com/office/drawing/2014/main" id="{282E2FE8-EBAE-4E2B-8205-1303EDDCA089}"/>
              </a:ext>
            </a:extLst>
          </p:cNvPr>
          <p:cNvSpPr>
            <a:spLocks noGrp="1"/>
          </p:cNvSpPr>
          <p:nvPr/>
        </p:nvSpPr>
        <p:spPr>
          <a:xfrm>
            <a:off x="411480" y="868680"/>
            <a:ext cx="1463040" cy="274320"/>
          </a:xfrm>
          <a:prstGeom prst="rect">
            <a:avLst/>
          </a:prstGeom>
          <a:noFill/>
        </p:spPr>
        <p:txBody>
          <a:bodyPr wrap="square" lIns="0" tIns="0" rIns="0" bIns="0" anchor="t"/>
          <a:lstStyle>
            <a:defPPr>
              <a:defRPr>
                <a:solidFill>
                  <a:srgbClr val="000000"/>
                </a:solidFill>
              </a:defRPr>
            </a:defPPr>
          </a:lstStyle>
          <a:p>
            <a:pPr marL="0" indent="0" algn="ctr">
              <a:buNone/>
            </a:pPr>
            <a:r>
              <a:rPr sz="1400" b="1">
                <a:solidFill>
                  <a:srgbClr val="000000"/>
                </a:solidFill>
                <a:latin typeface="Malgun Gothic"/>
                <a:ea typeface="Malgun Gothic"/>
                <a:cs typeface="Malgun Gothic"/>
              </a:rPr>
              <a:t>김OO 님</a:t>
            </a:r>
            <a:endParaRPr sz="1400"/>
          </a:p>
        </p:txBody>
      </p:sp>
      <p:sp>
        <p:nvSpPr>
          <p:cNvPr id="4" name="Text 2">
            <a:extLst>
              <a:ext uri="{FF2B5EF4-FFF2-40B4-BE49-F238E27FC236}">
                <a16:creationId xmlns:a16="http://schemas.microsoft.com/office/drawing/2014/main" id="{354D78D0-61A2-4922-B60E-4EB5029BD872}"/>
              </a:ext>
            </a:extLst>
          </p:cNvPr>
          <p:cNvSpPr>
            <a:spLocks noGrp="1"/>
          </p:cNvSpPr>
          <p:nvPr/>
        </p:nvSpPr>
        <p:spPr>
          <a:xfrm>
            <a:off x="411480" y="1143000"/>
            <a:ext cx="1463040" cy="228600"/>
          </a:xfrm>
          <a:prstGeom prst="rect">
            <a:avLst/>
          </a:prstGeom>
          <a:noFill/>
        </p:spPr>
        <p:txBody>
          <a:bodyPr wrap="square" lIns="0" tIns="0" rIns="0" bIns="0" anchor="t"/>
          <a:lstStyle>
            <a:defPPr>
              <a:defRPr>
                <a:solidFill>
                  <a:srgbClr val="000000"/>
                </a:solidFill>
              </a:defRPr>
            </a:defPPr>
          </a:lstStyle>
          <a:p>
            <a:pPr marL="0" indent="0" algn="ctr">
              <a:buNone/>
            </a:pPr>
            <a:r>
              <a:rPr sz="900" b="1">
                <a:solidFill>
                  <a:srgbClr val="000000"/>
                </a:solidFill>
                <a:latin typeface="Malgun Gothic"/>
                <a:ea typeface="Malgun Gothic"/>
                <a:cs typeface="Malgun Gothic"/>
              </a:rPr>
              <a:t>컴퓨터공학과 4학년</a:t>
            </a:r>
            <a:endParaRPr sz="900"/>
          </a:p>
        </p:txBody>
      </p:sp>
      <p:sp>
        <p:nvSpPr>
          <p:cNvPr id="5" name="Shape 3">
            <a:extLst>
              <a:ext uri="{FF2B5EF4-FFF2-40B4-BE49-F238E27FC236}">
                <a16:creationId xmlns:a16="http://schemas.microsoft.com/office/drawing/2014/main" id="{90842BE4-7254-4437-842C-36F3E2614CA8}"/>
              </a:ext>
            </a:extLst>
          </p:cNvPr>
          <p:cNvSpPr>
            <a:spLocks noGrp="1"/>
          </p:cNvSpPr>
          <p:nvPr/>
        </p:nvSpPr>
        <p:spPr>
          <a:xfrm>
            <a:off x="640080" y="1417320"/>
            <a:ext cx="1005840" cy="1005840"/>
          </a:xfrm>
          <a:prstGeom prst="roundRect">
            <a:avLst>
              <a:gd name="adj" fmla="val 12727"/>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6" name="Shape 4">
            <a:extLst>
              <a:ext uri="{FF2B5EF4-FFF2-40B4-BE49-F238E27FC236}">
                <a16:creationId xmlns:a16="http://schemas.microsoft.com/office/drawing/2014/main" id="{65F7A9EE-9893-4336-BF54-88495FF6928E}"/>
              </a:ext>
            </a:extLst>
          </p:cNvPr>
          <p:cNvSpPr>
            <a:spLocks noGrp="1"/>
          </p:cNvSpPr>
          <p:nvPr/>
        </p:nvSpPr>
        <p:spPr>
          <a:xfrm>
            <a:off x="713232" y="1490472"/>
            <a:ext cx="859536" cy="859536"/>
          </a:xfrm>
          <a:prstGeom prst="roundRect">
            <a:avLst>
              <a:gd name="adj" fmla="val 10638"/>
            </a:avLst>
          </a:prstGeom>
          <a:solidFill>
            <a:srgbClr val="E6F0FB"/>
          </a:solidFill>
        </p:spPr>
        <p:txBody>
          <a:bodyPr/>
          <a:lstStyle/>
          <a:p>
            <a:endParaRPr lang="ko-KR" altLang="en-US"/>
          </a:p>
        </p:txBody>
      </p:sp>
      <p:pic>
        <p:nvPicPr>
          <p:cNvPr id="7" name="Image 0">
            <a:extLst>
              <a:ext uri="{FF2B5EF4-FFF2-40B4-BE49-F238E27FC236}">
                <a16:creationId xmlns:a16="http://schemas.microsoft.com/office/drawing/2014/main" id="{78455F91-B2C8-4C2D-A139-6125BE658AFD}"/>
              </a:ext>
            </a:extLst>
          </p:cNvPr>
          <p:cNvPicPr>
            <a:picLocks noChangeAspect="1"/>
          </p:cNvPicPr>
          <p:nvPr/>
        </p:nvPicPr>
        <p:blipFill>
          <a:blip r:embed="rId4"/>
          <a:stretch>
            <a:fillRect/>
          </a:stretch>
        </p:blipFill>
        <p:spPr>
          <a:xfrm>
            <a:off x="850392" y="1600200"/>
            <a:ext cx="585216" cy="585216"/>
          </a:xfrm>
          <a:prstGeom prst="rect">
            <a:avLst/>
          </a:prstGeom>
        </p:spPr>
      </p:pic>
      <p:sp>
        <p:nvSpPr>
          <p:cNvPr id="8" name="Shape 5">
            <a:extLst>
              <a:ext uri="{FF2B5EF4-FFF2-40B4-BE49-F238E27FC236}">
                <a16:creationId xmlns:a16="http://schemas.microsoft.com/office/drawing/2014/main" id="{DA95FFD1-1687-4C62-95CB-BD894A38AC73}"/>
              </a:ext>
            </a:extLst>
          </p:cNvPr>
          <p:cNvSpPr>
            <a:spLocks noGrp="1"/>
          </p:cNvSpPr>
          <p:nvPr/>
        </p:nvSpPr>
        <p:spPr>
          <a:xfrm>
            <a:off x="2148840" y="1005840"/>
            <a:ext cx="6583680" cy="713232"/>
          </a:xfrm>
          <a:prstGeom prst="roundRect">
            <a:avLst>
              <a:gd name="adj" fmla="val 50000"/>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9" name="Text 6">
            <a:extLst>
              <a:ext uri="{FF2B5EF4-FFF2-40B4-BE49-F238E27FC236}">
                <a16:creationId xmlns:a16="http://schemas.microsoft.com/office/drawing/2014/main" id="{5AF89C52-F71A-4528-A78E-37893C1E272D}"/>
              </a:ext>
            </a:extLst>
          </p:cNvPr>
          <p:cNvSpPr>
            <a:spLocks noGrp="1"/>
          </p:cNvSpPr>
          <p:nvPr/>
        </p:nvSpPr>
        <p:spPr>
          <a:xfrm>
            <a:off x="2377440" y="1005840"/>
            <a:ext cx="6126480" cy="713232"/>
          </a:xfrm>
          <a:prstGeom prst="rect">
            <a:avLst/>
          </a:prstGeom>
          <a:noFill/>
        </p:spPr>
        <p:txBody>
          <a:bodyPr wrap="square" lIns="0" tIns="0" rIns="0" bIns="0" anchor="ctr"/>
          <a:lstStyle/>
          <a:p>
            <a:pPr marL="0" indent="0" algn="ctr">
              <a:buNone/>
            </a:pPr>
            <a:r>
              <a:rPr sz="1200">
                <a:solidFill>
                  <a:srgbClr val="141B26"/>
                </a:solidFill>
                <a:latin typeface="Malgun Gothic"/>
                <a:ea typeface="Malgun Gothic"/>
                <a:cs typeface="Malgun Gothic"/>
              </a:rPr>
              <a:t>AI로 쇼핑몰 코드는 금방 만들었는데, </a:t>
            </a:r>
            <a:r>
              <a:rPr sz="1200" b="1" u="sng">
                <a:solidFill>
                  <a:srgbClr val="2B7FD4"/>
                </a:solidFill>
                <a:latin typeface="Malgun Gothic"/>
                <a:ea typeface="Malgun Gothic"/>
                <a:cs typeface="Malgun Gothic"/>
              </a:rPr>
              <a:t>Docker와 AWS 배포 설정</a:t>
            </a:r>
            <a:r>
              <a:rPr sz="1200">
                <a:solidFill>
                  <a:srgbClr val="141B26"/>
                </a:solidFill>
                <a:latin typeface="Malgun Gothic"/>
                <a:ea typeface="Malgun Gothic"/>
                <a:cs typeface="Malgun Gothic"/>
              </a:rPr>
              <a:t>에서 막혔어요.</a:t>
            </a:r>
            <a:endParaRPr sz="1200"/>
          </a:p>
        </p:txBody>
      </p:sp>
      <p:sp>
        <p:nvSpPr>
          <p:cNvPr id="10" name="Shape 7">
            <a:extLst>
              <a:ext uri="{FF2B5EF4-FFF2-40B4-BE49-F238E27FC236}">
                <a16:creationId xmlns:a16="http://schemas.microsoft.com/office/drawing/2014/main" id="{110B553E-CCD0-48CA-A10C-5952C686AA04}"/>
              </a:ext>
            </a:extLst>
          </p:cNvPr>
          <p:cNvSpPr>
            <a:spLocks noGrp="1"/>
          </p:cNvSpPr>
          <p:nvPr/>
        </p:nvSpPr>
        <p:spPr>
          <a:xfrm>
            <a:off x="2148840" y="1874520"/>
            <a:ext cx="6583680" cy="713232"/>
          </a:xfrm>
          <a:prstGeom prst="roundRect">
            <a:avLst>
              <a:gd name="adj" fmla="val 50000"/>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11" name="Text 8">
            <a:extLst>
              <a:ext uri="{FF2B5EF4-FFF2-40B4-BE49-F238E27FC236}">
                <a16:creationId xmlns:a16="http://schemas.microsoft.com/office/drawing/2014/main" id="{73064F11-A46C-47AA-9DED-90F2D198FE90}"/>
              </a:ext>
            </a:extLst>
          </p:cNvPr>
          <p:cNvSpPr>
            <a:spLocks noGrp="1"/>
          </p:cNvSpPr>
          <p:nvPr/>
        </p:nvSpPr>
        <p:spPr>
          <a:xfrm>
            <a:off x="2377440" y="1874520"/>
            <a:ext cx="6126480" cy="713232"/>
          </a:xfrm>
          <a:prstGeom prst="rect">
            <a:avLst/>
          </a:prstGeom>
          <a:noFill/>
        </p:spPr>
        <p:txBody>
          <a:bodyPr wrap="square" lIns="0" tIns="0" rIns="0" bIns="0" anchor="ctr"/>
          <a:lstStyle/>
          <a:p>
            <a:pPr marL="0" indent="0" algn="ctr">
              <a:buNone/>
            </a:pPr>
            <a:r>
              <a:rPr sz="1200">
                <a:solidFill>
                  <a:srgbClr val="141B26"/>
                </a:solidFill>
                <a:latin typeface="Malgun Gothic"/>
                <a:ea typeface="Malgun Gothic"/>
                <a:cs typeface="Malgun Gothic"/>
              </a:rPr>
              <a:t>코드에 비밀키가 들어가 있는지, </a:t>
            </a:r>
            <a:r>
              <a:rPr sz="1200" b="1" u="sng">
                <a:solidFill>
                  <a:srgbClr val="2B7FD4"/>
                </a:solidFill>
                <a:latin typeface="Malgun Gothic"/>
                <a:ea typeface="Malgun Gothic"/>
                <a:cs typeface="Malgun Gothic"/>
              </a:rPr>
              <a:t>배포해도 안전한지</a:t>
            </a:r>
            <a:r>
              <a:rPr sz="1200">
                <a:solidFill>
                  <a:srgbClr val="141B26"/>
                </a:solidFill>
                <a:latin typeface="Malgun Gothic"/>
                <a:ea typeface="Malgun Gothic"/>
                <a:cs typeface="Malgun Gothic"/>
              </a:rPr>
              <a:t> 확인할 방법이 없어요.</a:t>
            </a:r>
            <a:endParaRPr sz="1200"/>
          </a:p>
        </p:txBody>
      </p:sp>
      <p:sp>
        <p:nvSpPr>
          <p:cNvPr id="12" name="Text 9">
            <a:extLst>
              <a:ext uri="{FF2B5EF4-FFF2-40B4-BE49-F238E27FC236}">
                <a16:creationId xmlns:a16="http://schemas.microsoft.com/office/drawing/2014/main" id="{094BE443-6DE6-4B64-B3C7-29017BF7E17C}"/>
              </a:ext>
            </a:extLst>
          </p:cNvPr>
          <p:cNvSpPr>
            <a:spLocks noGrp="1"/>
          </p:cNvSpPr>
          <p:nvPr/>
        </p:nvSpPr>
        <p:spPr>
          <a:xfrm>
            <a:off x="411480" y="2788920"/>
            <a:ext cx="1463040" cy="274320"/>
          </a:xfrm>
          <a:prstGeom prst="rect">
            <a:avLst/>
          </a:prstGeom>
          <a:noFill/>
        </p:spPr>
        <p:txBody>
          <a:bodyPr wrap="square" lIns="0" tIns="0" rIns="0" bIns="0" anchor="t"/>
          <a:lstStyle>
            <a:defPPr>
              <a:defRPr>
                <a:solidFill>
                  <a:srgbClr val="000000"/>
                </a:solidFill>
              </a:defRPr>
            </a:defPPr>
          </a:lstStyle>
          <a:p>
            <a:pPr marL="0" indent="0" algn="ctr">
              <a:buNone/>
            </a:pPr>
            <a:r>
              <a:rPr sz="1400" b="1">
                <a:solidFill>
                  <a:srgbClr val="000000"/>
                </a:solidFill>
                <a:latin typeface="Malgun Gothic"/>
                <a:ea typeface="Malgun Gothic"/>
                <a:cs typeface="Malgun Gothic"/>
              </a:rPr>
              <a:t>이OO 님</a:t>
            </a:r>
            <a:endParaRPr sz="1400"/>
          </a:p>
        </p:txBody>
      </p:sp>
      <p:sp>
        <p:nvSpPr>
          <p:cNvPr id="13" name="Text 10">
            <a:extLst>
              <a:ext uri="{FF2B5EF4-FFF2-40B4-BE49-F238E27FC236}">
                <a16:creationId xmlns:a16="http://schemas.microsoft.com/office/drawing/2014/main" id="{08675D04-0F22-47B6-BCAE-FC6835E3DA7A}"/>
              </a:ext>
            </a:extLst>
          </p:cNvPr>
          <p:cNvSpPr>
            <a:spLocks noGrp="1"/>
          </p:cNvSpPr>
          <p:nvPr/>
        </p:nvSpPr>
        <p:spPr>
          <a:xfrm>
            <a:off x="411480" y="3063240"/>
            <a:ext cx="1463040" cy="228600"/>
          </a:xfrm>
          <a:prstGeom prst="rect">
            <a:avLst/>
          </a:prstGeom>
          <a:noFill/>
        </p:spPr>
        <p:txBody>
          <a:bodyPr wrap="square" lIns="0" tIns="0" rIns="0" bIns="0" anchor="t"/>
          <a:lstStyle>
            <a:defPPr>
              <a:defRPr>
                <a:solidFill>
                  <a:srgbClr val="000000"/>
                </a:solidFill>
              </a:defRPr>
            </a:defPPr>
          </a:lstStyle>
          <a:p>
            <a:pPr marL="0" indent="0" algn="ctr">
              <a:buNone/>
            </a:pPr>
            <a:r>
              <a:rPr sz="900" b="1">
                <a:solidFill>
                  <a:srgbClr val="000000"/>
                </a:solidFill>
                <a:latin typeface="Malgun Gothic"/>
                <a:ea typeface="Malgun Gothic"/>
                <a:cs typeface="Malgun Gothic"/>
              </a:rPr>
              <a:t>스타트업 1인 개발자</a:t>
            </a:r>
            <a:endParaRPr sz="900"/>
          </a:p>
        </p:txBody>
      </p:sp>
      <p:sp>
        <p:nvSpPr>
          <p:cNvPr id="14" name="Shape 11">
            <a:extLst>
              <a:ext uri="{FF2B5EF4-FFF2-40B4-BE49-F238E27FC236}">
                <a16:creationId xmlns:a16="http://schemas.microsoft.com/office/drawing/2014/main" id="{BA344F23-F431-42C4-8EB4-200B471AFB82}"/>
              </a:ext>
            </a:extLst>
          </p:cNvPr>
          <p:cNvSpPr>
            <a:spLocks noGrp="1"/>
          </p:cNvSpPr>
          <p:nvPr/>
        </p:nvSpPr>
        <p:spPr>
          <a:xfrm>
            <a:off x="640080" y="3337560"/>
            <a:ext cx="1005840" cy="1005840"/>
          </a:xfrm>
          <a:prstGeom prst="roundRect">
            <a:avLst>
              <a:gd name="adj" fmla="val 12727"/>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15" name="Shape 12">
            <a:extLst>
              <a:ext uri="{FF2B5EF4-FFF2-40B4-BE49-F238E27FC236}">
                <a16:creationId xmlns:a16="http://schemas.microsoft.com/office/drawing/2014/main" id="{DA638043-AD39-4171-93C5-0CD1061DA523}"/>
              </a:ext>
            </a:extLst>
          </p:cNvPr>
          <p:cNvSpPr>
            <a:spLocks noGrp="1"/>
          </p:cNvSpPr>
          <p:nvPr/>
        </p:nvSpPr>
        <p:spPr>
          <a:xfrm>
            <a:off x="713232" y="3410712"/>
            <a:ext cx="859536" cy="859536"/>
          </a:xfrm>
          <a:prstGeom prst="roundRect">
            <a:avLst>
              <a:gd name="adj" fmla="val 10638"/>
            </a:avLst>
          </a:prstGeom>
          <a:solidFill>
            <a:srgbClr val="E6F0FB"/>
          </a:solidFill>
        </p:spPr>
        <p:txBody>
          <a:bodyPr/>
          <a:lstStyle/>
          <a:p>
            <a:endParaRPr lang="ko-KR" altLang="en-US"/>
          </a:p>
        </p:txBody>
      </p:sp>
      <p:pic>
        <p:nvPicPr>
          <p:cNvPr id="16" name="Image 1">
            <a:extLst>
              <a:ext uri="{FF2B5EF4-FFF2-40B4-BE49-F238E27FC236}">
                <a16:creationId xmlns:a16="http://schemas.microsoft.com/office/drawing/2014/main" id="{70605900-4C06-48FE-A165-14BA2C7A8DD2}"/>
              </a:ext>
            </a:extLst>
          </p:cNvPr>
          <p:cNvPicPr>
            <a:picLocks noChangeAspect="1"/>
          </p:cNvPicPr>
          <p:nvPr/>
        </p:nvPicPr>
        <p:blipFill>
          <a:blip r:embed="rId4"/>
          <a:stretch>
            <a:fillRect/>
          </a:stretch>
        </p:blipFill>
        <p:spPr>
          <a:xfrm>
            <a:off x="850392" y="3520440"/>
            <a:ext cx="585216" cy="585216"/>
          </a:xfrm>
          <a:prstGeom prst="rect">
            <a:avLst/>
          </a:prstGeom>
        </p:spPr>
      </p:pic>
      <p:sp>
        <p:nvSpPr>
          <p:cNvPr id="17" name="Shape 13">
            <a:extLst>
              <a:ext uri="{FF2B5EF4-FFF2-40B4-BE49-F238E27FC236}">
                <a16:creationId xmlns:a16="http://schemas.microsoft.com/office/drawing/2014/main" id="{F785A419-CF9F-47DF-AFF8-5E36B539B928}"/>
              </a:ext>
            </a:extLst>
          </p:cNvPr>
          <p:cNvSpPr>
            <a:spLocks noGrp="1"/>
          </p:cNvSpPr>
          <p:nvPr/>
        </p:nvSpPr>
        <p:spPr>
          <a:xfrm>
            <a:off x="2148840" y="2926080"/>
            <a:ext cx="6583680" cy="713232"/>
          </a:xfrm>
          <a:prstGeom prst="roundRect">
            <a:avLst>
              <a:gd name="adj" fmla="val 50000"/>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18" name="Text 14">
            <a:extLst>
              <a:ext uri="{FF2B5EF4-FFF2-40B4-BE49-F238E27FC236}">
                <a16:creationId xmlns:a16="http://schemas.microsoft.com/office/drawing/2014/main" id="{A2B35C95-5552-4423-BFDD-2CEC56435586}"/>
              </a:ext>
            </a:extLst>
          </p:cNvPr>
          <p:cNvSpPr>
            <a:spLocks noGrp="1"/>
          </p:cNvSpPr>
          <p:nvPr/>
        </p:nvSpPr>
        <p:spPr>
          <a:xfrm>
            <a:off x="2377440" y="2926080"/>
            <a:ext cx="6126480" cy="713232"/>
          </a:xfrm>
          <a:prstGeom prst="rect">
            <a:avLst/>
          </a:prstGeom>
          <a:noFill/>
        </p:spPr>
        <p:txBody>
          <a:bodyPr wrap="square" lIns="0" tIns="0" rIns="0" bIns="0" anchor="ctr"/>
          <a:lstStyle/>
          <a:p>
            <a:pPr marL="0" indent="0" algn="ctr">
              <a:buNone/>
            </a:pPr>
            <a:r>
              <a:rPr sz="1200">
                <a:solidFill>
                  <a:srgbClr val="141B26"/>
                </a:solidFill>
                <a:latin typeface="Malgun Gothic"/>
                <a:ea typeface="Malgun Gothic"/>
                <a:cs typeface="Malgun Gothic"/>
              </a:rPr>
              <a:t>보안 점검 도구는 많은데 따로따로라 </a:t>
            </a:r>
            <a:r>
              <a:rPr sz="1200" b="1" u="sng">
                <a:solidFill>
                  <a:srgbClr val="2B7FD4"/>
                </a:solidFill>
                <a:latin typeface="Malgun Gothic"/>
                <a:ea typeface="Malgun Gothic"/>
                <a:cs typeface="Malgun Gothic"/>
              </a:rPr>
              <a:t>배포할 때마다 빠뜨리게</a:t>
            </a:r>
            <a:r>
              <a:rPr sz="1200">
                <a:solidFill>
                  <a:srgbClr val="141B26"/>
                </a:solidFill>
                <a:latin typeface="Malgun Gothic"/>
                <a:ea typeface="Malgun Gothic"/>
                <a:cs typeface="Malgun Gothic"/>
              </a:rPr>
              <a:t> 돼요.</a:t>
            </a:r>
            <a:endParaRPr sz="1200"/>
          </a:p>
        </p:txBody>
      </p:sp>
      <p:sp>
        <p:nvSpPr>
          <p:cNvPr id="19" name="Text 15">
            <a:extLst>
              <a:ext uri="{FF2B5EF4-FFF2-40B4-BE49-F238E27FC236}">
                <a16:creationId xmlns:a16="http://schemas.microsoft.com/office/drawing/2014/main" id="{B4835111-A5FB-47BF-BE74-096DE7A3976D}"/>
              </a:ext>
            </a:extLst>
          </p:cNvPr>
          <p:cNvSpPr>
            <a:spLocks noGrp="1"/>
          </p:cNvSpPr>
          <p:nvPr/>
        </p:nvSpPr>
        <p:spPr>
          <a:xfrm>
            <a:off x="411480" y="4389120"/>
            <a:ext cx="1463040" cy="274320"/>
          </a:xfrm>
          <a:prstGeom prst="rect">
            <a:avLst/>
          </a:prstGeom>
          <a:noFill/>
        </p:spPr>
        <p:txBody>
          <a:bodyPr wrap="square" lIns="0" tIns="0" rIns="0" bIns="0" anchor="t"/>
          <a:lstStyle/>
          <a:p>
            <a:pPr marL="0" indent="0" algn="ctr">
              <a:buNone/>
            </a:pPr>
            <a:r>
              <a:rPr sz="1300">
                <a:solidFill>
                  <a:srgbClr val="7C8BA1"/>
                </a:solidFill>
                <a:latin typeface="Malgun Gothic"/>
                <a:ea typeface="Malgun Gothic"/>
                <a:cs typeface="Malgun Gothic"/>
              </a:rPr>
              <a:t>페르소나</a:t>
            </a:r>
            <a:endParaRPr sz="1300"/>
          </a:p>
        </p:txBody>
      </p:sp>
      <p:sp>
        <p:nvSpPr>
          <p:cNvPr id="20" name="Text 16">
            <a:extLst>
              <a:ext uri="{FF2B5EF4-FFF2-40B4-BE49-F238E27FC236}">
                <a16:creationId xmlns:a16="http://schemas.microsoft.com/office/drawing/2014/main" id="{6248FC01-3F77-4C75-8C22-8025F831D898}"/>
              </a:ext>
            </a:extLst>
          </p:cNvPr>
          <p:cNvSpPr>
            <a:spLocks noGrp="1"/>
          </p:cNvSpPr>
          <p:nvPr/>
        </p:nvSpPr>
        <p:spPr>
          <a:xfrm>
            <a:off x="2057400" y="4754880"/>
            <a:ext cx="3474720" cy="201168"/>
          </a:xfrm>
          <a:prstGeom prst="rect">
            <a:avLst/>
          </a:prstGeom>
          <a:noFill/>
        </p:spPr>
        <p:txBody>
          <a:bodyPr wrap="square" lIns="0" tIns="0" rIns="0" bIns="0" anchor="t"/>
          <a:lstStyle/>
          <a:p>
            <a:pPr marL="0" indent="0">
              <a:buNone/>
            </a:pPr>
            <a:r>
              <a:rPr sz="750">
                <a:solidFill>
                  <a:srgbClr val="98A2B0"/>
                </a:solidFill>
                <a:latin typeface="Malgun Gothic"/>
                <a:ea typeface="Malgun Gothic"/>
                <a:cs typeface="Malgun Gothic"/>
              </a:rPr>
              <a:t>*페르소나는 문제 상황을 설명하기 위한 가상 인물입니다.</a:t>
            </a:r>
            <a:endParaRPr sz="750"/>
          </a:p>
        </p:txBody>
      </p:sp>
      <p:sp>
        <p:nvSpPr>
          <p:cNvPr id="25" name="Slide Number Placeholder 0">
            <a:extLst>
              <a:ext uri="{FF2B5EF4-FFF2-40B4-BE49-F238E27FC236}">
                <a16:creationId xmlns:a16="http://schemas.microsoft.com/office/drawing/2014/main" id="{C865C32E-C2A7-4815-B96E-36C30E4354ED}"/>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EE5B3003-2C54-13C6-9832-7637201064DE}" type="slidenum">
              <a:rPr sz="900" b="1">
                <a:solidFill>
                  <a:srgbClr val="2B7FD4"/>
                </a:solidFill>
                <a:latin typeface="Malgun Gothic"/>
                <a:ea typeface="Malgun Gothic"/>
                <a:cs typeface="Malgun Gothic"/>
              </a:rPr>
              <a:t>5</a:t>
            </a:fld>
            <a:endParaRPr/>
          </a:p>
        </p:txBody>
      </p:sp>
      <p:sp>
        <p:nvSpPr>
          <p:cNvPr id="26" name="edited-01 프로젝트 개요">
            <a:extLst>
              <a:ext uri="{FF2B5EF4-FFF2-40B4-BE49-F238E27FC236}">
                <a16:creationId xmlns:a16="http://schemas.microsoft.com/office/drawing/2014/main" id="{9A618986-A4E3-450D-82FD-ECE503580F58}"/>
              </a:ext>
            </a:extLst>
          </p:cNvPr>
          <p:cNvSpPr>
            <a:spLocks noGrp="1"/>
          </p:cNvSpPr>
          <p:nvPr/>
        </p:nvSpPr>
        <p:spPr>
          <a:xfrm>
            <a:off x="6355080" y="228600"/>
            <a:ext cx="2468880" cy="365760"/>
          </a:xfrm>
          <a:prstGeom prst="rect">
            <a:avLst/>
          </a:prstGeom>
          <a:noFill/>
          <a:ln w="0">
            <a:noFill/>
          </a:ln>
        </p:spPr>
        <p:txBody>
          <a:bodyPr wrap="square" lIns="0" tIns="0" rIns="0" bIns="0" anchor="ctr">
            <a:noAutofit/>
          </a:bodyPr>
          <a:lstStyle>
            <a:defPPr algn="r">
              <a:defRPr sz="1000" b="1">
                <a:solidFill>
                  <a:srgbClr val="000000"/>
                </a:solidFill>
                <a:latin typeface="Malgun Gothic"/>
                <a:ea typeface="Malgun Gothic"/>
                <a:cs typeface="Malgun Gothic"/>
              </a:defRPr>
            </a:defPPr>
          </a:lstStyle>
          <a:p>
            <a:pPr algn="r">
              <a:defRPr sz="1000" b="1">
                <a:solidFill>
                  <a:srgbClr val="000000"/>
                </a:solidFill>
                <a:latin typeface="Malgun Gothic"/>
                <a:ea typeface="Malgun Gothic"/>
                <a:cs typeface="Malgun Gothic"/>
              </a:defRPr>
            </a:pPr>
            <a:r>
              <a:rPr sz="1000" b="1">
                <a:solidFill>
                  <a:srgbClr val="000000"/>
                </a:solidFill>
                <a:latin typeface="Malgun Gothic"/>
                <a:ea typeface="Malgun Gothic"/>
                <a:cs typeface="Malgun Gothic"/>
              </a:rPr>
              <a:t>01 프로젝트 개요</a:t>
            </a:r>
          </a:p>
        </p:txBody>
      </p:sp>
      <p:sp>
        <p:nvSpPr>
          <p:cNvPr id="27" name="edited-필요한 지원  배포 설정 안내와 보안 검사 ">
            <a:extLst>
              <a:ext uri="{FF2B5EF4-FFF2-40B4-BE49-F238E27FC236}">
                <a16:creationId xmlns:a16="http://schemas.microsoft.com/office/drawing/2014/main" id="{793CD22B-6449-40EF-9E58-8470E0BA6083}"/>
              </a:ext>
            </a:extLst>
          </p:cNvPr>
          <p:cNvSpPr>
            <a:spLocks noGrp="1"/>
          </p:cNvSpPr>
          <p:nvPr/>
        </p:nvSpPr>
        <p:spPr>
          <a:xfrm>
            <a:off x="2381250" y="2609850"/>
            <a:ext cx="6000750" cy="238125"/>
          </a:xfrm>
          <a:prstGeom prst="rect">
            <a:avLst/>
          </a:prstGeom>
          <a:noFill/>
          <a:ln w="0">
            <a:noFill/>
          </a:ln>
        </p:spPr>
        <p:txBody>
          <a:bodyPr wrap="square" lIns="0" tIns="0" rIns="0" bIns="0" anchor="ctr">
            <a:noAutofit/>
          </a:bodyPr>
          <a:lstStyle>
            <a:defPPr algn="l">
              <a:defRPr sz="998" b="1">
                <a:solidFill>
                  <a:srgbClr val="5E6878"/>
                </a:solidFill>
                <a:latin typeface="Malgun Gothic"/>
                <a:ea typeface="Malgun Gothic"/>
                <a:cs typeface="Malgun Gothic"/>
              </a:defRPr>
            </a:defPPr>
          </a:lstStyle>
          <a:p>
            <a:pPr algn="l">
              <a:defRPr sz="998" b="1">
                <a:solidFill>
                  <a:srgbClr val="5E6878"/>
                </a:solidFill>
                <a:latin typeface="Malgun Gothic"/>
                <a:ea typeface="Malgun Gothic"/>
                <a:cs typeface="Malgun Gothic"/>
              </a:defRPr>
            </a:pPr>
            <a:r>
              <a:rPr sz="998" b="1">
                <a:solidFill>
                  <a:srgbClr val="5E6878"/>
                </a:solidFill>
                <a:latin typeface="Malgun Gothic"/>
                <a:ea typeface="Malgun Gothic"/>
                <a:cs typeface="Malgun Gothic"/>
              </a:rPr>
              <a:t>필요한 지원  배포 설정 안내와 보안 검사 결과 확인</a:t>
            </a:r>
          </a:p>
        </p:txBody>
      </p:sp>
      <p:sp>
        <p:nvSpPr>
          <p:cNvPr id="28" name="edited-필요한 지원  배포 흐름에 통합된 자동 점검">
            <a:extLst>
              <a:ext uri="{FF2B5EF4-FFF2-40B4-BE49-F238E27FC236}">
                <a16:creationId xmlns:a16="http://schemas.microsoft.com/office/drawing/2014/main" id="{238B6B99-9D9A-43CD-90B1-438CC7B2DADB}"/>
              </a:ext>
            </a:extLst>
          </p:cNvPr>
          <p:cNvSpPr>
            <a:spLocks noGrp="1"/>
          </p:cNvSpPr>
          <p:nvPr/>
        </p:nvSpPr>
        <p:spPr>
          <a:xfrm>
            <a:off x="2381250" y="3781425"/>
            <a:ext cx="6000750" cy="342900"/>
          </a:xfrm>
          <a:prstGeom prst="rect">
            <a:avLst/>
          </a:prstGeom>
          <a:noFill/>
          <a:ln w="0">
            <a:noFill/>
          </a:ln>
        </p:spPr>
        <p:txBody>
          <a:bodyPr wrap="square" lIns="0" tIns="0" rIns="0" bIns="0" anchor="ctr">
            <a:noAutofit/>
          </a:bodyPr>
          <a:lstStyle>
            <a:defPPr algn="l">
              <a:defRPr sz="998" b="1">
                <a:solidFill>
                  <a:srgbClr val="5E6878"/>
                </a:solidFill>
                <a:latin typeface="Malgun Gothic"/>
                <a:ea typeface="Malgun Gothic"/>
                <a:cs typeface="Malgun Gothic"/>
              </a:defRPr>
            </a:defPPr>
          </a:lstStyle>
          <a:p>
            <a:pPr algn="l">
              <a:defRPr sz="998" b="1">
                <a:solidFill>
                  <a:srgbClr val="5E6878"/>
                </a:solidFill>
                <a:latin typeface="Malgun Gothic"/>
                <a:ea typeface="Malgun Gothic"/>
                <a:cs typeface="Malgun Gothic"/>
              </a:defRPr>
            </a:pPr>
            <a:r>
              <a:rPr sz="998" b="1">
                <a:solidFill>
                  <a:srgbClr val="5E6878"/>
                </a:solidFill>
                <a:latin typeface="Malgun Gothic"/>
                <a:ea typeface="Malgun Gothic"/>
                <a:cs typeface="Malgun Gothic"/>
              </a:rPr>
              <a:t>필요한 지원  배포 흐름에 통합된 자동 점검과 승인</a:t>
            </a:r>
          </a:p>
        </p:txBody>
      </p:sp>
    </p:spTree>
    <p:extLst>
      <p:ext uri="{BB962C8B-B14F-4D97-AF65-F5344CB8AC3E}">
        <p14:creationId xmlns:p14="http://schemas.microsoft.com/office/powerpoint/2010/main" val="461508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A2008F5-7E53-4270-9852-7568342E3B71}"/>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defRPr>
                <a:solidFill>
                  <a:srgbClr val="000000"/>
                </a:solidFill>
              </a:defRPr>
            </a:defPPr>
          </a:lstStyle>
          <a:p>
            <a:r>
              <a:rPr sz="1800" b="1">
                <a:solidFill>
                  <a:srgbClr val="000000"/>
                </a:solidFill>
                <a:latin typeface="Malgun Gothic"/>
                <a:ea typeface="Malgun Gothic"/>
                <a:cs typeface="Malgun Gothic"/>
              </a:rPr>
              <a:t>|  문제 정의 : 만든 다음이 막힌다</a:t>
            </a:r>
            <a:endParaRPr sz="1800">
              <a:solidFill>
                <a:schemeClr val="tx1"/>
              </a:solidFill>
            </a:endParaRPr>
          </a:p>
        </p:txBody>
      </p:sp>
      <p:sp>
        <p:nvSpPr>
          <p:cNvPr id="3" name="Text 0">
            <a:extLst>
              <a:ext uri="{FF2B5EF4-FFF2-40B4-BE49-F238E27FC236}">
                <a16:creationId xmlns:a16="http://schemas.microsoft.com/office/drawing/2014/main" id="{5D5BE6B5-A153-44E4-AD63-63DB3F4DBFDD}"/>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01 프로젝트 개요</a:t>
            </a:r>
            <a:endParaRPr sz="1000"/>
          </a:p>
        </p:txBody>
      </p:sp>
      <p:sp>
        <p:nvSpPr>
          <p:cNvPr id="4" name="Text 2">
            <a:extLst>
              <a:ext uri="{FF2B5EF4-FFF2-40B4-BE49-F238E27FC236}">
                <a16:creationId xmlns:a16="http://schemas.microsoft.com/office/drawing/2014/main" id="{7B024C21-832D-48BD-AB4A-FD3E126E3529}"/>
              </a:ext>
            </a:extLst>
          </p:cNvPr>
          <p:cNvSpPr>
            <a:spLocks noGrp="1"/>
          </p:cNvSpPr>
          <p:nvPr/>
        </p:nvSpPr>
        <p:spPr>
          <a:xfrm>
            <a:off x="411480" y="658368"/>
            <a:ext cx="8229600" cy="274320"/>
          </a:xfrm>
          <a:prstGeom prst="rect">
            <a:avLst/>
          </a:prstGeom>
          <a:noFill/>
        </p:spPr>
        <p:txBody>
          <a:bodyPr wrap="square" lIns="0" tIns="0" rIns="0" bIns="0" anchor="t"/>
          <a:lstStyle>
            <a:defPPr>
              <a:defRPr>
                <a:solidFill>
                  <a:srgbClr val="000000"/>
                </a:solidFill>
              </a:defRPr>
            </a:defPPr>
          </a:lstStyle>
          <a:p>
            <a:pPr marL="0" indent="0">
              <a:buNone/>
            </a:pPr>
            <a:r>
              <a:rPr sz="1200" b="1" dirty="0" err="1">
                <a:solidFill>
                  <a:schemeClr val="bg1">
                    <a:lumMod val="50000"/>
                  </a:schemeClr>
                </a:solidFill>
                <a:latin typeface="Malgun Gothic"/>
                <a:ea typeface="Malgun Gothic"/>
                <a:cs typeface="Malgun Gothic"/>
              </a:rPr>
              <a:t>코드</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작성의</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장벽은</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낮아졌지만</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실제</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서비스로</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완성하는</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단계에서</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막힌다</a:t>
            </a:r>
            <a:endParaRPr sz="1200" b="1" dirty="0">
              <a:solidFill>
                <a:schemeClr val="bg1">
                  <a:lumMod val="50000"/>
                </a:schemeClr>
              </a:solidFill>
            </a:endParaRPr>
          </a:p>
        </p:txBody>
      </p:sp>
      <p:sp>
        <p:nvSpPr>
          <p:cNvPr id="5" name="Shape 3">
            <a:extLst>
              <a:ext uri="{FF2B5EF4-FFF2-40B4-BE49-F238E27FC236}">
                <a16:creationId xmlns:a16="http://schemas.microsoft.com/office/drawing/2014/main" id="{295AB1D4-4AA6-4327-8FD8-925F8D97A87C}"/>
              </a:ext>
            </a:extLst>
          </p:cNvPr>
          <p:cNvSpPr>
            <a:spLocks noGrp="1"/>
          </p:cNvSpPr>
          <p:nvPr/>
        </p:nvSpPr>
        <p:spPr>
          <a:xfrm>
            <a:off x="1810169" y="1024128"/>
            <a:ext cx="5523662" cy="2971800"/>
          </a:xfrm>
          <a:prstGeom prst="roundRect">
            <a:avLst>
              <a:gd name="adj" fmla="val 3077"/>
            </a:avLst>
          </a:prstGeom>
          <a:solidFill>
            <a:srgbClr val="FFFFFF"/>
          </a:solidFill>
          <a:effectLst>
            <a:outerShdw blurRad="127000" dist="25400" dir="5400000" algn="bl" rotWithShape="0">
              <a:srgbClr val="000000">
                <a:alpha val="10000"/>
              </a:srgbClr>
            </a:outerShdw>
          </a:effectLst>
        </p:spPr>
        <p:txBody>
          <a:bodyPr/>
          <a:lstStyle/>
          <a:p>
            <a:endParaRPr/>
          </a:p>
        </p:txBody>
      </p:sp>
      <p:pic>
        <p:nvPicPr>
          <p:cNvPr id="6" name="Image 0">
            <a:extLst>
              <a:ext uri="{FF2B5EF4-FFF2-40B4-BE49-F238E27FC236}">
                <a16:creationId xmlns:a16="http://schemas.microsoft.com/office/drawing/2014/main" id="{4E46FD89-7785-4515-A14D-0144F1D89233}"/>
              </a:ext>
            </a:extLst>
          </p:cNvPr>
          <p:cNvPicPr>
            <a:picLocks noChangeAspect="1"/>
          </p:cNvPicPr>
          <p:nvPr/>
        </p:nvPicPr>
        <p:blipFill>
          <a:blip r:embed="rId3"/>
          <a:stretch>
            <a:fillRect/>
          </a:stretch>
        </p:blipFill>
        <p:spPr>
          <a:xfrm>
            <a:off x="1901609" y="1115568"/>
            <a:ext cx="5340782" cy="2788920"/>
          </a:xfrm>
          <a:prstGeom prst="rect">
            <a:avLst/>
          </a:prstGeom>
        </p:spPr>
      </p:pic>
      <p:sp>
        <p:nvSpPr>
          <p:cNvPr id="7" name="Shape 4">
            <a:extLst>
              <a:ext uri="{FF2B5EF4-FFF2-40B4-BE49-F238E27FC236}">
                <a16:creationId xmlns:a16="http://schemas.microsoft.com/office/drawing/2014/main" id="{B5CC2033-03ED-4B72-B5E9-E93244688F71}"/>
              </a:ext>
            </a:extLst>
          </p:cNvPr>
          <p:cNvSpPr>
            <a:spLocks noGrp="1"/>
          </p:cNvSpPr>
          <p:nvPr/>
        </p:nvSpPr>
        <p:spPr>
          <a:xfrm>
            <a:off x="6217463" y="3367621"/>
            <a:ext cx="857593" cy="0"/>
          </a:xfrm>
          <a:prstGeom prst="line">
            <a:avLst/>
          </a:prstGeom>
          <a:noFill/>
          <a:ln w="25400">
            <a:solidFill>
              <a:srgbClr val="E02B2B"/>
            </a:solidFill>
            <a:prstDash val="solid"/>
          </a:ln>
        </p:spPr>
        <p:txBody>
          <a:bodyPr/>
          <a:lstStyle/>
          <a:p>
            <a:endParaRPr/>
          </a:p>
        </p:txBody>
      </p:sp>
      <p:sp>
        <p:nvSpPr>
          <p:cNvPr id="8" name="Shape 5">
            <a:extLst>
              <a:ext uri="{FF2B5EF4-FFF2-40B4-BE49-F238E27FC236}">
                <a16:creationId xmlns:a16="http://schemas.microsoft.com/office/drawing/2014/main" id="{70F65C92-026D-41CF-9721-BFDB2E709098}"/>
              </a:ext>
            </a:extLst>
          </p:cNvPr>
          <p:cNvSpPr>
            <a:spLocks noGrp="1"/>
          </p:cNvSpPr>
          <p:nvPr/>
        </p:nvSpPr>
        <p:spPr>
          <a:xfrm>
            <a:off x="2006194" y="3514039"/>
            <a:ext cx="4162463" cy="0"/>
          </a:xfrm>
          <a:prstGeom prst="line">
            <a:avLst/>
          </a:prstGeom>
          <a:noFill/>
          <a:ln w="25400">
            <a:solidFill>
              <a:srgbClr val="E02B2B"/>
            </a:solidFill>
            <a:prstDash val="solid"/>
          </a:ln>
        </p:spPr>
        <p:txBody>
          <a:bodyPr/>
          <a:lstStyle/>
          <a:p>
            <a:endParaRPr/>
          </a:p>
        </p:txBody>
      </p:sp>
      <p:sp>
        <p:nvSpPr>
          <p:cNvPr id="9" name="Text 6">
            <a:extLst>
              <a:ext uri="{FF2B5EF4-FFF2-40B4-BE49-F238E27FC236}">
                <a16:creationId xmlns:a16="http://schemas.microsoft.com/office/drawing/2014/main" id="{BF6F56F1-5288-4263-A917-8274880CD896}"/>
              </a:ext>
            </a:extLst>
          </p:cNvPr>
          <p:cNvSpPr>
            <a:spLocks noGrp="1"/>
          </p:cNvSpPr>
          <p:nvPr/>
        </p:nvSpPr>
        <p:spPr>
          <a:xfrm>
            <a:off x="1810169" y="4041648"/>
            <a:ext cx="3657600" cy="201168"/>
          </a:xfrm>
          <a:prstGeom prst="rect">
            <a:avLst/>
          </a:prstGeom>
          <a:noFill/>
        </p:spPr>
        <p:txBody>
          <a:bodyPr wrap="square" lIns="0" tIns="0" rIns="0" bIns="0" anchor="t"/>
          <a:lstStyle/>
          <a:p>
            <a:pPr marL="0" indent="0">
              <a:buNone/>
            </a:pPr>
            <a:r>
              <a:rPr sz="800">
                <a:solidFill>
                  <a:srgbClr val="98A2B0"/>
                </a:solidFill>
                <a:latin typeface="Malgun Gothic"/>
                <a:ea typeface="Malgun Gothic"/>
                <a:cs typeface="Malgun Gothic"/>
              </a:rPr>
              <a:t>아이뉴스24 · 2026.09.30 (크몽 발표)</a:t>
            </a:r>
            <a:endParaRPr sz="800"/>
          </a:p>
        </p:txBody>
      </p:sp>
      <p:sp>
        <p:nvSpPr>
          <p:cNvPr id="25" name="Slide Number Placeholder 0">
            <a:extLst>
              <a:ext uri="{FF2B5EF4-FFF2-40B4-BE49-F238E27FC236}">
                <a16:creationId xmlns:a16="http://schemas.microsoft.com/office/drawing/2014/main" id="{696FDEBE-5520-43E3-94DF-2BB127FADACF}"/>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8C630A04-5A25-9E0C-9436-126091DB86B3}" type="slidenum">
              <a:rPr sz="900" b="1">
                <a:solidFill>
                  <a:srgbClr val="2B7FD4"/>
                </a:solidFill>
                <a:latin typeface="Malgun Gothic"/>
                <a:ea typeface="Malgun Gothic"/>
                <a:cs typeface="Malgun Gothic"/>
              </a:rPr>
              <a:t>6</a:t>
            </a:fld>
            <a:endParaRPr/>
          </a:p>
        </p:txBody>
      </p:sp>
    </p:spTree>
    <p:extLst>
      <p:ext uri="{BB962C8B-B14F-4D97-AF65-F5344CB8AC3E}">
        <p14:creationId xmlns:p14="http://schemas.microsoft.com/office/powerpoint/2010/main" val="64313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6600E3C-7D1A-4FE3-A071-258E606B4DED}"/>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defRPr>
                <a:solidFill>
                  <a:srgbClr val="000000"/>
                </a:solidFill>
              </a:defRPr>
            </a:defPPr>
          </a:lstStyle>
          <a:p>
            <a:r>
              <a:rPr sz="1800" b="1">
                <a:solidFill>
                  <a:srgbClr val="000000"/>
                </a:solidFill>
                <a:latin typeface="Malgun Gothic"/>
                <a:ea typeface="Malgun Gothic"/>
                <a:cs typeface="Malgun Gothic"/>
              </a:rPr>
              <a:t>|  문제 정의 : AI 코드의 보안 위험</a:t>
            </a:r>
            <a:endParaRPr sz="1800">
              <a:solidFill>
                <a:schemeClr val="tx1"/>
              </a:solidFill>
            </a:endParaRPr>
          </a:p>
        </p:txBody>
      </p:sp>
      <p:sp>
        <p:nvSpPr>
          <p:cNvPr id="3" name="Text 0">
            <a:extLst>
              <a:ext uri="{FF2B5EF4-FFF2-40B4-BE49-F238E27FC236}">
                <a16:creationId xmlns:a16="http://schemas.microsoft.com/office/drawing/2014/main" id="{521035B0-23AC-4777-9A52-6465834CDB5F}"/>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01 프로젝트 개요</a:t>
            </a:r>
            <a:endParaRPr sz="1000"/>
          </a:p>
        </p:txBody>
      </p:sp>
      <p:sp>
        <p:nvSpPr>
          <p:cNvPr id="4" name="Text 2">
            <a:extLst>
              <a:ext uri="{FF2B5EF4-FFF2-40B4-BE49-F238E27FC236}">
                <a16:creationId xmlns:a16="http://schemas.microsoft.com/office/drawing/2014/main" id="{0816BA87-A403-439A-87B1-6DA506583625}"/>
              </a:ext>
            </a:extLst>
          </p:cNvPr>
          <p:cNvSpPr>
            <a:spLocks noGrp="1"/>
          </p:cNvSpPr>
          <p:nvPr/>
        </p:nvSpPr>
        <p:spPr>
          <a:xfrm>
            <a:off x="411480" y="658368"/>
            <a:ext cx="8229600" cy="274320"/>
          </a:xfrm>
          <a:prstGeom prst="rect">
            <a:avLst/>
          </a:prstGeom>
          <a:noFill/>
        </p:spPr>
        <p:txBody>
          <a:bodyPr wrap="square" lIns="0" tIns="0" rIns="0" bIns="0" anchor="t"/>
          <a:lstStyle>
            <a:defPPr>
              <a:defRPr>
                <a:solidFill>
                  <a:srgbClr val="000000"/>
                </a:solidFill>
              </a:defRPr>
            </a:defPPr>
          </a:lstStyle>
          <a:p>
            <a:pPr marL="0" indent="0">
              <a:buNone/>
            </a:pPr>
            <a:r>
              <a:rPr sz="1200" b="1" dirty="0" err="1">
                <a:solidFill>
                  <a:schemeClr val="bg1">
                    <a:lumMod val="50000"/>
                  </a:schemeClr>
                </a:solidFill>
                <a:latin typeface="Malgun Gothic"/>
                <a:ea typeface="Malgun Gothic"/>
                <a:cs typeface="Malgun Gothic"/>
              </a:rPr>
              <a:t>빠르게</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만든</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코드일수록</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생성</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이후의</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검증</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없이는</a:t>
            </a:r>
            <a:r>
              <a:rPr sz="1200" b="1" dirty="0">
                <a:solidFill>
                  <a:schemeClr val="bg1">
                    <a:lumMod val="50000"/>
                  </a:schemeClr>
                </a:solidFill>
                <a:latin typeface="Malgun Gothic"/>
                <a:ea typeface="Malgun Gothic"/>
                <a:cs typeface="Malgun Gothic"/>
              </a:rPr>
              <a:t> </a:t>
            </a:r>
            <a:r>
              <a:rPr sz="1200" b="1" dirty="0" err="1">
                <a:solidFill>
                  <a:schemeClr val="bg1">
                    <a:lumMod val="50000"/>
                  </a:schemeClr>
                </a:solidFill>
                <a:latin typeface="Malgun Gothic"/>
                <a:ea typeface="Malgun Gothic"/>
                <a:cs typeface="Malgun Gothic"/>
              </a:rPr>
              <a:t>위험하다</a:t>
            </a:r>
            <a:endParaRPr sz="1200" b="1" dirty="0">
              <a:solidFill>
                <a:schemeClr val="bg1">
                  <a:lumMod val="50000"/>
                </a:schemeClr>
              </a:solidFill>
            </a:endParaRPr>
          </a:p>
        </p:txBody>
      </p:sp>
      <p:sp>
        <p:nvSpPr>
          <p:cNvPr id="5" name="Shape 3">
            <a:extLst>
              <a:ext uri="{FF2B5EF4-FFF2-40B4-BE49-F238E27FC236}">
                <a16:creationId xmlns:a16="http://schemas.microsoft.com/office/drawing/2014/main" id="{3EBB6A95-09B6-4DE8-A770-BABCD32016FF}"/>
              </a:ext>
            </a:extLst>
          </p:cNvPr>
          <p:cNvSpPr>
            <a:spLocks noGrp="1"/>
          </p:cNvSpPr>
          <p:nvPr/>
        </p:nvSpPr>
        <p:spPr>
          <a:xfrm>
            <a:off x="411480" y="1024128"/>
            <a:ext cx="4069080" cy="3420729"/>
          </a:xfrm>
          <a:prstGeom prst="roundRect">
            <a:avLst>
              <a:gd name="adj" fmla="val 3208"/>
            </a:avLst>
          </a:prstGeom>
          <a:solidFill>
            <a:srgbClr val="FFFFFF"/>
          </a:solidFill>
          <a:effectLst>
            <a:outerShdw blurRad="127000" dist="25400" dir="5400000" algn="bl" rotWithShape="0">
              <a:srgbClr val="000000">
                <a:alpha val="10000"/>
              </a:srgbClr>
            </a:outerShdw>
          </a:effectLst>
        </p:spPr>
        <p:txBody>
          <a:bodyPr/>
          <a:lstStyle/>
          <a:p>
            <a:endParaRPr/>
          </a:p>
        </p:txBody>
      </p:sp>
      <p:pic>
        <p:nvPicPr>
          <p:cNvPr id="6" name="Image 0">
            <a:extLst>
              <a:ext uri="{FF2B5EF4-FFF2-40B4-BE49-F238E27FC236}">
                <a16:creationId xmlns:a16="http://schemas.microsoft.com/office/drawing/2014/main" id="{A42470D7-A366-42DC-8558-CD56D7F4E735}"/>
              </a:ext>
            </a:extLst>
          </p:cNvPr>
          <p:cNvPicPr>
            <a:picLocks noChangeAspect="1"/>
          </p:cNvPicPr>
          <p:nvPr/>
        </p:nvPicPr>
        <p:blipFill>
          <a:blip r:embed="rId3"/>
          <a:srcRect/>
          <a:stretch/>
        </p:blipFill>
        <p:spPr>
          <a:xfrm>
            <a:off x="502920" y="1115568"/>
            <a:ext cx="3886200" cy="2460609"/>
          </a:xfrm>
          <a:prstGeom prst="rect">
            <a:avLst/>
          </a:prstGeom>
        </p:spPr>
      </p:pic>
      <p:sp>
        <p:nvSpPr>
          <p:cNvPr id="7" name="Shape 4">
            <a:extLst>
              <a:ext uri="{FF2B5EF4-FFF2-40B4-BE49-F238E27FC236}">
                <a16:creationId xmlns:a16="http://schemas.microsoft.com/office/drawing/2014/main" id="{680E2B65-B462-4339-AAFF-84475195BC44}"/>
              </a:ext>
            </a:extLst>
          </p:cNvPr>
          <p:cNvSpPr>
            <a:spLocks noGrp="1"/>
          </p:cNvSpPr>
          <p:nvPr/>
        </p:nvSpPr>
        <p:spPr>
          <a:xfrm>
            <a:off x="502920" y="1115568"/>
            <a:ext cx="3886200" cy="2460609"/>
          </a:xfrm>
          <a:prstGeom prst="rect">
            <a:avLst/>
          </a:prstGeom>
          <a:ln w="9525">
            <a:solidFill>
              <a:srgbClr val="DCE3EC"/>
            </a:solidFill>
            <a:prstDash val="solid"/>
          </a:ln>
        </p:spPr>
        <p:txBody>
          <a:bodyPr/>
          <a:lstStyle/>
          <a:p>
            <a:endParaRPr/>
          </a:p>
        </p:txBody>
      </p:sp>
      <p:sp>
        <p:nvSpPr>
          <p:cNvPr id="8" name="Text 5">
            <a:extLst>
              <a:ext uri="{FF2B5EF4-FFF2-40B4-BE49-F238E27FC236}">
                <a16:creationId xmlns:a16="http://schemas.microsoft.com/office/drawing/2014/main" id="{A4A53BAC-246F-4BC0-959A-B3E1842ECFDA}"/>
              </a:ext>
            </a:extLst>
          </p:cNvPr>
          <p:cNvSpPr>
            <a:spLocks noGrp="1"/>
          </p:cNvSpPr>
          <p:nvPr/>
        </p:nvSpPr>
        <p:spPr>
          <a:xfrm>
            <a:off x="548640" y="3631041"/>
            <a:ext cx="3657600" cy="201168"/>
          </a:xfrm>
          <a:prstGeom prst="rect">
            <a:avLst/>
          </a:prstGeom>
          <a:noFill/>
        </p:spPr>
        <p:txBody>
          <a:bodyPr wrap="square" lIns="0" tIns="0" rIns="0" bIns="0" anchor="t"/>
          <a:lstStyle/>
          <a:p>
            <a:pPr marL="0" indent="0">
              <a:buNone/>
            </a:pPr>
            <a:r>
              <a:rPr sz="800">
                <a:solidFill>
                  <a:srgbClr val="98A2B0"/>
                </a:solidFill>
                <a:latin typeface="Malgun Gothic"/>
                <a:ea typeface="Malgun Gothic"/>
                <a:cs typeface="Malgun Gothic"/>
              </a:rPr>
              <a:t>뉴스1 · 2026.02.01</a:t>
            </a:r>
            <a:endParaRPr sz="800"/>
          </a:p>
        </p:txBody>
      </p:sp>
      <p:sp>
        <p:nvSpPr>
          <p:cNvPr id="9" name="Text 6">
            <a:extLst>
              <a:ext uri="{FF2B5EF4-FFF2-40B4-BE49-F238E27FC236}">
                <a16:creationId xmlns:a16="http://schemas.microsoft.com/office/drawing/2014/main" id="{6F220EAC-D2E0-4DB2-91B8-EB82274E4AEC}"/>
              </a:ext>
            </a:extLst>
          </p:cNvPr>
          <p:cNvSpPr>
            <a:spLocks noGrp="1"/>
          </p:cNvSpPr>
          <p:nvPr/>
        </p:nvSpPr>
        <p:spPr>
          <a:xfrm>
            <a:off x="548640" y="3941937"/>
            <a:ext cx="3749040" cy="365760"/>
          </a:xfrm>
          <a:prstGeom prst="rect">
            <a:avLst/>
          </a:prstGeom>
          <a:noFill/>
        </p:spPr>
        <p:txBody>
          <a:bodyPr wrap="square" lIns="0" tIns="0" rIns="0" bIns="0" anchor="t"/>
          <a:lstStyle>
            <a:defPPr>
              <a:defRPr>
                <a:solidFill>
                  <a:srgbClr val="000000"/>
                </a:solidFill>
              </a:defRPr>
            </a:defPPr>
          </a:lstStyle>
          <a:p>
            <a:pPr marL="0" indent="0">
              <a:buNone/>
            </a:pPr>
            <a:r>
              <a:rPr sz="1400" b="1">
                <a:solidFill>
                  <a:srgbClr val="000000"/>
                </a:solidFill>
                <a:latin typeface="Malgun Gothic"/>
                <a:ea typeface="Malgun Gothic"/>
                <a:cs typeface="Malgun Gothic"/>
              </a:rPr>
              <a:t>오류 검수와 시큐어 코딩이 필요하다</a:t>
            </a:r>
            <a:endParaRPr sz="1400"/>
          </a:p>
        </p:txBody>
      </p:sp>
      <p:sp>
        <p:nvSpPr>
          <p:cNvPr id="10" name="Shape 7">
            <a:extLst>
              <a:ext uri="{FF2B5EF4-FFF2-40B4-BE49-F238E27FC236}">
                <a16:creationId xmlns:a16="http://schemas.microsoft.com/office/drawing/2014/main" id="{623E5D4A-A0CE-413C-9A2D-F0C03CCB0757}"/>
              </a:ext>
            </a:extLst>
          </p:cNvPr>
          <p:cNvSpPr>
            <a:spLocks noGrp="1"/>
          </p:cNvSpPr>
          <p:nvPr/>
        </p:nvSpPr>
        <p:spPr>
          <a:xfrm>
            <a:off x="4663440" y="1024128"/>
            <a:ext cx="4069080" cy="3420729"/>
          </a:xfrm>
          <a:prstGeom prst="roundRect">
            <a:avLst>
              <a:gd name="adj" fmla="val 3208"/>
            </a:avLst>
          </a:prstGeom>
          <a:solidFill>
            <a:srgbClr val="FFFFFF"/>
          </a:solidFill>
          <a:effectLst>
            <a:outerShdw blurRad="127000" dist="25400" dir="5400000" algn="bl" rotWithShape="0">
              <a:srgbClr val="000000">
                <a:alpha val="10000"/>
              </a:srgbClr>
            </a:outerShdw>
          </a:effectLst>
        </p:spPr>
        <p:txBody>
          <a:bodyPr/>
          <a:lstStyle/>
          <a:p>
            <a:endParaRPr/>
          </a:p>
        </p:txBody>
      </p:sp>
      <p:pic>
        <p:nvPicPr>
          <p:cNvPr id="11" name="Image 1">
            <a:extLst>
              <a:ext uri="{FF2B5EF4-FFF2-40B4-BE49-F238E27FC236}">
                <a16:creationId xmlns:a16="http://schemas.microsoft.com/office/drawing/2014/main" id="{2D485CAF-934A-4F47-84B1-0E05EA0A110F}"/>
              </a:ext>
            </a:extLst>
          </p:cNvPr>
          <p:cNvPicPr>
            <a:picLocks noChangeAspect="1"/>
          </p:cNvPicPr>
          <p:nvPr/>
        </p:nvPicPr>
        <p:blipFill>
          <a:blip r:embed="rId4"/>
          <a:srcRect/>
          <a:stretch/>
        </p:blipFill>
        <p:spPr>
          <a:xfrm>
            <a:off x="4754880" y="1115568"/>
            <a:ext cx="3886200" cy="2460609"/>
          </a:xfrm>
          <a:prstGeom prst="rect">
            <a:avLst/>
          </a:prstGeom>
        </p:spPr>
      </p:pic>
      <p:sp>
        <p:nvSpPr>
          <p:cNvPr id="12" name="Shape 8">
            <a:extLst>
              <a:ext uri="{FF2B5EF4-FFF2-40B4-BE49-F238E27FC236}">
                <a16:creationId xmlns:a16="http://schemas.microsoft.com/office/drawing/2014/main" id="{5E93A723-0F21-4256-8702-CDFF499BDEC9}"/>
              </a:ext>
            </a:extLst>
          </p:cNvPr>
          <p:cNvSpPr>
            <a:spLocks noGrp="1"/>
          </p:cNvSpPr>
          <p:nvPr/>
        </p:nvSpPr>
        <p:spPr>
          <a:xfrm>
            <a:off x="4754880" y="1115568"/>
            <a:ext cx="3886200" cy="2460609"/>
          </a:xfrm>
          <a:prstGeom prst="rect">
            <a:avLst/>
          </a:prstGeom>
          <a:ln w="9525">
            <a:solidFill>
              <a:srgbClr val="DCE3EC"/>
            </a:solidFill>
            <a:prstDash val="solid"/>
          </a:ln>
        </p:spPr>
        <p:txBody>
          <a:bodyPr/>
          <a:lstStyle/>
          <a:p>
            <a:endParaRPr/>
          </a:p>
        </p:txBody>
      </p:sp>
      <p:sp>
        <p:nvSpPr>
          <p:cNvPr id="13" name="Text 9">
            <a:extLst>
              <a:ext uri="{FF2B5EF4-FFF2-40B4-BE49-F238E27FC236}">
                <a16:creationId xmlns:a16="http://schemas.microsoft.com/office/drawing/2014/main" id="{E78288EC-7127-4653-BA6C-A68CD02B34C5}"/>
              </a:ext>
            </a:extLst>
          </p:cNvPr>
          <p:cNvSpPr>
            <a:spLocks noGrp="1"/>
          </p:cNvSpPr>
          <p:nvPr/>
        </p:nvSpPr>
        <p:spPr>
          <a:xfrm>
            <a:off x="4800600" y="3631041"/>
            <a:ext cx="3657600" cy="201168"/>
          </a:xfrm>
          <a:prstGeom prst="rect">
            <a:avLst/>
          </a:prstGeom>
          <a:noFill/>
        </p:spPr>
        <p:txBody>
          <a:bodyPr wrap="square" lIns="0" tIns="0" rIns="0" bIns="0" anchor="t"/>
          <a:lstStyle/>
          <a:p>
            <a:pPr marL="0" indent="0">
              <a:buNone/>
            </a:pPr>
            <a:r>
              <a:rPr sz="800">
                <a:solidFill>
                  <a:srgbClr val="98A2B0"/>
                </a:solidFill>
                <a:latin typeface="Malgun Gothic"/>
                <a:ea typeface="Malgun Gothic"/>
                <a:cs typeface="Malgun Gothic"/>
              </a:rPr>
              <a:t>CIO Korea · 2026.01.15 (Tenzai 평가)</a:t>
            </a:r>
            <a:endParaRPr sz="800"/>
          </a:p>
        </p:txBody>
      </p:sp>
      <p:sp>
        <p:nvSpPr>
          <p:cNvPr id="14" name="Text 10">
            <a:extLst>
              <a:ext uri="{FF2B5EF4-FFF2-40B4-BE49-F238E27FC236}">
                <a16:creationId xmlns:a16="http://schemas.microsoft.com/office/drawing/2014/main" id="{4BF0434F-694D-4D84-9082-3D3179634612}"/>
              </a:ext>
            </a:extLst>
          </p:cNvPr>
          <p:cNvSpPr>
            <a:spLocks noGrp="1"/>
          </p:cNvSpPr>
          <p:nvPr/>
        </p:nvSpPr>
        <p:spPr>
          <a:xfrm>
            <a:off x="4800600" y="3941937"/>
            <a:ext cx="3749040" cy="365760"/>
          </a:xfrm>
          <a:prstGeom prst="rect">
            <a:avLst/>
          </a:prstGeom>
          <a:noFill/>
        </p:spPr>
        <p:txBody>
          <a:bodyPr wrap="square" lIns="0" tIns="0" rIns="0" bIns="0" anchor="t"/>
          <a:lstStyle>
            <a:defPPr>
              <a:defRPr>
                <a:solidFill>
                  <a:srgbClr val="000000"/>
                </a:solidFill>
              </a:defRPr>
            </a:defPPr>
          </a:lstStyle>
          <a:p>
            <a:pPr marL="0" indent="0">
              <a:buNone/>
            </a:pPr>
            <a:r>
              <a:rPr sz="1400" b="1">
                <a:solidFill>
                  <a:srgbClr val="000000"/>
                </a:solidFill>
                <a:latin typeface="Malgun Gothic"/>
                <a:ea typeface="Malgun Gothic"/>
                <a:cs typeface="Malgun Gothic"/>
              </a:rPr>
              <a:t>바이브 코딩 앱에서 치명적 취약점 확인</a:t>
            </a:r>
            <a:endParaRPr sz="1400"/>
          </a:p>
        </p:txBody>
      </p:sp>
      <p:sp>
        <p:nvSpPr>
          <p:cNvPr id="15" name="Shape 11">
            <a:extLst>
              <a:ext uri="{FF2B5EF4-FFF2-40B4-BE49-F238E27FC236}">
                <a16:creationId xmlns:a16="http://schemas.microsoft.com/office/drawing/2014/main" id="{D7CD29CF-EB05-419F-AE02-3DBAD43E9716}"/>
              </a:ext>
            </a:extLst>
          </p:cNvPr>
          <p:cNvSpPr>
            <a:spLocks noGrp="1"/>
          </p:cNvSpPr>
          <p:nvPr/>
        </p:nvSpPr>
        <p:spPr>
          <a:xfrm>
            <a:off x="5604819" y="1917397"/>
            <a:ext cx="2095448" cy="0"/>
          </a:xfrm>
          <a:prstGeom prst="line">
            <a:avLst/>
          </a:prstGeom>
          <a:noFill/>
          <a:ln w="25400">
            <a:solidFill>
              <a:srgbClr val="E02B2B"/>
            </a:solidFill>
            <a:prstDash val="solid"/>
          </a:ln>
        </p:spPr>
        <p:txBody>
          <a:bodyPr/>
          <a:lstStyle/>
          <a:p>
            <a:endParaRPr/>
          </a:p>
        </p:txBody>
      </p:sp>
      <p:sp>
        <p:nvSpPr>
          <p:cNvPr id="25" name="Slide Number Placeholder 0">
            <a:extLst>
              <a:ext uri="{FF2B5EF4-FFF2-40B4-BE49-F238E27FC236}">
                <a16:creationId xmlns:a16="http://schemas.microsoft.com/office/drawing/2014/main" id="{B0656536-C38D-43AB-8154-CE4E9DFAFD24}"/>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D3D7D1C8-AE23-AA48-DF65-C742588DBE47}" type="slidenum">
              <a:rPr sz="900" b="1">
                <a:solidFill>
                  <a:srgbClr val="2B7FD4"/>
                </a:solidFill>
                <a:latin typeface="Malgun Gothic"/>
                <a:ea typeface="Malgun Gothic"/>
                <a:cs typeface="Malgun Gothic"/>
              </a:rPr>
              <a:t>7</a:t>
            </a:fld>
            <a:endParaRPr/>
          </a:p>
        </p:txBody>
      </p:sp>
      <p:sp>
        <p:nvSpPr>
          <p:cNvPr id="17" name="TextBox 16">
            <a:extLst>
              <a:ext uri="{FF2B5EF4-FFF2-40B4-BE49-F238E27FC236}">
                <a16:creationId xmlns:a16="http://schemas.microsoft.com/office/drawing/2014/main" id="{D1157447-A1CF-0401-B505-9644D85E06EF}"/>
              </a:ext>
            </a:extLst>
          </p:cNvPr>
          <p:cNvSpPr txBox="1"/>
          <p:nvPr/>
        </p:nvSpPr>
        <p:spPr>
          <a:xfrm>
            <a:off x="2286000" y="2446425"/>
            <a:ext cx="4572000" cy="253916"/>
          </a:xfrm>
          <a:prstGeom prst="rect">
            <a:avLst/>
          </a:prstGeom>
          <a:noFill/>
        </p:spPr>
        <p:txBody>
          <a:bodyPr wrap="square">
            <a:spAutoFit/>
          </a:bodyPr>
          <a:lstStyle/>
          <a:p>
            <a:r>
              <a:rPr lang="en-US" altLang="ko-KR" sz="1050" b="1" dirty="0">
                <a:solidFill>
                  <a:srgbClr val="FFFFFF"/>
                </a:solidFill>
                <a:latin typeface="Malgun Gothic"/>
                <a:ea typeface="Malgun Gothic"/>
                <a:cs typeface="Malgun Gothic"/>
              </a:rPr>
              <a:t>·</a:t>
            </a:r>
            <a:r>
              <a:rPr lang="ko-KR" altLang="en-US" sz="1050" b="1" dirty="0">
                <a:solidFill>
                  <a:srgbClr val="FFFFFF"/>
                </a:solidFill>
                <a:latin typeface="Malgun Gothic"/>
                <a:ea typeface="Malgun Gothic"/>
                <a:cs typeface="Malgun Gothic"/>
              </a:rPr>
              <a:t>운영</a:t>
            </a:r>
            <a:endParaRPr lang="ko-KR" altLang="en-US" dirty="0"/>
          </a:p>
        </p:txBody>
      </p:sp>
    </p:spTree>
    <p:extLst>
      <p:ext uri="{BB962C8B-B14F-4D97-AF65-F5344CB8AC3E}">
        <p14:creationId xmlns:p14="http://schemas.microsoft.com/office/powerpoint/2010/main" val="823972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74DDB-249F-9161-5E42-A7A12691E90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CBD2841-4997-E290-A633-AF9D7D3E80EB}"/>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defRPr>
                <a:solidFill>
                  <a:srgbClr val="000000"/>
                </a:solidFill>
              </a:defRPr>
            </a:defPPr>
          </a:lstStyle>
          <a:p>
            <a:pPr marL="0" indent="0" algn="l">
              <a:buNone/>
            </a:pPr>
            <a:r>
              <a:rPr sz="1800" b="1" dirty="0">
                <a:solidFill>
                  <a:srgbClr val="000000"/>
                </a:solidFill>
                <a:latin typeface="Malgun Gothic"/>
                <a:ea typeface="Malgun Gothic"/>
                <a:cs typeface="Malgun Gothic"/>
              </a:rPr>
              <a:t>|  </a:t>
            </a:r>
            <a:r>
              <a:rPr lang="ko-KR" altLang="en-US" sz="1800" b="1" dirty="0">
                <a:solidFill>
                  <a:srgbClr val="000000"/>
                </a:solidFill>
                <a:latin typeface="Malgun Gothic"/>
                <a:ea typeface="Malgun Gothic"/>
                <a:cs typeface="Malgun Gothic"/>
              </a:rPr>
              <a:t>문제 정의</a:t>
            </a:r>
            <a:endParaRPr sz="1800" dirty="0">
              <a:solidFill>
                <a:schemeClr val="tx1"/>
              </a:solidFill>
            </a:endParaRPr>
          </a:p>
        </p:txBody>
      </p:sp>
      <p:sp>
        <p:nvSpPr>
          <p:cNvPr id="3" name="Text 0">
            <a:extLst>
              <a:ext uri="{FF2B5EF4-FFF2-40B4-BE49-F238E27FC236}">
                <a16:creationId xmlns:a16="http://schemas.microsoft.com/office/drawing/2014/main" id="{BB70C278-0BC2-8DDE-E71C-73CCC0971C55}"/>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01 프로젝트 개요</a:t>
            </a:r>
            <a:endParaRPr sz="1000"/>
          </a:p>
        </p:txBody>
      </p:sp>
      <p:sp>
        <p:nvSpPr>
          <p:cNvPr id="53" name="Key Message">
            <a:extLst>
              <a:ext uri="{FF2B5EF4-FFF2-40B4-BE49-F238E27FC236}">
                <a16:creationId xmlns:a16="http://schemas.microsoft.com/office/drawing/2014/main" id="{CA241B8A-E8F1-F693-5C41-E42FEE5502A6}"/>
              </a:ext>
            </a:extLst>
          </p:cNvPr>
          <p:cNvSpPr txBox="1"/>
          <p:nvPr/>
        </p:nvSpPr>
        <p:spPr>
          <a:xfrm>
            <a:off x="411480" y="713232"/>
            <a:ext cx="8321040" cy="192360"/>
          </a:xfrm>
          <a:prstGeom prst="rect">
            <a:avLst/>
          </a:prstGeom>
          <a:noFill/>
        </p:spPr>
        <p:txBody>
          <a:bodyPr wrap="square" lIns="0" tIns="0" rIns="0" bIns="0" anchor="t">
            <a:spAutoFit/>
          </a:bodyPr>
          <a:lstStyle/>
          <a:p>
            <a:pPr algn="l"/>
            <a:r>
              <a:rPr sz="1250" b="1" dirty="0" err="1">
                <a:solidFill>
                  <a:schemeClr val="bg1">
                    <a:lumMod val="50000"/>
                  </a:schemeClr>
                </a:solidFill>
                <a:latin typeface="Malgun Gothic"/>
                <a:ea typeface="Malgun Gothic"/>
                <a:cs typeface="Malgun Gothic"/>
              </a:rPr>
              <a:t>코드</a:t>
            </a:r>
            <a:r>
              <a:rPr sz="1250" b="1" dirty="0">
                <a:solidFill>
                  <a:schemeClr val="bg1">
                    <a:lumMod val="50000"/>
                  </a:schemeClr>
                </a:solidFill>
                <a:latin typeface="Malgun Gothic"/>
                <a:ea typeface="Malgun Gothic"/>
                <a:cs typeface="Malgun Gothic"/>
              </a:rPr>
              <a:t> </a:t>
            </a:r>
            <a:r>
              <a:rPr sz="1250" b="1" dirty="0" err="1">
                <a:solidFill>
                  <a:schemeClr val="bg1">
                    <a:lumMod val="50000"/>
                  </a:schemeClr>
                </a:solidFill>
                <a:latin typeface="Malgun Gothic"/>
                <a:ea typeface="Malgun Gothic"/>
                <a:cs typeface="Malgun Gothic"/>
              </a:rPr>
              <a:t>생성</a:t>
            </a:r>
            <a:r>
              <a:rPr sz="1250" b="1" dirty="0">
                <a:solidFill>
                  <a:schemeClr val="bg1">
                    <a:lumMod val="50000"/>
                  </a:schemeClr>
                </a:solidFill>
                <a:latin typeface="Malgun Gothic"/>
                <a:ea typeface="Malgun Gothic"/>
                <a:cs typeface="Malgun Gothic"/>
              </a:rPr>
              <a:t> </a:t>
            </a:r>
            <a:r>
              <a:rPr sz="1250" b="1" dirty="0" err="1">
                <a:solidFill>
                  <a:schemeClr val="bg1">
                    <a:lumMod val="50000"/>
                  </a:schemeClr>
                </a:solidFill>
                <a:latin typeface="Malgun Gothic"/>
                <a:ea typeface="Malgun Gothic"/>
                <a:cs typeface="Malgun Gothic"/>
              </a:rPr>
              <a:t>이후의</a:t>
            </a:r>
            <a:r>
              <a:rPr sz="1250" b="1" dirty="0">
                <a:solidFill>
                  <a:schemeClr val="bg1">
                    <a:lumMod val="50000"/>
                  </a:schemeClr>
                </a:solidFill>
                <a:latin typeface="Malgun Gothic"/>
                <a:ea typeface="Malgun Gothic"/>
                <a:cs typeface="Malgun Gothic"/>
              </a:rPr>
              <a:t> </a:t>
            </a:r>
            <a:r>
              <a:rPr sz="1250" b="1" dirty="0" err="1">
                <a:solidFill>
                  <a:schemeClr val="bg1">
                    <a:lumMod val="50000"/>
                  </a:schemeClr>
                </a:solidFill>
                <a:latin typeface="Malgun Gothic"/>
                <a:ea typeface="Malgun Gothic"/>
                <a:cs typeface="Malgun Gothic"/>
              </a:rPr>
              <a:t>검증</a:t>
            </a:r>
            <a:r>
              <a:rPr sz="1250" b="1" dirty="0">
                <a:solidFill>
                  <a:schemeClr val="bg1">
                    <a:lumMod val="50000"/>
                  </a:schemeClr>
                </a:solidFill>
                <a:latin typeface="Malgun Gothic"/>
                <a:ea typeface="Malgun Gothic"/>
                <a:cs typeface="Malgun Gothic"/>
              </a:rPr>
              <a:t> · </a:t>
            </a:r>
            <a:r>
              <a:rPr sz="1250" b="1" dirty="0" err="1">
                <a:solidFill>
                  <a:schemeClr val="bg1">
                    <a:lumMod val="50000"/>
                  </a:schemeClr>
                </a:solidFill>
                <a:latin typeface="Malgun Gothic"/>
                <a:ea typeface="Malgun Gothic"/>
                <a:cs typeface="Malgun Gothic"/>
              </a:rPr>
              <a:t>보안</a:t>
            </a:r>
            <a:r>
              <a:rPr sz="1250" b="1" dirty="0">
                <a:solidFill>
                  <a:schemeClr val="bg1">
                    <a:lumMod val="50000"/>
                  </a:schemeClr>
                </a:solidFill>
                <a:latin typeface="Malgun Gothic"/>
                <a:ea typeface="Malgun Gothic"/>
                <a:cs typeface="Malgun Gothic"/>
              </a:rPr>
              <a:t> · </a:t>
            </a:r>
            <a:r>
              <a:rPr sz="1250" b="1" dirty="0" err="1">
                <a:solidFill>
                  <a:schemeClr val="bg1">
                    <a:lumMod val="50000"/>
                  </a:schemeClr>
                </a:solidFill>
                <a:latin typeface="Malgun Gothic"/>
                <a:ea typeface="Malgun Gothic"/>
                <a:cs typeface="Malgun Gothic"/>
              </a:rPr>
              <a:t>배포를</a:t>
            </a:r>
            <a:r>
              <a:rPr sz="1250" b="1" dirty="0">
                <a:solidFill>
                  <a:schemeClr val="bg1">
                    <a:lumMod val="50000"/>
                  </a:schemeClr>
                </a:solidFill>
                <a:latin typeface="Malgun Gothic"/>
                <a:ea typeface="Malgun Gothic"/>
                <a:cs typeface="Malgun Gothic"/>
              </a:rPr>
              <a:t> </a:t>
            </a:r>
            <a:r>
              <a:rPr sz="1250" b="1" dirty="0" err="1">
                <a:solidFill>
                  <a:schemeClr val="bg1">
                    <a:lumMod val="50000"/>
                  </a:schemeClr>
                </a:solidFill>
                <a:latin typeface="Malgun Gothic"/>
                <a:ea typeface="Malgun Gothic"/>
                <a:cs typeface="Malgun Gothic"/>
              </a:rPr>
              <a:t>사람이</a:t>
            </a:r>
            <a:r>
              <a:rPr sz="1250" b="1" dirty="0">
                <a:solidFill>
                  <a:schemeClr val="bg1">
                    <a:lumMod val="50000"/>
                  </a:schemeClr>
                </a:solidFill>
                <a:latin typeface="Malgun Gothic"/>
                <a:ea typeface="Malgun Gothic"/>
                <a:cs typeface="Malgun Gothic"/>
              </a:rPr>
              <a:t> </a:t>
            </a:r>
            <a:r>
              <a:rPr sz="1250" b="1" dirty="0" err="1">
                <a:solidFill>
                  <a:schemeClr val="bg1">
                    <a:lumMod val="50000"/>
                  </a:schemeClr>
                </a:solidFill>
                <a:latin typeface="Malgun Gothic"/>
                <a:ea typeface="Malgun Gothic"/>
                <a:cs typeface="Malgun Gothic"/>
              </a:rPr>
              <a:t>직접</a:t>
            </a:r>
            <a:r>
              <a:rPr sz="1250" b="1" dirty="0">
                <a:solidFill>
                  <a:schemeClr val="bg1">
                    <a:lumMod val="50000"/>
                  </a:schemeClr>
                </a:solidFill>
                <a:latin typeface="Malgun Gothic"/>
                <a:ea typeface="Malgun Gothic"/>
                <a:cs typeface="Malgun Gothic"/>
              </a:rPr>
              <a:t> </a:t>
            </a:r>
            <a:r>
              <a:rPr sz="1250" b="1" dirty="0" err="1">
                <a:solidFill>
                  <a:schemeClr val="bg1">
                    <a:lumMod val="50000"/>
                  </a:schemeClr>
                </a:solidFill>
                <a:latin typeface="Malgun Gothic"/>
                <a:ea typeface="Malgun Gothic"/>
                <a:cs typeface="Malgun Gothic"/>
              </a:rPr>
              <a:t>이어</a:t>
            </a:r>
            <a:r>
              <a:rPr sz="1250" b="1" dirty="0">
                <a:solidFill>
                  <a:schemeClr val="bg1">
                    <a:lumMod val="50000"/>
                  </a:schemeClr>
                </a:solidFill>
                <a:latin typeface="Malgun Gothic"/>
                <a:ea typeface="Malgun Gothic"/>
                <a:cs typeface="Malgun Gothic"/>
              </a:rPr>
              <a:t> </a:t>
            </a:r>
            <a:r>
              <a:rPr sz="1250" b="1" dirty="0" err="1">
                <a:solidFill>
                  <a:schemeClr val="bg1">
                    <a:lumMod val="50000"/>
                  </a:schemeClr>
                </a:solidFill>
                <a:latin typeface="Malgun Gothic"/>
                <a:ea typeface="Malgun Gothic"/>
                <a:cs typeface="Malgun Gothic"/>
              </a:rPr>
              <a:t>붙여야</a:t>
            </a:r>
            <a:r>
              <a:rPr sz="1250" b="1" dirty="0">
                <a:solidFill>
                  <a:schemeClr val="bg1">
                    <a:lumMod val="50000"/>
                  </a:schemeClr>
                </a:solidFill>
                <a:latin typeface="Malgun Gothic"/>
                <a:ea typeface="Malgun Gothic"/>
                <a:cs typeface="Malgun Gothic"/>
              </a:rPr>
              <a:t> </a:t>
            </a:r>
            <a:r>
              <a:rPr sz="1250" b="1" dirty="0" err="1">
                <a:solidFill>
                  <a:schemeClr val="bg1">
                    <a:lumMod val="50000"/>
                  </a:schemeClr>
                </a:solidFill>
                <a:latin typeface="Malgun Gothic"/>
                <a:ea typeface="Malgun Gothic"/>
                <a:cs typeface="Malgun Gothic"/>
              </a:rPr>
              <a:t>한다</a:t>
            </a:r>
            <a:endParaRPr sz="1250" b="1" dirty="0">
              <a:solidFill>
                <a:schemeClr val="bg1">
                  <a:lumMod val="50000"/>
                </a:schemeClr>
              </a:solidFill>
              <a:latin typeface="Malgun Gothic"/>
              <a:ea typeface="Malgun Gothic"/>
              <a:cs typeface="Malgun Gothic"/>
            </a:endParaRPr>
          </a:p>
        </p:txBody>
      </p:sp>
      <p:sp>
        <p:nvSpPr>
          <p:cNvPr id="54" name="Card Before">
            <a:extLst>
              <a:ext uri="{FF2B5EF4-FFF2-40B4-BE49-F238E27FC236}">
                <a16:creationId xmlns:a16="http://schemas.microsoft.com/office/drawing/2014/main" id="{6D5BDF11-D645-A0E2-DADD-4A22ED2BC719}"/>
              </a:ext>
            </a:extLst>
          </p:cNvPr>
          <p:cNvSpPr/>
          <p:nvPr/>
        </p:nvSpPr>
        <p:spPr>
          <a:xfrm>
            <a:off x="411480" y="1188720"/>
            <a:ext cx="8321040" cy="1371600"/>
          </a:xfrm>
          <a:prstGeom prst="roundRect">
            <a:avLst>
              <a:gd name="adj" fmla="val 7000"/>
            </a:avLst>
          </a:prstGeom>
          <a:solidFill>
            <a:srgbClr val="FFFFFF"/>
          </a:solidFill>
          <a:ln>
            <a:noFill/>
          </a:ln>
          <a:effectLst>
            <a:outerShdw blurRad="127000" dist="25400" dir="5400000" algn="bl" rotWithShape="0">
              <a:srgbClr val="000000">
                <a:alpha val="10000"/>
              </a:srgbClr>
            </a:outerShdw>
          </a:effectLst>
        </p:spPr>
        <p:txBody>
          <a:bodyPr rtlCol="0" anchor="ctr"/>
          <a:lstStyle/>
          <a:p>
            <a:pPr algn="ctr"/>
            <a:endParaRPr/>
          </a:p>
        </p:txBody>
      </p:sp>
      <p:sp>
        <p:nvSpPr>
          <p:cNvPr id="55" name="Label Before">
            <a:extLst>
              <a:ext uri="{FF2B5EF4-FFF2-40B4-BE49-F238E27FC236}">
                <a16:creationId xmlns:a16="http://schemas.microsoft.com/office/drawing/2014/main" id="{30E248DA-EBC6-4536-D2E8-E9748F84B3DE}"/>
              </a:ext>
            </a:extLst>
          </p:cNvPr>
          <p:cNvSpPr txBox="1"/>
          <p:nvPr/>
        </p:nvSpPr>
        <p:spPr>
          <a:xfrm>
            <a:off x="685800" y="1188720"/>
            <a:ext cx="1371600" cy="1371600"/>
          </a:xfrm>
          <a:prstGeom prst="rect">
            <a:avLst/>
          </a:prstGeom>
          <a:noFill/>
        </p:spPr>
        <p:txBody>
          <a:bodyPr wrap="square" lIns="0" tIns="0" rIns="0" bIns="0" anchor="ctr">
            <a:spAutoFit/>
          </a:bodyPr>
          <a:lstStyle/>
          <a:p>
            <a:pPr algn="l"/>
            <a:r>
              <a:rPr sz="1400" b="1">
                <a:solidFill>
                  <a:srgbClr val="0B1220"/>
                </a:solidFill>
                <a:latin typeface="Malgun Gothic"/>
                <a:ea typeface="Malgun Gothic"/>
                <a:cs typeface="Malgun Gothic"/>
              </a:rPr>
              <a:t>기존 방식</a:t>
            </a:r>
          </a:p>
          <a:p>
            <a:pPr algn="l">
              <a:spcBef>
                <a:spcPts val="300"/>
              </a:spcBef>
            </a:pPr>
            <a:r>
              <a:rPr sz="1000" b="0">
                <a:solidFill>
                  <a:srgbClr val="6B7685"/>
                </a:solidFill>
                <a:latin typeface="Malgun Gothic"/>
                <a:ea typeface="Malgun Gothic"/>
                <a:cs typeface="Malgun Gothic"/>
              </a:rPr>
              <a:t>도구마다 따로</a:t>
            </a:r>
          </a:p>
        </p:txBody>
      </p:sp>
      <p:sp>
        <p:nvSpPr>
          <p:cNvPr id="56" name="Tool 1">
            <a:extLst>
              <a:ext uri="{FF2B5EF4-FFF2-40B4-BE49-F238E27FC236}">
                <a16:creationId xmlns:a16="http://schemas.microsoft.com/office/drawing/2014/main" id="{027ECAD4-F75C-2A49-F898-B2ED2C5F7609}"/>
              </a:ext>
            </a:extLst>
          </p:cNvPr>
          <p:cNvSpPr/>
          <p:nvPr/>
        </p:nvSpPr>
        <p:spPr>
          <a:xfrm>
            <a:off x="2167128" y="1426463"/>
            <a:ext cx="932688" cy="896112"/>
          </a:xfrm>
          <a:prstGeom prst="roundRect">
            <a:avLst>
              <a:gd name="adj" fmla="val 12000"/>
            </a:avLst>
          </a:prstGeom>
          <a:solidFill>
            <a:srgbClr val="F3F6FA"/>
          </a:solidFill>
          <a:ln w="9525">
            <a:solidFill>
              <a:srgbClr val="D5DCE5"/>
            </a:solidFill>
          </a:ln>
        </p:spPr>
        <p:txBody>
          <a:bodyPr rtlCol="0" anchor="ctr"/>
          <a:lstStyle/>
          <a:p>
            <a:pPr algn="ctr"/>
            <a:endParaRPr/>
          </a:p>
        </p:txBody>
      </p:sp>
      <p:sp>
        <p:nvSpPr>
          <p:cNvPr id="58" name="Tool Label 1">
            <a:extLst>
              <a:ext uri="{FF2B5EF4-FFF2-40B4-BE49-F238E27FC236}">
                <a16:creationId xmlns:a16="http://schemas.microsoft.com/office/drawing/2014/main" id="{C06F0D15-8744-187C-6370-3BB1433DF3E8}"/>
              </a:ext>
            </a:extLst>
          </p:cNvPr>
          <p:cNvSpPr txBox="1"/>
          <p:nvPr/>
        </p:nvSpPr>
        <p:spPr>
          <a:xfrm>
            <a:off x="2075688" y="1965960"/>
            <a:ext cx="1115568" cy="219456"/>
          </a:xfrm>
          <a:prstGeom prst="rect">
            <a:avLst/>
          </a:prstGeom>
          <a:noFill/>
        </p:spPr>
        <p:txBody>
          <a:bodyPr wrap="square" lIns="0" tIns="0" rIns="0" bIns="0" anchor="ctr">
            <a:spAutoFit/>
          </a:bodyPr>
          <a:lstStyle/>
          <a:p>
            <a:pPr algn="ctr"/>
            <a:r>
              <a:rPr sz="1000" b="1">
                <a:solidFill>
                  <a:srgbClr val="3A4656"/>
                </a:solidFill>
                <a:latin typeface="Malgun Gothic"/>
                <a:ea typeface="Malgun Gothic"/>
                <a:cs typeface="Malgun Gothic"/>
              </a:rPr>
              <a:t>AI 코딩 도구</a:t>
            </a:r>
          </a:p>
        </p:txBody>
      </p:sp>
      <p:sp>
        <p:nvSpPr>
          <p:cNvPr id="61" name="Tool 2">
            <a:extLst>
              <a:ext uri="{FF2B5EF4-FFF2-40B4-BE49-F238E27FC236}">
                <a16:creationId xmlns:a16="http://schemas.microsoft.com/office/drawing/2014/main" id="{159DF853-FD2E-25B3-6B46-A2ED52DDCDC7}"/>
              </a:ext>
            </a:extLst>
          </p:cNvPr>
          <p:cNvSpPr/>
          <p:nvPr/>
        </p:nvSpPr>
        <p:spPr>
          <a:xfrm>
            <a:off x="3483864" y="1426463"/>
            <a:ext cx="932688" cy="896112"/>
          </a:xfrm>
          <a:prstGeom prst="roundRect">
            <a:avLst>
              <a:gd name="adj" fmla="val 12000"/>
            </a:avLst>
          </a:prstGeom>
          <a:solidFill>
            <a:srgbClr val="F3F6FA"/>
          </a:solidFill>
          <a:ln w="9525">
            <a:solidFill>
              <a:srgbClr val="D5DCE5"/>
            </a:solidFill>
          </a:ln>
        </p:spPr>
        <p:txBody>
          <a:bodyPr rtlCol="0" anchor="ctr"/>
          <a:lstStyle/>
          <a:p>
            <a:pPr algn="ctr"/>
            <a:endParaRPr/>
          </a:p>
        </p:txBody>
      </p:sp>
      <p:sp>
        <p:nvSpPr>
          <p:cNvPr id="63" name="Tool Label 2">
            <a:extLst>
              <a:ext uri="{FF2B5EF4-FFF2-40B4-BE49-F238E27FC236}">
                <a16:creationId xmlns:a16="http://schemas.microsoft.com/office/drawing/2014/main" id="{01C85C35-FC06-FE5E-233D-1644BF2EDF6C}"/>
              </a:ext>
            </a:extLst>
          </p:cNvPr>
          <p:cNvSpPr txBox="1"/>
          <p:nvPr/>
        </p:nvSpPr>
        <p:spPr>
          <a:xfrm>
            <a:off x="3392424" y="1965960"/>
            <a:ext cx="1115568" cy="219456"/>
          </a:xfrm>
          <a:prstGeom prst="rect">
            <a:avLst/>
          </a:prstGeom>
          <a:noFill/>
        </p:spPr>
        <p:txBody>
          <a:bodyPr wrap="square" lIns="0" tIns="0" rIns="0" bIns="0" anchor="ctr">
            <a:spAutoFit/>
          </a:bodyPr>
          <a:lstStyle/>
          <a:p>
            <a:pPr algn="ctr"/>
            <a:r>
              <a:rPr sz="1000" b="1">
                <a:solidFill>
                  <a:srgbClr val="3A4656"/>
                </a:solidFill>
                <a:latin typeface="Malgun Gothic"/>
                <a:ea typeface="Malgun Gothic"/>
                <a:cs typeface="Malgun Gothic"/>
              </a:rPr>
              <a:t>Dockerfile</a:t>
            </a:r>
          </a:p>
        </p:txBody>
      </p:sp>
      <p:sp>
        <p:nvSpPr>
          <p:cNvPr id="66" name="Tool 3">
            <a:extLst>
              <a:ext uri="{FF2B5EF4-FFF2-40B4-BE49-F238E27FC236}">
                <a16:creationId xmlns:a16="http://schemas.microsoft.com/office/drawing/2014/main" id="{9B8EDCEA-D598-5ACC-2D16-D2B9A394D391}"/>
              </a:ext>
            </a:extLst>
          </p:cNvPr>
          <p:cNvSpPr/>
          <p:nvPr/>
        </p:nvSpPr>
        <p:spPr>
          <a:xfrm>
            <a:off x="4800600" y="1426463"/>
            <a:ext cx="932688" cy="896112"/>
          </a:xfrm>
          <a:prstGeom prst="roundRect">
            <a:avLst>
              <a:gd name="adj" fmla="val 12000"/>
            </a:avLst>
          </a:prstGeom>
          <a:solidFill>
            <a:srgbClr val="F3F6FA"/>
          </a:solidFill>
          <a:ln w="9525">
            <a:solidFill>
              <a:srgbClr val="D5DCE5"/>
            </a:solidFill>
          </a:ln>
        </p:spPr>
        <p:txBody>
          <a:bodyPr rtlCol="0" anchor="ctr"/>
          <a:lstStyle/>
          <a:p>
            <a:pPr algn="ctr"/>
            <a:endParaRPr/>
          </a:p>
        </p:txBody>
      </p:sp>
      <p:sp>
        <p:nvSpPr>
          <p:cNvPr id="68" name="Tool Label 3">
            <a:extLst>
              <a:ext uri="{FF2B5EF4-FFF2-40B4-BE49-F238E27FC236}">
                <a16:creationId xmlns:a16="http://schemas.microsoft.com/office/drawing/2014/main" id="{64C59927-5B4F-FFD1-8FBB-77538C7B8367}"/>
              </a:ext>
            </a:extLst>
          </p:cNvPr>
          <p:cNvSpPr txBox="1"/>
          <p:nvPr/>
        </p:nvSpPr>
        <p:spPr>
          <a:xfrm>
            <a:off x="4709160" y="1965960"/>
            <a:ext cx="1115568" cy="219456"/>
          </a:xfrm>
          <a:prstGeom prst="rect">
            <a:avLst/>
          </a:prstGeom>
          <a:noFill/>
        </p:spPr>
        <p:txBody>
          <a:bodyPr wrap="square" lIns="0" tIns="0" rIns="0" bIns="0" anchor="ctr">
            <a:spAutoFit/>
          </a:bodyPr>
          <a:lstStyle/>
          <a:p>
            <a:pPr algn="ctr"/>
            <a:r>
              <a:rPr sz="1000" b="1">
                <a:solidFill>
                  <a:srgbClr val="3A4656"/>
                </a:solidFill>
                <a:latin typeface="Malgun Gothic"/>
                <a:ea typeface="Malgun Gothic"/>
                <a:cs typeface="Malgun Gothic"/>
              </a:rPr>
              <a:t>보안 도구</a:t>
            </a:r>
          </a:p>
        </p:txBody>
      </p:sp>
      <p:sp>
        <p:nvSpPr>
          <p:cNvPr id="71" name="Tool 4">
            <a:extLst>
              <a:ext uri="{FF2B5EF4-FFF2-40B4-BE49-F238E27FC236}">
                <a16:creationId xmlns:a16="http://schemas.microsoft.com/office/drawing/2014/main" id="{E12C65A9-005F-35A8-F9D0-3CE3366B0BAF}"/>
              </a:ext>
            </a:extLst>
          </p:cNvPr>
          <p:cNvSpPr/>
          <p:nvPr/>
        </p:nvSpPr>
        <p:spPr>
          <a:xfrm>
            <a:off x="6117336" y="1426463"/>
            <a:ext cx="932688" cy="896112"/>
          </a:xfrm>
          <a:prstGeom prst="roundRect">
            <a:avLst>
              <a:gd name="adj" fmla="val 12000"/>
            </a:avLst>
          </a:prstGeom>
          <a:solidFill>
            <a:srgbClr val="F3F6FA"/>
          </a:solidFill>
          <a:ln w="9525">
            <a:solidFill>
              <a:srgbClr val="D5DCE5"/>
            </a:solidFill>
          </a:ln>
        </p:spPr>
        <p:txBody>
          <a:bodyPr rtlCol="0" anchor="ctr"/>
          <a:lstStyle/>
          <a:p>
            <a:pPr algn="ctr"/>
            <a:endParaRPr/>
          </a:p>
        </p:txBody>
      </p:sp>
      <p:sp>
        <p:nvSpPr>
          <p:cNvPr id="73" name="Tool Label 4">
            <a:extLst>
              <a:ext uri="{FF2B5EF4-FFF2-40B4-BE49-F238E27FC236}">
                <a16:creationId xmlns:a16="http://schemas.microsoft.com/office/drawing/2014/main" id="{EA4239D4-46CC-B445-D2B2-EC6CD4A6C81D}"/>
              </a:ext>
            </a:extLst>
          </p:cNvPr>
          <p:cNvSpPr txBox="1"/>
          <p:nvPr/>
        </p:nvSpPr>
        <p:spPr>
          <a:xfrm>
            <a:off x="6025896" y="1965960"/>
            <a:ext cx="1115568" cy="219456"/>
          </a:xfrm>
          <a:prstGeom prst="rect">
            <a:avLst/>
          </a:prstGeom>
          <a:noFill/>
        </p:spPr>
        <p:txBody>
          <a:bodyPr wrap="square" lIns="0" tIns="0" rIns="0" bIns="0" anchor="ctr">
            <a:spAutoFit/>
          </a:bodyPr>
          <a:lstStyle/>
          <a:p>
            <a:pPr algn="ctr"/>
            <a:r>
              <a:rPr sz="1000" b="1">
                <a:solidFill>
                  <a:srgbClr val="3A4656"/>
                </a:solidFill>
                <a:latin typeface="Malgun Gothic"/>
                <a:ea typeface="Malgun Gothic"/>
                <a:cs typeface="Malgun Gothic"/>
              </a:rPr>
              <a:t>클라우드 콘솔</a:t>
            </a:r>
          </a:p>
        </p:txBody>
      </p:sp>
      <p:sp>
        <p:nvSpPr>
          <p:cNvPr id="76" name="Tool 5">
            <a:extLst>
              <a:ext uri="{FF2B5EF4-FFF2-40B4-BE49-F238E27FC236}">
                <a16:creationId xmlns:a16="http://schemas.microsoft.com/office/drawing/2014/main" id="{6ACC53EF-16E5-78B1-9B28-53771FBA5FBB}"/>
              </a:ext>
            </a:extLst>
          </p:cNvPr>
          <p:cNvSpPr/>
          <p:nvPr/>
        </p:nvSpPr>
        <p:spPr>
          <a:xfrm>
            <a:off x="7434072" y="1426463"/>
            <a:ext cx="932688" cy="896112"/>
          </a:xfrm>
          <a:prstGeom prst="roundRect">
            <a:avLst>
              <a:gd name="adj" fmla="val 12000"/>
            </a:avLst>
          </a:prstGeom>
          <a:solidFill>
            <a:srgbClr val="F3F6FA"/>
          </a:solidFill>
          <a:ln w="9525">
            <a:solidFill>
              <a:srgbClr val="D5DCE5"/>
            </a:solidFill>
          </a:ln>
        </p:spPr>
        <p:txBody>
          <a:bodyPr rtlCol="0" anchor="ctr"/>
          <a:lstStyle/>
          <a:p>
            <a:pPr algn="ctr"/>
            <a:endParaRPr/>
          </a:p>
        </p:txBody>
      </p:sp>
      <p:sp>
        <p:nvSpPr>
          <p:cNvPr id="78" name="Tool Label 5">
            <a:extLst>
              <a:ext uri="{FF2B5EF4-FFF2-40B4-BE49-F238E27FC236}">
                <a16:creationId xmlns:a16="http://schemas.microsoft.com/office/drawing/2014/main" id="{B97089E1-8AA5-3326-B192-4D8F71A299BE}"/>
              </a:ext>
            </a:extLst>
          </p:cNvPr>
          <p:cNvSpPr txBox="1"/>
          <p:nvPr/>
        </p:nvSpPr>
        <p:spPr>
          <a:xfrm>
            <a:off x="7342632" y="1965960"/>
            <a:ext cx="1115568" cy="219456"/>
          </a:xfrm>
          <a:prstGeom prst="rect">
            <a:avLst/>
          </a:prstGeom>
          <a:noFill/>
        </p:spPr>
        <p:txBody>
          <a:bodyPr wrap="square" lIns="0" tIns="0" rIns="0" bIns="0" anchor="ctr">
            <a:spAutoFit/>
          </a:bodyPr>
          <a:lstStyle/>
          <a:p>
            <a:pPr algn="ctr"/>
            <a:r>
              <a:rPr sz="1000" b="1">
                <a:solidFill>
                  <a:srgbClr val="3A4656"/>
                </a:solidFill>
                <a:latin typeface="Malgun Gothic"/>
                <a:ea typeface="Malgun Gothic"/>
                <a:cs typeface="Malgun Gothic"/>
              </a:rPr>
              <a:t>수동 확인</a:t>
            </a:r>
          </a:p>
        </p:txBody>
      </p:sp>
      <p:sp>
        <p:nvSpPr>
          <p:cNvPr id="79" name="Card ReCoder">
            <a:extLst>
              <a:ext uri="{FF2B5EF4-FFF2-40B4-BE49-F238E27FC236}">
                <a16:creationId xmlns:a16="http://schemas.microsoft.com/office/drawing/2014/main" id="{27237AE3-6F2C-547C-368B-E8A2D7A8B5EC}"/>
              </a:ext>
            </a:extLst>
          </p:cNvPr>
          <p:cNvSpPr/>
          <p:nvPr/>
        </p:nvSpPr>
        <p:spPr>
          <a:xfrm>
            <a:off x="411480" y="2971800"/>
            <a:ext cx="8321040" cy="1554480"/>
          </a:xfrm>
          <a:prstGeom prst="roundRect">
            <a:avLst>
              <a:gd name="adj" fmla="val 7000"/>
            </a:avLst>
          </a:prstGeom>
          <a:solidFill>
            <a:srgbClr val="FFFFFF"/>
          </a:solidFill>
          <a:ln w="15875">
            <a:solidFill>
              <a:srgbClr val="2B7FD4"/>
            </a:solidFill>
          </a:ln>
          <a:effectLst>
            <a:outerShdw blurRad="127000" dist="25400" dir="5400000" algn="bl" rotWithShape="0">
              <a:srgbClr val="000000">
                <a:alpha val="10000"/>
              </a:srgbClr>
            </a:outerShdw>
          </a:effectLst>
        </p:spPr>
        <p:txBody>
          <a:bodyPr rtlCol="0" anchor="ctr"/>
          <a:lstStyle/>
          <a:p>
            <a:pPr algn="ctr"/>
            <a:endParaRPr/>
          </a:p>
        </p:txBody>
      </p:sp>
      <p:sp>
        <p:nvSpPr>
          <p:cNvPr id="80" name="Label ReCoder">
            <a:extLst>
              <a:ext uri="{FF2B5EF4-FFF2-40B4-BE49-F238E27FC236}">
                <a16:creationId xmlns:a16="http://schemas.microsoft.com/office/drawing/2014/main" id="{61E29C8F-9ADB-32F1-35E2-10EC7C3144F6}"/>
              </a:ext>
            </a:extLst>
          </p:cNvPr>
          <p:cNvSpPr txBox="1"/>
          <p:nvPr/>
        </p:nvSpPr>
        <p:spPr>
          <a:xfrm>
            <a:off x="685800" y="3785615"/>
            <a:ext cx="1371600" cy="457200"/>
          </a:xfrm>
          <a:prstGeom prst="rect">
            <a:avLst/>
          </a:prstGeom>
          <a:noFill/>
        </p:spPr>
        <p:txBody>
          <a:bodyPr wrap="square" lIns="0" tIns="0" rIns="0" bIns="0" anchor="t">
            <a:spAutoFit/>
          </a:bodyPr>
          <a:lstStyle/>
          <a:p>
            <a:pPr algn="l"/>
            <a:r>
              <a:rPr sz="1400" b="1">
                <a:solidFill>
                  <a:srgbClr val="2B7FD4"/>
                </a:solidFill>
                <a:latin typeface="Malgun Gothic"/>
                <a:ea typeface="Malgun Gothic"/>
                <a:cs typeface="Malgun Gothic"/>
              </a:rPr>
              <a:t>ReCoder</a:t>
            </a:r>
          </a:p>
          <a:p>
            <a:pPr algn="l">
              <a:spcBef>
                <a:spcPts val="300"/>
              </a:spcBef>
            </a:pPr>
            <a:r>
              <a:rPr sz="1000" b="0">
                <a:solidFill>
                  <a:srgbClr val="6B7685"/>
                </a:solidFill>
                <a:latin typeface="Malgun Gothic"/>
                <a:ea typeface="Malgun Gothic"/>
                <a:cs typeface="Malgun Gothic"/>
              </a:rPr>
              <a:t>하나로 이어진 흐름</a:t>
            </a:r>
          </a:p>
        </p:txBody>
      </p:sp>
      <p:sp>
        <p:nvSpPr>
          <p:cNvPr id="84" name="Stage Label 1">
            <a:extLst>
              <a:ext uri="{FF2B5EF4-FFF2-40B4-BE49-F238E27FC236}">
                <a16:creationId xmlns:a16="http://schemas.microsoft.com/office/drawing/2014/main" id="{9B18DB6D-44E1-D4E7-76FF-F7F20DD06CAA}"/>
              </a:ext>
            </a:extLst>
          </p:cNvPr>
          <p:cNvSpPr txBox="1"/>
          <p:nvPr/>
        </p:nvSpPr>
        <p:spPr>
          <a:xfrm>
            <a:off x="1993391" y="3895344"/>
            <a:ext cx="1280160" cy="274320"/>
          </a:xfrm>
          <a:prstGeom prst="rect">
            <a:avLst/>
          </a:prstGeom>
          <a:noFill/>
        </p:spPr>
        <p:txBody>
          <a:bodyPr wrap="square" lIns="0" tIns="0" rIns="0" bIns="0" anchor="ctr">
            <a:spAutoFit/>
          </a:bodyPr>
          <a:lstStyle/>
          <a:p>
            <a:pPr algn="ctr"/>
            <a:r>
              <a:rPr sz="1150" b="1">
                <a:solidFill>
                  <a:srgbClr val="0B1220"/>
                </a:solidFill>
                <a:latin typeface="Malgun Gothic"/>
                <a:ea typeface="Malgun Gothic"/>
                <a:cs typeface="Malgun Gothic"/>
              </a:rPr>
              <a:t>설계 결정</a:t>
            </a:r>
          </a:p>
        </p:txBody>
      </p:sp>
      <p:sp>
        <p:nvSpPr>
          <p:cNvPr id="87" name="Stage Label 2">
            <a:extLst>
              <a:ext uri="{FF2B5EF4-FFF2-40B4-BE49-F238E27FC236}">
                <a16:creationId xmlns:a16="http://schemas.microsoft.com/office/drawing/2014/main" id="{5EFF5086-9941-D082-3833-FEA7157F1AC2}"/>
              </a:ext>
            </a:extLst>
          </p:cNvPr>
          <p:cNvSpPr txBox="1"/>
          <p:nvPr/>
        </p:nvSpPr>
        <p:spPr>
          <a:xfrm>
            <a:off x="3310128" y="3895344"/>
            <a:ext cx="1280160" cy="274320"/>
          </a:xfrm>
          <a:prstGeom prst="rect">
            <a:avLst/>
          </a:prstGeom>
          <a:noFill/>
        </p:spPr>
        <p:txBody>
          <a:bodyPr wrap="square" lIns="0" tIns="0" rIns="0" bIns="0" anchor="ctr">
            <a:spAutoFit/>
          </a:bodyPr>
          <a:lstStyle/>
          <a:p>
            <a:pPr algn="ctr"/>
            <a:r>
              <a:rPr sz="1150" b="1">
                <a:solidFill>
                  <a:srgbClr val="0B1220"/>
                </a:solidFill>
                <a:latin typeface="Malgun Gothic"/>
                <a:ea typeface="Malgun Gothic"/>
                <a:cs typeface="Malgun Gothic"/>
              </a:rPr>
              <a:t>생성 · 빌드 검증</a:t>
            </a:r>
          </a:p>
        </p:txBody>
      </p:sp>
      <p:sp>
        <p:nvSpPr>
          <p:cNvPr id="90" name="Stage Label 3">
            <a:extLst>
              <a:ext uri="{FF2B5EF4-FFF2-40B4-BE49-F238E27FC236}">
                <a16:creationId xmlns:a16="http://schemas.microsoft.com/office/drawing/2014/main" id="{D9294641-DB91-4E59-AC18-9A389DA245F1}"/>
              </a:ext>
            </a:extLst>
          </p:cNvPr>
          <p:cNvSpPr txBox="1"/>
          <p:nvPr/>
        </p:nvSpPr>
        <p:spPr>
          <a:xfrm>
            <a:off x="4626864" y="3895344"/>
            <a:ext cx="1280160" cy="274320"/>
          </a:xfrm>
          <a:prstGeom prst="rect">
            <a:avLst/>
          </a:prstGeom>
          <a:noFill/>
        </p:spPr>
        <p:txBody>
          <a:bodyPr wrap="square" lIns="0" tIns="0" rIns="0" bIns="0" anchor="ctr">
            <a:spAutoFit/>
          </a:bodyPr>
          <a:lstStyle/>
          <a:p>
            <a:pPr algn="ctr"/>
            <a:r>
              <a:rPr sz="1150" b="1">
                <a:solidFill>
                  <a:srgbClr val="0B1220"/>
                </a:solidFill>
                <a:latin typeface="Malgun Gothic"/>
                <a:ea typeface="Malgun Gothic"/>
                <a:cs typeface="Malgun Gothic"/>
              </a:rPr>
              <a:t>보안 게이트</a:t>
            </a:r>
          </a:p>
        </p:txBody>
      </p:sp>
      <p:sp>
        <p:nvSpPr>
          <p:cNvPr id="93" name="Stage Label 4">
            <a:extLst>
              <a:ext uri="{FF2B5EF4-FFF2-40B4-BE49-F238E27FC236}">
                <a16:creationId xmlns:a16="http://schemas.microsoft.com/office/drawing/2014/main" id="{89BD6252-5A93-F951-D327-EFAF686975A5}"/>
              </a:ext>
            </a:extLst>
          </p:cNvPr>
          <p:cNvSpPr txBox="1"/>
          <p:nvPr/>
        </p:nvSpPr>
        <p:spPr>
          <a:xfrm>
            <a:off x="5943600" y="3895344"/>
            <a:ext cx="1280160" cy="274320"/>
          </a:xfrm>
          <a:prstGeom prst="rect">
            <a:avLst/>
          </a:prstGeom>
          <a:noFill/>
        </p:spPr>
        <p:txBody>
          <a:bodyPr wrap="square" lIns="0" tIns="0" rIns="0" bIns="0" anchor="ctr">
            <a:spAutoFit/>
          </a:bodyPr>
          <a:lstStyle/>
          <a:p>
            <a:pPr algn="ctr"/>
            <a:r>
              <a:rPr sz="1150" b="1">
                <a:solidFill>
                  <a:srgbClr val="0B1220"/>
                </a:solidFill>
                <a:latin typeface="Malgun Gothic"/>
                <a:ea typeface="Malgun Gothic"/>
                <a:cs typeface="Malgun Gothic"/>
              </a:rPr>
              <a:t>승인 후 배포</a:t>
            </a:r>
          </a:p>
        </p:txBody>
      </p:sp>
      <p:sp>
        <p:nvSpPr>
          <p:cNvPr id="96" name="Stage Label 5">
            <a:extLst>
              <a:ext uri="{FF2B5EF4-FFF2-40B4-BE49-F238E27FC236}">
                <a16:creationId xmlns:a16="http://schemas.microsoft.com/office/drawing/2014/main" id="{E60270C7-5965-2732-25EF-1D1FE6CD0FEA}"/>
              </a:ext>
            </a:extLst>
          </p:cNvPr>
          <p:cNvSpPr txBox="1"/>
          <p:nvPr/>
        </p:nvSpPr>
        <p:spPr>
          <a:xfrm>
            <a:off x="7260336" y="3895344"/>
            <a:ext cx="1280160" cy="274320"/>
          </a:xfrm>
          <a:prstGeom prst="rect">
            <a:avLst/>
          </a:prstGeom>
          <a:noFill/>
        </p:spPr>
        <p:txBody>
          <a:bodyPr wrap="square" lIns="0" tIns="0" rIns="0" bIns="0" anchor="ctr">
            <a:spAutoFit/>
          </a:bodyPr>
          <a:lstStyle/>
          <a:p>
            <a:pPr algn="ctr"/>
            <a:r>
              <a:rPr sz="1150" b="1">
                <a:solidFill>
                  <a:srgbClr val="0B1220"/>
                </a:solidFill>
                <a:latin typeface="Malgun Gothic"/>
                <a:ea typeface="Malgun Gothic"/>
                <a:cs typeface="Malgun Gothic"/>
              </a:rPr>
              <a:t>5분 감시</a:t>
            </a:r>
          </a:p>
        </p:txBody>
      </p:sp>
      <p:pic>
        <p:nvPicPr>
          <p:cNvPr id="97" name="Logo Claude" descr="Claude 로고"/>
          <p:cNvPicPr>
            <a:picLocks noChangeAspect="1"/>
          </p:cNvPicPr>
          <p:nvPr/>
        </p:nvPicPr>
        <p:blipFill>
          <a:blip r:embed="rId3"/>
          <a:stretch>
            <a:fillRect/>
          </a:stretch>
        </p:blipFill>
        <p:spPr>
          <a:xfrm>
            <a:off x="2331720" y="1591056"/>
            <a:ext cx="274320" cy="274320"/>
          </a:xfrm>
          <a:prstGeom prst="rect">
            <a:avLst/>
          </a:prstGeom>
        </p:spPr>
      </p:pic>
      <p:pic>
        <p:nvPicPr>
          <p:cNvPr id="98" name="Logo OpenAI" descr="OpenAI 로고"/>
          <p:cNvPicPr>
            <a:picLocks noChangeAspect="1"/>
          </p:cNvPicPr>
          <p:nvPr/>
        </p:nvPicPr>
        <p:blipFill>
          <a:blip r:embed="rId4"/>
          <a:stretch>
            <a:fillRect/>
          </a:stretch>
        </p:blipFill>
        <p:spPr>
          <a:xfrm>
            <a:off x="2660904" y="1591056"/>
            <a:ext cx="274320" cy="274320"/>
          </a:xfrm>
          <a:prstGeom prst="rect">
            <a:avLst/>
          </a:prstGeom>
        </p:spPr>
      </p:pic>
      <p:pic>
        <p:nvPicPr>
          <p:cNvPr id="99" name="Logo Docker" descr="Docker 로고"/>
          <p:cNvPicPr>
            <a:picLocks noChangeAspect="1"/>
          </p:cNvPicPr>
          <p:nvPr/>
        </p:nvPicPr>
        <p:blipFill>
          <a:blip r:embed="rId5"/>
          <a:stretch>
            <a:fillRect/>
          </a:stretch>
        </p:blipFill>
        <p:spPr>
          <a:xfrm>
            <a:off x="3739896" y="1517904"/>
            <a:ext cx="420624" cy="420624"/>
          </a:xfrm>
          <a:prstGeom prst="rect">
            <a:avLst/>
          </a:prstGeom>
        </p:spPr>
      </p:pic>
      <p:sp>
        <p:nvSpPr>
          <p:cNvPr id="100" name="Security Tools"/>
          <p:cNvSpPr txBox="1"/>
          <p:nvPr/>
        </p:nvSpPr>
        <p:spPr>
          <a:xfrm>
            <a:off x="4800600" y="1545336"/>
            <a:ext cx="932688" cy="365760"/>
          </a:xfrm>
          <a:prstGeom prst="rect">
            <a:avLst/>
          </a:prstGeom>
          <a:noFill/>
        </p:spPr>
        <p:txBody>
          <a:bodyPr wrap="square" lIns="0" tIns="0" rIns="0" bIns="0" anchor="ctr">
            <a:spAutoFit/>
          </a:bodyPr>
          <a:lstStyle/>
          <a:p>
            <a:pPr algn="ctr"/>
            <a:r>
              <a:rPr sz="900" b="1">
                <a:solidFill>
                  <a:srgbClr val="3A4656"/>
                </a:solidFill>
                <a:latin typeface="Malgun Gothic"/>
                <a:ea typeface="Malgun Gothic"/>
                <a:cs typeface="Malgun Gothic"/>
              </a:rPr>
              <a:t>Trivy</a:t>
            </a:r>
          </a:p>
          <a:p>
            <a:pPr algn="ctr"/>
            <a:r>
              <a:rPr sz="900" b="1">
                <a:solidFill>
                  <a:srgbClr val="3A4656"/>
                </a:solidFill>
                <a:latin typeface="Malgun Gothic"/>
                <a:ea typeface="Malgun Gothic"/>
                <a:cs typeface="Malgun Gothic"/>
              </a:rPr>
              <a:t>Gitleaks</a:t>
            </a:r>
          </a:p>
        </p:txBody>
      </p:sp>
      <p:pic>
        <p:nvPicPr>
          <p:cNvPr id="101" name="Logo AWS" descr="AWS 로고"/>
          <p:cNvPicPr>
            <a:picLocks noChangeAspect="1"/>
          </p:cNvPicPr>
          <p:nvPr/>
        </p:nvPicPr>
        <p:blipFill>
          <a:blip r:embed="rId6"/>
          <a:stretch>
            <a:fillRect/>
          </a:stretch>
        </p:blipFill>
        <p:spPr>
          <a:xfrm>
            <a:off x="6373368" y="1517904"/>
            <a:ext cx="420624" cy="420624"/>
          </a:xfrm>
          <a:prstGeom prst="rect">
            <a:avLst/>
          </a:prstGeom>
        </p:spPr>
      </p:pic>
      <p:pic>
        <p:nvPicPr>
          <p:cNvPr id="102" name="Logo CloudWatch" descr="Amazon CloudWatch 아이콘"/>
          <p:cNvPicPr>
            <a:picLocks noChangeAspect="1"/>
          </p:cNvPicPr>
          <p:nvPr/>
        </p:nvPicPr>
        <p:blipFill>
          <a:blip r:embed="rId7"/>
          <a:stretch>
            <a:fillRect/>
          </a:stretch>
        </p:blipFill>
        <p:spPr>
          <a:xfrm>
            <a:off x="7744968" y="1572768"/>
            <a:ext cx="310896" cy="310896"/>
          </a:xfrm>
          <a:prstGeom prst="rect">
            <a:avLst/>
          </a:prstGeom>
        </p:spPr>
      </p:pic>
      <p:cxnSp>
        <p:nvCxnSpPr>
          <p:cNvPr id="103" name="Manual Link 1"/>
          <p:cNvCxnSpPr/>
          <p:nvPr/>
        </p:nvCxnSpPr>
        <p:spPr>
          <a:xfrm>
            <a:off x="3145536" y="1874519"/>
            <a:ext cx="292608" cy="0"/>
          </a:xfrm>
          <a:prstGeom prst="line">
            <a:avLst/>
          </a:prstGeom>
          <a:ln w="15875">
            <a:solidFill>
              <a:srgbClr val="AEB8C5"/>
            </a:solidFill>
            <a:prstDash val="dash"/>
          </a:ln>
        </p:spPr>
      </p:cxnSp>
      <p:cxnSp>
        <p:nvCxnSpPr>
          <p:cNvPr id="104" name="Manual Link 2"/>
          <p:cNvCxnSpPr/>
          <p:nvPr/>
        </p:nvCxnSpPr>
        <p:spPr>
          <a:xfrm>
            <a:off x="4462272" y="1874519"/>
            <a:ext cx="292608" cy="0"/>
          </a:xfrm>
          <a:prstGeom prst="line">
            <a:avLst/>
          </a:prstGeom>
          <a:ln w="15875">
            <a:solidFill>
              <a:srgbClr val="AEB8C5"/>
            </a:solidFill>
            <a:prstDash val="dash"/>
          </a:ln>
        </p:spPr>
      </p:cxnSp>
      <p:cxnSp>
        <p:nvCxnSpPr>
          <p:cNvPr id="105" name="Manual Link 3"/>
          <p:cNvCxnSpPr/>
          <p:nvPr/>
        </p:nvCxnSpPr>
        <p:spPr>
          <a:xfrm>
            <a:off x="5779007" y="1874519"/>
            <a:ext cx="292609" cy="0"/>
          </a:xfrm>
          <a:prstGeom prst="line">
            <a:avLst/>
          </a:prstGeom>
          <a:ln w="15875">
            <a:solidFill>
              <a:srgbClr val="AEB8C5"/>
            </a:solidFill>
            <a:prstDash val="dash"/>
          </a:ln>
        </p:spPr>
      </p:cxnSp>
      <p:cxnSp>
        <p:nvCxnSpPr>
          <p:cNvPr id="106" name="Manual Link 4"/>
          <p:cNvCxnSpPr/>
          <p:nvPr/>
        </p:nvCxnSpPr>
        <p:spPr>
          <a:xfrm>
            <a:off x="7095744" y="1874519"/>
            <a:ext cx="292608" cy="0"/>
          </a:xfrm>
          <a:prstGeom prst="line">
            <a:avLst/>
          </a:prstGeom>
          <a:ln w="15875">
            <a:solidFill>
              <a:srgbClr val="AEB8C5"/>
            </a:solidFill>
            <a:prstDash val="dash"/>
          </a:ln>
        </p:spPr>
      </p:cxnSp>
      <p:cxnSp>
        <p:nvCxnSpPr>
          <p:cNvPr id="107" name="Flow Line"/>
          <p:cNvCxnSpPr/>
          <p:nvPr/>
        </p:nvCxnSpPr>
        <p:spPr>
          <a:xfrm>
            <a:off x="2633470" y="3694176"/>
            <a:ext cx="5266946" cy="0"/>
          </a:xfrm>
          <a:prstGeom prst="line">
            <a:avLst/>
          </a:prstGeom>
          <a:ln w="28575">
            <a:solidFill>
              <a:srgbClr val="2B7FD4"/>
            </a:solidFill>
          </a:ln>
        </p:spPr>
      </p:cxnSp>
      <p:sp>
        <p:nvSpPr>
          <p:cNvPr id="108" name="Step Dot 1"/>
          <p:cNvSpPr/>
          <p:nvPr/>
        </p:nvSpPr>
        <p:spPr>
          <a:xfrm>
            <a:off x="2542030" y="3602736"/>
            <a:ext cx="182880" cy="182880"/>
          </a:xfrm>
          <a:prstGeom prst="ellipse">
            <a:avLst/>
          </a:prstGeom>
          <a:solidFill>
            <a:srgbClr val="2B7FD4"/>
          </a:solidFill>
          <a:ln w="25400">
            <a:solidFill>
              <a:srgbClr val="FFFFFF"/>
            </a:solidFill>
          </a:ln>
        </p:spPr>
        <p:txBody>
          <a:bodyPr rtlCol="0" anchor="ctr"/>
          <a:lstStyle/>
          <a:p>
            <a:pPr algn="ctr"/>
            <a:endParaRPr/>
          </a:p>
        </p:txBody>
      </p:sp>
      <p:sp>
        <p:nvSpPr>
          <p:cNvPr id="109" name="Step No 1"/>
          <p:cNvSpPr txBox="1"/>
          <p:nvPr/>
        </p:nvSpPr>
        <p:spPr>
          <a:xfrm>
            <a:off x="2359151" y="3310128"/>
            <a:ext cx="548640" cy="219456"/>
          </a:xfrm>
          <a:prstGeom prst="rect">
            <a:avLst/>
          </a:prstGeom>
          <a:noFill/>
        </p:spPr>
        <p:txBody>
          <a:bodyPr wrap="square" lIns="0" tIns="0" rIns="0" bIns="0" anchor="ctr">
            <a:spAutoFit/>
          </a:bodyPr>
          <a:lstStyle/>
          <a:p>
            <a:pPr algn="ctr"/>
            <a:r>
              <a:rPr sz="1000" b="1">
                <a:solidFill>
                  <a:srgbClr val="2B7FD4"/>
                </a:solidFill>
                <a:latin typeface="Malgun Gothic"/>
                <a:ea typeface="Malgun Gothic"/>
                <a:cs typeface="Malgun Gothic"/>
              </a:rPr>
              <a:t>01</a:t>
            </a:r>
          </a:p>
        </p:txBody>
      </p:sp>
      <p:sp>
        <p:nvSpPr>
          <p:cNvPr id="110" name="Step Dot 2"/>
          <p:cNvSpPr/>
          <p:nvPr/>
        </p:nvSpPr>
        <p:spPr>
          <a:xfrm>
            <a:off x="3858768" y="3602736"/>
            <a:ext cx="182880" cy="182880"/>
          </a:xfrm>
          <a:prstGeom prst="ellipse">
            <a:avLst/>
          </a:prstGeom>
          <a:solidFill>
            <a:srgbClr val="2B7FD4"/>
          </a:solidFill>
          <a:ln w="25400">
            <a:solidFill>
              <a:srgbClr val="FFFFFF"/>
            </a:solidFill>
          </a:ln>
        </p:spPr>
        <p:txBody>
          <a:bodyPr rtlCol="0" anchor="ctr"/>
          <a:lstStyle/>
          <a:p>
            <a:pPr algn="ctr"/>
            <a:endParaRPr/>
          </a:p>
        </p:txBody>
      </p:sp>
      <p:sp>
        <p:nvSpPr>
          <p:cNvPr id="111" name="Step No 2"/>
          <p:cNvSpPr txBox="1"/>
          <p:nvPr/>
        </p:nvSpPr>
        <p:spPr>
          <a:xfrm>
            <a:off x="3675888" y="3310128"/>
            <a:ext cx="548640" cy="219456"/>
          </a:xfrm>
          <a:prstGeom prst="rect">
            <a:avLst/>
          </a:prstGeom>
          <a:noFill/>
        </p:spPr>
        <p:txBody>
          <a:bodyPr wrap="square" lIns="0" tIns="0" rIns="0" bIns="0" anchor="ctr">
            <a:spAutoFit/>
          </a:bodyPr>
          <a:lstStyle/>
          <a:p>
            <a:pPr algn="ctr"/>
            <a:r>
              <a:rPr sz="1000" b="1">
                <a:solidFill>
                  <a:srgbClr val="2B7FD4"/>
                </a:solidFill>
                <a:latin typeface="Malgun Gothic"/>
                <a:ea typeface="Malgun Gothic"/>
                <a:cs typeface="Malgun Gothic"/>
              </a:rPr>
              <a:t>02</a:t>
            </a:r>
          </a:p>
        </p:txBody>
      </p:sp>
      <p:sp>
        <p:nvSpPr>
          <p:cNvPr id="112" name="Step Dot 3"/>
          <p:cNvSpPr/>
          <p:nvPr/>
        </p:nvSpPr>
        <p:spPr>
          <a:xfrm>
            <a:off x="5175504" y="3602736"/>
            <a:ext cx="182880" cy="182880"/>
          </a:xfrm>
          <a:prstGeom prst="ellipse">
            <a:avLst/>
          </a:prstGeom>
          <a:solidFill>
            <a:srgbClr val="2B7FD4"/>
          </a:solidFill>
          <a:ln w="25400">
            <a:solidFill>
              <a:srgbClr val="FFFFFF"/>
            </a:solidFill>
          </a:ln>
        </p:spPr>
        <p:txBody>
          <a:bodyPr rtlCol="0" anchor="ctr"/>
          <a:lstStyle/>
          <a:p>
            <a:pPr algn="ctr"/>
            <a:endParaRPr/>
          </a:p>
        </p:txBody>
      </p:sp>
      <p:sp>
        <p:nvSpPr>
          <p:cNvPr id="113" name="Step No 3"/>
          <p:cNvSpPr txBox="1"/>
          <p:nvPr/>
        </p:nvSpPr>
        <p:spPr>
          <a:xfrm>
            <a:off x="4992624" y="3310128"/>
            <a:ext cx="548640" cy="219456"/>
          </a:xfrm>
          <a:prstGeom prst="rect">
            <a:avLst/>
          </a:prstGeom>
          <a:noFill/>
        </p:spPr>
        <p:txBody>
          <a:bodyPr wrap="square" lIns="0" tIns="0" rIns="0" bIns="0" anchor="ctr">
            <a:spAutoFit/>
          </a:bodyPr>
          <a:lstStyle/>
          <a:p>
            <a:pPr algn="ctr"/>
            <a:r>
              <a:rPr sz="1000" b="1">
                <a:solidFill>
                  <a:srgbClr val="2B7FD4"/>
                </a:solidFill>
                <a:latin typeface="Malgun Gothic"/>
                <a:ea typeface="Malgun Gothic"/>
                <a:cs typeface="Malgun Gothic"/>
              </a:rPr>
              <a:t>03</a:t>
            </a:r>
          </a:p>
        </p:txBody>
      </p:sp>
      <p:sp>
        <p:nvSpPr>
          <p:cNvPr id="114" name="Step Dot 4"/>
          <p:cNvSpPr/>
          <p:nvPr/>
        </p:nvSpPr>
        <p:spPr>
          <a:xfrm>
            <a:off x="6492240" y="3602736"/>
            <a:ext cx="182880" cy="182880"/>
          </a:xfrm>
          <a:prstGeom prst="ellipse">
            <a:avLst/>
          </a:prstGeom>
          <a:solidFill>
            <a:srgbClr val="2B7FD4"/>
          </a:solidFill>
          <a:ln w="25400">
            <a:solidFill>
              <a:srgbClr val="FFFFFF"/>
            </a:solidFill>
          </a:ln>
        </p:spPr>
        <p:txBody>
          <a:bodyPr rtlCol="0" anchor="ctr"/>
          <a:lstStyle/>
          <a:p>
            <a:pPr algn="ctr"/>
            <a:endParaRPr/>
          </a:p>
        </p:txBody>
      </p:sp>
      <p:sp>
        <p:nvSpPr>
          <p:cNvPr id="115" name="Step No 4"/>
          <p:cNvSpPr txBox="1"/>
          <p:nvPr/>
        </p:nvSpPr>
        <p:spPr>
          <a:xfrm>
            <a:off x="6309360" y="3310128"/>
            <a:ext cx="548640" cy="219456"/>
          </a:xfrm>
          <a:prstGeom prst="rect">
            <a:avLst/>
          </a:prstGeom>
          <a:noFill/>
        </p:spPr>
        <p:txBody>
          <a:bodyPr wrap="square" lIns="0" tIns="0" rIns="0" bIns="0" anchor="ctr">
            <a:spAutoFit/>
          </a:bodyPr>
          <a:lstStyle/>
          <a:p>
            <a:pPr algn="ctr"/>
            <a:r>
              <a:rPr sz="1000" b="1">
                <a:solidFill>
                  <a:srgbClr val="2B7FD4"/>
                </a:solidFill>
                <a:latin typeface="Malgun Gothic"/>
                <a:ea typeface="Malgun Gothic"/>
                <a:cs typeface="Malgun Gothic"/>
              </a:rPr>
              <a:t>04</a:t>
            </a:r>
          </a:p>
        </p:txBody>
      </p:sp>
      <p:sp>
        <p:nvSpPr>
          <p:cNvPr id="116" name="Step Dot 5"/>
          <p:cNvSpPr/>
          <p:nvPr/>
        </p:nvSpPr>
        <p:spPr>
          <a:xfrm>
            <a:off x="7808976" y="3602736"/>
            <a:ext cx="182880" cy="182880"/>
          </a:xfrm>
          <a:prstGeom prst="ellipse">
            <a:avLst/>
          </a:prstGeom>
          <a:solidFill>
            <a:srgbClr val="2B7FD4"/>
          </a:solidFill>
          <a:ln w="25400">
            <a:solidFill>
              <a:srgbClr val="FFFFFF"/>
            </a:solidFill>
          </a:ln>
        </p:spPr>
        <p:txBody>
          <a:bodyPr rtlCol="0" anchor="ctr"/>
          <a:lstStyle/>
          <a:p>
            <a:pPr algn="ctr"/>
            <a:endParaRPr/>
          </a:p>
        </p:txBody>
      </p:sp>
      <p:sp>
        <p:nvSpPr>
          <p:cNvPr id="117" name="Step No 5"/>
          <p:cNvSpPr txBox="1"/>
          <p:nvPr/>
        </p:nvSpPr>
        <p:spPr>
          <a:xfrm>
            <a:off x="7626096" y="3310128"/>
            <a:ext cx="548640" cy="219456"/>
          </a:xfrm>
          <a:prstGeom prst="rect">
            <a:avLst/>
          </a:prstGeom>
          <a:noFill/>
        </p:spPr>
        <p:txBody>
          <a:bodyPr wrap="square" lIns="0" tIns="0" rIns="0" bIns="0" anchor="ctr">
            <a:spAutoFit/>
          </a:bodyPr>
          <a:lstStyle/>
          <a:p>
            <a:pPr algn="ctr"/>
            <a:r>
              <a:rPr sz="1000" b="1">
                <a:solidFill>
                  <a:srgbClr val="2B7FD4"/>
                </a:solidFill>
                <a:latin typeface="Malgun Gothic"/>
                <a:ea typeface="Malgun Gothic"/>
                <a:cs typeface="Malgun Gothic"/>
              </a:rPr>
              <a:t>05</a:t>
            </a:r>
          </a:p>
        </p:txBody>
      </p:sp>
      <p:pic>
        <p:nvPicPr>
          <p:cNvPr id="118" name="Logo ReCoder" descr="ReCoder 로고"/>
          <p:cNvPicPr>
            <a:picLocks noChangeAspect="1"/>
          </p:cNvPicPr>
          <p:nvPr/>
        </p:nvPicPr>
        <p:blipFill>
          <a:blip r:embed="rId8"/>
          <a:stretch>
            <a:fillRect/>
          </a:stretch>
        </p:blipFill>
        <p:spPr>
          <a:xfrm>
            <a:off x="676656" y="3355848"/>
            <a:ext cx="384048" cy="384048"/>
          </a:xfrm>
          <a:prstGeom prst="rect">
            <a:avLst/>
          </a:prstGeom>
        </p:spPr>
      </p:pic>
      <p:sp>
        <p:nvSpPr>
          <p:cNvPr id="52" name="Slide Number Placeholder 0">
            <a:extLst>
              <a:ext uri="{FF2B5EF4-FFF2-40B4-BE49-F238E27FC236}">
                <a16:creationId xmlns:a16="http://schemas.microsoft.com/office/drawing/2014/main" id="{E4881FF5-2907-D95B-C0A7-D196D8C23247}"/>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BA58DA2A-B818-18A9-29C1-B697728D5BCE}" type="slidenum">
              <a:rPr sz="900" b="1">
                <a:solidFill>
                  <a:srgbClr val="2B7FD4"/>
                </a:solidFill>
                <a:latin typeface="Malgun Gothic"/>
                <a:ea typeface="Malgun Gothic"/>
                <a:cs typeface="Malgun Gothic"/>
              </a:rPr>
              <a:t>8</a:t>
            </a:fld>
            <a:endParaRPr/>
          </a:p>
        </p:txBody>
      </p:sp>
    </p:spTree>
    <p:extLst>
      <p:ext uri="{BB962C8B-B14F-4D97-AF65-F5344CB8AC3E}">
        <p14:creationId xmlns:p14="http://schemas.microsoft.com/office/powerpoint/2010/main" val="4260231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0040" y="182880"/>
            <a:ext cx="6035040" cy="457200"/>
          </a:xfrm>
          <a:prstGeom prst="rect">
            <a:avLst/>
          </a:prstGeom>
          <a:noFill/>
          <a:ln/>
        </p:spPr>
        <p:txBody>
          <a:bodyPr wrap="square" lIns="0" tIns="0" rIns="0" bIns="0" rtlCol="0" anchor="ctr"/>
          <a:lstStyle/>
          <a:p>
            <a:pPr marL="0" indent="0" algn="l">
              <a:buNone/>
            </a:pPr>
            <a:r>
              <a:rPr lang="en-US" sz="1800" b="1" dirty="0">
                <a:solidFill>
                  <a:schemeClr val="tx1"/>
                </a:solidFill>
                <a:latin typeface="Malgun Gothic" pitchFamily="34" charset="0"/>
                <a:ea typeface="Malgun Gothic" pitchFamily="34" charset="-122"/>
                <a:cs typeface="Malgun Gothic" pitchFamily="34" charset="-120"/>
              </a:rPr>
              <a:t>|  </a:t>
            </a:r>
            <a:r>
              <a:rPr lang="ko-KR" altLang="en-US" sz="1800" b="1" dirty="0">
                <a:solidFill>
                  <a:schemeClr val="tx1"/>
                </a:solidFill>
                <a:latin typeface="Malgun Gothic" pitchFamily="34" charset="0"/>
                <a:ea typeface="Malgun Gothic" pitchFamily="34" charset="-122"/>
                <a:cs typeface="Malgun Gothic" pitchFamily="34" charset="-120"/>
              </a:rPr>
              <a:t>서비스 소개</a:t>
            </a:r>
            <a:endParaRPr lang="en-US" sz="1800" dirty="0">
              <a:solidFill>
                <a:schemeClr val="tx1"/>
              </a:solidFill>
            </a:endParaRPr>
          </a:p>
        </p:txBody>
      </p:sp>
      <p:sp>
        <p:nvSpPr>
          <p:cNvPr id="3" name="Text 0"/>
          <p:cNvSpPr>
            <a:spLocks noGrp="1"/>
          </p:cNvSpPr>
          <p:nvPr>
            <p:ph type="body" idx="101" hasCustomPrompt="1"/>
          </p:nvPr>
        </p:nvSpPr>
        <p:spPr>
          <a:xfrm>
            <a:off x="6355080" y="228600"/>
            <a:ext cx="2468880" cy="365760"/>
          </a:xfrm>
          <a:prstGeom prst="rect">
            <a:avLst/>
          </a:prstGeom>
          <a:noFill/>
          <a:ln/>
        </p:spPr>
        <p:txBody>
          <a:bodyPr wrap="square" lIns="0" tIns="0" rIns="0" bIns="0" rtlCol="0" anchor="ctr"/>
          <a:lstStyle/>
          <a:p>
            <a:pPr marL="0" indent="0" algn="r">
              <a:buNone/>
            </a:pPr>
            <a:r>
              <a:rPr lang="en-US" sz="1000" b="1" dirty="0">
                <a:solidFill>
                  <a:schemeClr val="tx1"/>
                </a:solidFill>
                <a:latin typeface="Malgun Gothic" pitchFamily="34" charset="0"/>
                <a:ea typeface="Malgun Gothic" pitchFamily="34" charset="-122"/>
                <a:cs typeface="Malgun Gothic" pitchFamily="34" charset="-120"/>
              </a:rPr>
              <a:t>01 프로젝트 개요</a:t>
            </a:r>
            <a:endParaRPr lang="en-US" sz="1000" dirty="0">
              <a:solidFill>
                <a:schemeClr val="tx1"/>
              </a:solidFill>
            </a:endParaRPr>
          </a:p>
        </p:txBody>
      </p:sp>
      <p:sp>
        <p:nvSpPr>
          <p:cNvPr id="4" name="Text 2"/>
          <p:cNvSpPr txBox="1"/>
          <p:nvPr/>
        </p:nvSpPr>
        <p:spPr>
          <a:xfrm>
            <a:off x="1371600" y="685800"/>
            <a:ext cx="6400800" cy="640080"/>
          </a:xfrm>
          <a:prstGeom prst="rect">
            <a:avLst/>
          </a:prstGeom>
          <a:noFill/>
          <a:ln/>
        </p:spPr>
        <p:txBody>
          <a:bodyPr wrap="square" lIns="0" tIns="0" rIns="0" bIns="0" rtlCol="0" anchor="t"/>
          <a:lstStyle/>
          <a:p>
            <a:pPr marL="0" indent="0" algn="ctr">
              <a:buNone/>
            </a:pPr>
            <a:r>
              <a:rPr lang="en-US" sz="3600" b="1" dirty="0">
                <a:solidFill>
                  <a:srgbClr val="DCE3EC"/>
                </a:solidFill>
                <a:latin typeface="Malgun Gothic" pitchFamily="34" charset="0"/>
                <a:ea typeface="Malgun Gothic" pitchFamily="34" charset="-122"/>
                <a:cs typeface="Malgun Gothic" pitchFamily="34" charset="-120"/>
              </a:rPr>
              <a:t>ReCoder in VS Code</a:t>
            </a:r>
            <a:endParaRPr lang="en-US" sz="3600" dirty="0"/>
          </a:p>
        </p:txBody>
      </p:sp>
      <p:pic>
        <p:nvPicPr>
          <p:cNvPr id="5" name="Image 0" descr="/home/claude/work/a/mock_overview.png"/>
          <p:cNvPicPr>
            <a:picLocks noChangeAspect="1"/>
          </p:cNvPicPr>
          <p:nvPr/>
        </p:nvPicPr>
        <p:blipFill>
          <a:blip r:embed="rId3"/>
          <a:stretch>
            <a:fillRect/>
          </a:stretch>
        </p:blipFill>
        <p:spPr>
          <a:xfrm>
            <a:off x="2395728" y="1115568"/>
            <a:ext cx="4352544" cy="2720340"/>
          </a:xfrm>
          <a:prstGeom prst="rect">
            <a:avLst/>
          </a:prstGeom>
        </p:spPr>
      </p:pic>
      <p:pic>
        <p:nvPicPr>
          <p:cNvPr id="6" name="Image 1" descr="preencoded.png"/>
          <p:cNvPicPr>
            <a:picLocks noChangeAspect="1"/>
          </p:cNvPicPr>
          <p:nvPr/>
        </p:nvPicPr>
        <p:blipFill>
          <a:blip r:embed="rId4"/>
          <a:stretch>
            <a:fillRect/>
          </a:stretch>
        </p:blipFill>
        <p:spPr>
          <a:xfrm>
            <a:off x="320040" y="1234440"/>
            <a:ext cx="329184" cy="329184"/>
          </a:xfrm>
          <a:prstGeom prst="rect">
            <a:avLst/>
          </a:prstGeom>
        </p:spPr>
      </p:pic>
      <p:sp>
        <p:nvSpPr>
          <p:cNvPr id="7" name="Text 3"/>
          <p:cNvSpPr txBox="1"/>
          <p:nvPr/>
        </p:nvSpPr>
        <p:spPr>
          <a:xfrm>
            <a:off x="320040" y="1645920"/>
            <a:ext cx="2103120" cy="274320"/>
          </a:xfrm>
          <a:prstGeom prst="rect">
            <a:avLst/>
          </a:prstGeom>
          <a:noFill/>
          <a:ln/>
        </p:spPr>
        <p:txBody>
          <a:bodyPr wrap="square" lIns="0" tIns="0" rIns="0" bIns="0" rtlCol="0" anchor="t"/>
          <a:lstStyle/>
          <a:p>
            <a:pPr marL="0" indent="0">
              <a:buNone/>
            </a:pPr>
            <a:r>
              <a:rPr lang="en-US" sz="1250" b="1" dirty="0">
                <a:solidFill>
                  <a:srgbClr val="141B26"/>
                </a:solidFill>
                <a:latin typeface="Malgun Gothic" pitchFamily="34" charset="0"/>
                <a:ea typeface="Malgun Gothic" pitchFamily="34" charset="-122"/>
                <a:cs typeface="Malgun Gothic" pitchFamily="34" charset="-120"/>
              </a:rPr>
              <a:t>AI-DLC 설계 결정</a:t>
            </a:r>
            <a:endParaRPr lang="en-US" sz="1250" dirty="0"/>
          </a:p>
        </p:txBody>
      </p:sp>
      <p:sp>
        <p:nvSpPr>
          <p:cNvPr id="8" name="Text 4"/>
          <p:cNvSpPr txBox="1"/>
          <p:nvPr/>
        </p:nvSpPr>
        <p:spPr>
          <a:xfrm>
            <a:off x="320040" y="1947672"/>
            <a:ext cx="2103120" cy="548640"/>
          </a:xfrm>
          <a:prstGeom prst="rect">
            <a:avLst/>
          </a:prstGeom>
          <a:noFill/>
          <a:ln/>
        </p:spPr>
        <p:txBody>
          <a:bodyPr wrap="square" lIns="0" tIns="0" rIns="0" bIns="0" rtlCol="0" anchor="t"/>
          <a:lstStyle/>
          <a:p>
            <a:pPr marL="0" indent="0">
              <a:buNone/>
            </a:pPr>
            <a:r>
              <a:rPr lang="en-US" sz="950" dirty="0">
                <a:solidFill>
                  <a:srgbClr val="5E6878"/>
                </a:solidFill>
                <a:latin typeface="Malgun Gothic" pitchFamily="34" charset="0"/>
                <a:ea typeface="Malgun Gothic" pitchFamily="34" charset="-122"/>
                <a:cs typeface="Malgun Gothic" pitchFamily="34" charset="-120"/>
              </a:rPr>
              <a:t>요청을 분석해 설계 카드 5~8장을</a:t>
            </a:r>
            <a:endParaRPr lang="en-US" sz="950" dirty="0"/>
          </a:p>
          <a:p>
            <a:pPr marL="0" indent="0">
              <a:buNone/>
            </a:pPr>
            <a:r>
              <a:rPr lang="en-US" sz="950" dirty="0">
                <a:solidFill>
                  <a:srgbClr val="5E6878"/>
                </a:solidFill>
                <a:latin typeface="Malgun Gothic" pitchFamily="34" charset="0"/>
                <a:ea typeface="Malgun Gothic" pitchFamily="34" charset="-122"/>
                <a:cs typeface="Malgun Gothic" pitchFamily="34" charset="-120"/>
              </a:rPr>
              <a:t>제시하고, 선택을 ADR로 기록</a:t>
            </a:r>
            <a:endParaRPr lang="en-US" sz="950" dirty="0"/>
          </a:p>
        </p:txBody>
      </p:sp>
      <p:pic>
        <p:nvPicPr>
          <p:cNvPr id="9" name="Image 2" descr="preencoded.png"/>
          <p:cNvPicPr>
            <a:picLocks noChangeAspect="1"/>
          </p:cNvPicPr>
          <p:nvPr/>
        </p:nvPicPr>
        <p:blipFill>
          <a:blip r:embed="rId5"/>
          <a:stretch>
            <a:fillRect/>
          </a:stretch>
        </p:blipFill>
        <p:spPr>
          <a:xfrm>
            <a:off x="320040" y="2743200"/>
            <a:ext cx="329184" cy="329184"/>
          </a:xfrm>
          <a:prstGeom prst="rect">
            <a:avLst/>
          </a:prstGeom>
        </p:spPr>
      </p:pic>
      <p:sp>
        <p:nvSpPr>
          <p:cNvPr id="10" name="Text 5"/>
          <p:cNvSpPr txBox="1"/>
          <p:nvPr/>
        </p:nvSpPr>
        <p:spPr>
          <a:xfrm>
            <a:off x="320040" y="3154680"/>
            <a:ext cx="2103120" cy="274320"/>
          </a:xfrm>
          <a:prstGeom prst="rect">
            <a:avLst/>
          </a:prstGeom>
          <a:noFill/>
          <a:ln/>
        </p:spPr>
        <p:txBody>
          <a:bodyPr wrap="square" lIns="0" tIns="0" rIns="0" bIns="0" rtlCol="0" anchor="t"/>
          <a:lstStyle/>
          <a:p>
            <a:pPr marL="0" indent="0">
              <a:buNone/>
            </a:pPr>
            <a:r>
              <a:rPr lang="en-US" sz="1250" b="1" dirty="0">
                <a:solidFill>
                  <a:srgbClr val="141B26"/>
                </a:solidFill>
                <a:latin typeface="Malgun Gothic" pitchFamily="34" charset="0"/>
                <a:ea typeface="Malgun Gothic" pitchFamily="34" charset="-122"/>
                <a:cs typeface="Malgun Gothic" pitchFamily="34" charset="-120"/>
              </a:rPr>
              <a:t>AI Village 병렬 개발</a:t>
            </a:r>
            <a:endParaRPr lang="en-US" sz="1250" dirty="0"/>
          </a:p>
        </p:txBody>
      </p:sp>
      <p:sp>
        <p:nvSpPr>
          <p:cNvPr id="11" name="Text 6"/>
          <p:cNvSpPr txBox="1"/>
          <p:nvPr/>
        </p:nvSpPr>
        <p:spPr>
          <a:xfrm>
            <a:off x="320040" y="3456432"/>
            <a:ext cx="2103120" cy="548640"/>
          </a:xfrm>
          <a:prstGeom prst="rect">
            <a:avLst/>
          </a:prstGeom>
          <a:noFill/>
          <a:ln/>
        </p:spPr>
        <p:txBody>
          <a:bodyPr wrap="square" lIns="0" tIns="0" rIns="0" bIns="0" rtlCol="0" anchor="t"/>
          <a:lstStyle/>
          <a:p>
            <a:pPr marL="0" indent="0">
              <a:buNone/>
            </a:pPr>
            <a:r>
              <a:rPr lang="en-US" sz="950" dirty="0">
                <a:solidFill>
                  <a:srgbClr val="5E6878"/>
                </a:solidFill>
                <a:latin typeface="Malgun Gothic" pitchFamily="34" charset="0"/>
                <a:ea typeface="Malgun Gothic" pitchFamily="34" charset="-122"/>
                <a:cs typeface="Malgun Gothic" pitchFamily="34" charset="-120"/>
              </a:rPr>
              <a:t>설계 1·개발 6·검토 1 에이전트가</a:t>
            </a:r>
            <a:endParaRPr lang="en-US" sz="950" dirty="0"/>
          </a:p>
          <a:p>
            <a:pPr marL="0" indent="0">
              <a:buNone/>
            </a:pPr>
            <a:r>
              <a:rPr lang="en-US" sz="950" dirty="0">
                <a:solidFill>
                  <a:srgbClr val="5E6878"/>
                </a:solidFill>
                <a:latin typeface="Malgun Gothic" pitchFamily="34" charset="0"/>
                <a:ea typeface="Malgun Gothic" pitchFamily="34" charset="-122"/>
                <a:cs typeface="Malgun Gothic" pitchFamily="34" charset="-120"/>
              </a:rPr>
              <a:t>의존 순서대로 파일 생성</a:t>
            </a:r>
            <a:endParaRPr lang="en-US" sz="950" dirty="0"/>
          </a:p>
        </p:txBody>
      </p:sp>
      <p:pic>
        <p:nvPicPr>
          <p:cNvPr id="12" name="Image 3" descr="preencoded.png"/>
          <p:cNvPicPr>
            <a:picLocks noChangeAspect="1"/>
          </p:cNvPicPr>
          <p:nvPr/>
        </p:nvPicPr>
        <p:blipFill>
          <a:blip r:embed="rId6"/>
          <a:stretch>
            <a:fillRect/>
          </a:stretch>
        </p:blipFill>
        <p:spPr>
          <a:xfrm>
            <a:off x="6812280" y="1234440"/>
            <a:ext cx="329184" cy="329184"/>
          </a:xfrm>
          <a:prstGeom prst="rect">
            <a:avLst/>
          </a:prstGeom>
        </p:spPr>
      </p:pic>
      <p:sp>
        <p:nvSpPr>
          <p:cNvPr id="13" name="Text 7"/>
          <p:cNvSpPr txBox="1"/>
          <p:nvPr/>
        </p:nvSpPr>
        <p:spPr>
          <a:xfrm>
            <a:off x="6812280" y="1645920"/>
            <a:ext cx="2103120" cy="274320"/>
          </a:xfrm>
          <a:prstGeom prst="rect">
            <a:avLst/>
          </a:prstGeom>
          <a:noFill/>
          <a:ln/>
        </p:spPr>
        <p:txBody>
          <a:bodyPr wrap="square" lIns="0" tIns="0" rIns="0" bIns="0" rtlCol="0" anchor="t"/>
          <a:lstStyle/>
          <a:p>
            <a:pPr marL="0" indent="0">
              <a:buNone/>
            </a:pPr>
            <a:r>
              <a:rPr lang="en-US" sz="1250" b="1" dirty="0">
                <a:solidFill>
                  <a:srgbClr val="141B26"/>
                </a:solidFill>
                <a:latin typeface="Malgun Gothic" pitchFamily="34" charset="0"/>
                <a:ea typeface="Malgun Gothic" pitchFamily="34" charset="-122"/>
                <a:cs typeface="Malgun Gothic" pitchFamily="34" charset="-120"/>
              </a:rPr>
              <a:t>보안 게이트</a:t>
            </a:r>
            <a:endParaRPr lang="en-US" sz="1250" dirty="0"/>
          </a:p>
        </p:txBody>
      </p:sp>
      <p:sp>
        <p:nvSpPr>
          <p:cNvPr id="14" name="Text 8"/>
          <p:cNvSpPr txBox="1"/>
          <p:nvPr/>
        </p:nvSpPr>
        <p:spPr>
          <a:xfrm>
            <a:off x="6812280" y="1947672"/>
            <a:ext cx="2103120" cy="548640"/>
          </a:xfrm>
          <a:prstGeom prst="rect">
            <a:avLst/>
          </a:prstGeom>
          <a:noFill/>
          <a:ln/>
        </p:spPr>
        <p:txBody>
          <a:bodyPr wrap="square" lIns="0" tIns="0" rIns="0" bIns="0" rtlCol="0" anchor="t"/>
          <a:lstStyle/>
          <a:p>
            <a:pPr marL="0" indent="0">
              <a:buNone/>
            </a:pPr>
            <a:r>
              <a:rPr lang="en-US" sz="950" dirty="0">
                <a:solidFill>
                  <a:srgbClr val="5E6878"/>
                </a:solidFill>
                <a:latin typeface="Malgun Gothic" pitchFamily="34" charset="0"/>
                <a:ea typeface="Malgun Gothic" pitchFamily="34" charset="-122"/>
                <a:cs typeface="Malgun Gothic" pitchFamily="34" charset="-120"/>
              </a:rPr>
              <a:t>Dockerfile·시크릿·이미지 검사,</a:t>
            </a:r>
            <a:endParaRPr lang="en-US" sz="950" dirty="0"/>
          </a:p>
          <a:p>
            <a:pPr marL="0" indent="0">
              <a:buNone/>
            </a:pPr>
            <a:r>
              <a:rPr lang="en-US" sz="950" dirty="0">
                <a:solidFill>
                  <a:srgbClr val="5E6878"/>
                </a:solidFill>
                <a:latin typeface="Malgun Gothic" pitchFamily="34" charset="0"/>
                <a:ea typeface="Malgun Gothic" pitchFamily="34" charset="-122"/>
                <a:cs typeface="Malgun Gothic" pitchFamily="34" charset="-120"/>
              </a:rPr>
              <a:t>이상 시 빨간불로 배포 차단</a:t>
            </a:r>
            <a:endParaRPr lang="en-US" sz="950" dirty="0"/>
          </a:p>
        </p:txBody>
      </p:sp>
      <p:pic>
        <p:nvPicPr>
          <p:cNvPr id="15" name="Image 4" descr="preencoded.png"/>
          <p:cNvPicPr>
            <a:picLocks noChangeAspect="1"/>
          </p:cNvPicPr>
          <p:nvPr/>
        </p:nvPicPr>
        <p:blipFill>
          <a:blip r:embed="rId7"/>
          <a:stretch>
            <a:fillRect/>
          </a:stretch>
        </p:blipFill>
        <p:spPr>
          <a:xfrm>
            <a:off x="6812280" y="2743200"/>
            <a:ext cx="329184" cy="329184"/>
          </a:xfrm>
          <a:prstGeom prst="rect">
            <a:avLst/>
          </a:prstGeom>
        </p:spPr>
      </p:pic>
      <p:sp>
        <p:nvSpPr>
          <p:cNvPr id="16" name="Text 9"/>
          <p:cNvSpPr txBox="1"/>
          <p:nvPr/>
        </p:nvSpPr>
        <p:spPr>
          <a:xfrm>
            <a:off x="6812280" y="3154680"/>
            <a:ext cx="2103120" cy="274320"/>
          </a:xfrm>
          <a:prstGeom prst="rect">
            <a:avLst/>
          </a:prstGeom>
          <a:noFill/>
          <a:ln/>
        </p:spPr>
        <p:txBody>
          <a:bodyPr wrap="square" lIns="0" tIns="0" rIns="0" bIns="0" rtlCol="0" anchor="t"/>
          <a:lstStyle/>
          <a:p>
            <a:pPr marL="0" indent="0">
              <a:buNone/>
            </a:pPr>
            <a:r>
              <a:rPr lang="en-US" sz="1250" b="1" dirty="0">
                <a:solidFill>
                  <a:srgbClr val="141B26"/>
                </a:solidFill>
                <a:latin typeface="Malgun Gothic" pitchFamily="34" charset="0"/>
                <a:ea typeface="Malgun Gothic" pitchFamily="34" charset="-122"/>
                <a:cs typeface="Malgun Gothic" pitchFamily="34" charset="-120"/>
              </a:rPr>
              <a:t>Drag &amp; Drop 배포</a:t>
            </a:r>
            <a:endParaRPr lang="en-US" sz="1250" dirty="0"/>
          </a:p>
        </p:txBody>
      </p:sp>
      <p:sp>
        <p:nvSpPr>
          <p:cNvPr id="17" name="Text 10"/>
          <p:cNvSpPr txBox="1"/>
          <p:nvPr/>
        </p:nvSpPr>
        <p:spPr>
          <a:xfrm>
            <a:off x="6812280" y="3456432"/>
            <a:ext cx="2103120" cy="548640"/>
          </a:xfrm>
          <a:prstGeom prst="rect">
            <a:avLst/>
          </a:prstGeom>
          <a:noFill/>
          <a:ln/>
        </p:spPr>
        <p:txBody>
          <a:bodyPr wrap="square" lIns="0" tIns="0" rIns="0" bIns="0" rtlCol="0" anchor="t"/>
          <a:lstStyle/>
          <a:p>
            <a:pPr marL="0" indent="0">
              <a:buNone/>
            </a:pPr>
            <a:r>
              <a:rPr lang="en-US" sz="950" dirty="0">
                <a:solidFill>
                  <a:srgbClr val="5E6878"/>
                </a:solidFill>
                <a:latin typeface="Malgun Gothic" pitchFamily="34" charset="0"/>
                <a:ea typeface="Malgun Gothic" pitchFamily="34" charset="-122"/>
                <a:cs typeface="Malgun Gothic" pitchFamily="34" charset="-120"/>
              </a:rPr>
              <a:t>GitHub·Docker·ECS·S3에 끌어</a:t>
            </a:r>
            <a:endParaRPr lang="en-US" sz="950" dirty="0"/>
          </a:p>
          <a:p>
            <a:pPr marL="0" indent="0">
              <a:buNone/>
            </a:pPr>
            <a:r>
              <a:rPr lang="en-US" sz="950" dirty="0">
                <a:solidFill>
                  <a:srgbClr val="5E6878"/>
                </a:solidFill>
                <a:latin typeface="Malgun Gothic" pitchFamily="34" charset="0"/>
                <a:ea typeface="Malgun Gothic" pitchFamily="34" charset="-122"/>
                <a:cs typeface="Malgun Gothic" pitchFamily="34" charset="-120"/>
              </a:rPr>
              <a:t>놓아 배포, Health Check 확인</a:t>
            </a:r>
            <a:endParaRPr lang="en-US" sz="950" dirty="0"/>
          </a:p>
        </p:txBody>
      </p:sp>
      <p:sp>
        <p:nvSpPr>
          <p:cNvPr id="18" name="Shape 11"/>
          <p:cNvSpPr/>
          <p:nvPr/>
        </p:nvSpPr>
        <p:spPr>
          <a:xfrm>
            <a:off x="2514600" y="4251960"/>
            <a:ext cx="4114800" cy="384048"/>
          </a:xfrm>
          <a:prstGeom prst="roundRect">
            <a:avLst>
              <a:gd name="adj" fmla="val 50000"/>
            </a:avLst>
          </a:prstGeom>
          <a:solidFill>
            <a:srgbClr val="2B7FD4"/>
          </a:solidFill>
          <a:ln/>
        </p:spPr>
        <p:txBody>
          <a:bodyPr/>
          <a:lstStyle/>
          <a:p>
            <a:endParaRPr lang="ko-KR" altLang="en-US"/>
          </a:p>
        </p:txBody>
      </p:sp>
      <p:sp>
        <p:nvSpPr>
          <p:cNvPr id="19" name="Text 12"/>
          <p:cNvSpPr txBox="1"/>
          <p:nvPr/>
        </p:nvSpPr>
        <p:spPr>
          <a:xfrm>
            <a:off x="2514600" y="4251960"/>
            <a:ext cx="41148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모든 파일 적용 · 배포 · 롤백은 사용자 승인 후에만 실행</a:t>
            </a:r>
            <a:endParaRPr lang="en-US" sz="11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2B7FD4"/>
                </a:solidFill>
                <a:latin typeface="Malgun Gothic"/>
                <a:ea typeface="Malgun Gothic"/>
                <a:cs typeface="Malgun Gothic"/>
              </a:defRPr>
            </a:lvl1pPr>
          </a:lstStyle>
          <a:p>
            <a:pPr algn="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4C53DEA-2EBB-4F14-8CDA-D29710C5D586}"/>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algn="l">
              <a:defRPr sz="2000" b="1">
                <a:solidFill>
                  <a:srgbClr val="000000"/>
                </a:solidFill>
                <a:latin typeface="Malgun Gothic"/>
                <a:ea typeface="Malgun Gothic"/>
                <a:cs typeface="Malgun Gothic"/>
              </a:defRPr>
            </a:pPr>
            <a:r>
              <a:rPr sz="2000" b="1">
                <a:solidFill>
                  <a:srgbClr val="000000"/>
                </a:solidFill>
                <a:latin typeface="Malgun Gothic"/>
                <a:ea typeface="Malgun Gothic"/>
                <a:cs typeface="Malgun Gothic"/>
              </a:rPr>
              <a:t>|  시스템 아키텍처</a:t>
            </a:r>
            <a:endParaRPr sz="2000">
              <a:solidFill>
                <a:schemeClr val="tx1"/>
              </a:solidFill>
            </a:endParaRPr>
          </a:p>
        </p:txBody>
      </p:sp>
      <p:sp>
        <p:nvSpPr>
          <p:cNvPr id="3" name="Text 0">
            <a:extLst>
              <a:ext uri="{FF2B5EF4-FFF2-40B4-BE49-F238E27FC236}">
                <a16:creationId xmlns:a16="http://schemas.microsoft.com/office/drawing/2014/main" id="{534BE6B6-24AC-459A-A4BF-39C2B9E0BC0A}"/>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9D1409A0-BD34-44DA-BA30-EFC9F741C18F}"/>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a:p>
        </p:txBody>
      </p:sp>
      <p:pic>
        <p:nvPicPr>
          <p:cNvPr id="5" name="Image 0">
            <a:extLst>
              <a:ext uri="{FF2B5EF4-FFF2-40B4-BE49-F238E27FC236}">
                <a16:creationId xmlns:a16="http://schemas.microsoft.com/office/drawing/2014/main" id="{1B92508F-6302-4813-9D30-39B96D4D5893}"/>
              </a:ext>
            </a:extLst>
          </p:cNvPr>
          <p:cNvPicPr>
            <a:picLocks noChangeAspect="1"/>
          </p:cNvPicPr>
          <p:nvPr/>
        </p:nvPicPr>
        <p:blipFill>
          <a:blip r:embed="rId3"/>
          <a:stretch>
            <a:fillRect/>
          </a:stretch>
        </p:blipFill>
        <p:spPr>
          <a:xfrm>
            <a:off x="1161288" y="886968"/>
            <a:ext cx="6830568" cy="3840480"/>
          </a:xfrm>
          <a:prstGeom prst="rect">
            <a:avLst/>
          </a:prstGeom>
        </p:spPr>
      </p:pic>
      <p:sp>
        <p:nvSpPr>
          <p:cNvPr id="25" name="Slide Number Placeholder 0">
            <a:extLst>
              <a:ext uri="{FF2B5EF4-FFF2-40B4-BE49-F238E27FC236}">
                <a16:creationId xmlns:a16="http://schemas.microsoft.com/office/drawing/2014/main" id="{E03DCC26-2C3F-4B9B-95D3-58973CF17657}"/>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DB7BEEEC-A170-5376-2B6E-CB54687B0CB1}" type="slidenum">
              <a:rPr sz="900" b="1">
                <a:solidFill>
                  <a:srgbClr val="2B7FD4"/>
                </a:solidFill>
                <a:latin typeface="Malgun Gothic"/>
                <a:ea typeface="Malgun Gothic"/>
                <a:cs typeface="Malgun Gothic"/>
              </a:rPr>
              <a:t>10</a:t>
            </a:fld>
            <a:endParaRPr/>
          </a:p>
        </p:txBody>
      </p:sp>
    </p:spTree>
    <p:extLst>
      <p:ext uri="{BB962C8B-B14F-4D97-AF65-F5344CB8AC3E}">
        <p14:creationId xmlns:p14="http://schemas.microsoft.com/office/powerpoint/2010/main" val="433338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87609CD-6AC8-46FA-BFC3-2F5D0BE4F449}"/>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a:solidFill>
                  <a:srgbClr val="000000"/>
                </a:solidFill>
                <a:latin typeface="Malgun Gothic"/>
                <a:ea typeface="Malgun Gothic"/>
                <a:cs typeface="Malgun Gothic"/>
              </a:rPr>
              <a:t>|  시스템 아키텍처 : 기능 구분</a:t>
            </a:r>
            <a:endParaRPr sz="2000"/>
          </a:p>
        </p:txBody>
      </p:sp>
      <p:sp>
        <p:nvSpPr>
          <p:cNvPr id="3" name="Text 0">
            <a:extLst>
              <a:ext uri="{FF2B5EF4-FFF2-40B4-BE49-F238E27FC236}">
                <a16:creationId xmlns:a16="http://schemas.microsoft.com/office/drawing/2014/main" id="{09941C8B-4EAF-4856-9F2D-94FFF08BA744}"/>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8747E6ED-B816-41DC-82D4-83ED6FB2AA08}"/>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a:p>
        </p:txBody>
      </p:sp>
      <p:pic>
        <p:nvPicPr>
          <p:cNvPr id="5" name="Image 0">
            <a:extLst>
              <a:ext uri="{FF2B5EF4-FFF2-40B4-BE49-F238E27FC236}">
                <a16:creationId xmlns:a16="http://schemas.microsoft.com/office/drawing/2014/main" id="{EFFB2FDF-4E8E-4B67-8456-06849E4A303E}"/>
              </a:ext>
            </a:extLst>
          </p:cNvPr>
          <p:cNvPicPr>
            <a:picLocks noChangeAspect="1"/>
          </p:cNvPicPr>
          <p:nvPr/>
        </p:nvPicPr>
        <p:blipFill>
          <a:blip r:embed="rId3"/>
          <a:stretch>
            <a:fillRect/>
          </a:stretch>
        </p:blipFill>
        <p:spPr>
          <a:xfrm>
            <a:off x="1161288" y="886968"/>
            <a:ext cx="6830568" cy="3840480"/>
          </a:xfrm>
          <a:prstGeom prst="rect">
            <a:avLst/>
          </a:prstGeom>
        </p:spPr>
      </p:pic>
      <p:sp>
        <p:nvSpPr>
          <p:cNvPr id="6" name="Shape 3">
            <a:extLst>
              <a:ext uri="{FF2B5EF4-FFF2-40B4-BE49-F238E27FC236}">
                <a16:creationId xmlns:a16="http://schemas.microsoft.com/office/drawing/2014/main" id="{7DADBDFA-4AD6-4DD5-8E96-B9B3A3687E0F}"/>
              </a:ext>
            </a:extLst>
          </p:cNvPr>
          <p:cNvSpPr>
            <a:spLocks noGrp="1"/>
          </p:cNvSpPr>
          <p:nvPr/>
        </p:nvSpPr>
        <p:spPr>
          <a:xfrm>
            <a:off x="2339561" y="1399261"/>
            <a:ext cx="2469250" cy="758193"/>
          </a:xfrm>
          <a:prstGeom prst="rect">
            <a:avLst/>
          </a:prstGeom>
          <a:ln w="31750">
            <a:solidFill>
              <a:srgbClr val="E02B2B"/>
            </a:solidFill>
            <a:prstDash val="solid"/>
          </a:ln>
        </p:spPr>
        <p:txBody>
          <a:bodyPr/>
          <a:lstStyle/>
          <a:p>
            <a:endParaRPr/>
          </a:p>
        </p:txBody>
      </p:sp>
      <p:sp>
        <p:nvSpPr>
          <p:cNvPr id="7" name="Text 4">
            <a:extLst>
              <a:ext uri="{FF2B5EF4-FFF2-40B4-BE49-F238E27FC236}">
                <a16:creationId xmlns:a16="http://schemas.microsoft.com/office/drawing/2014/main" id="{1281F102-0955-46B8-BBAC-45CD66D9AB2E}"/>
              </a:ext>
            </a:extLst>
          </p:cNvPr>
          <p:cNvSpPr>
            <a:spLocks noGrp="1"/>
          </p:cNvSpPr>
          <p:nvPr/>
        </p:nvSpPr>
        <p:spPr>
          <a:xfrm>
            <a:off x="693641" y="1723713"/>
            <a:ext cx="1600200" cy="274320"/>
          </a:xfrm>
          <a:prstGeom prst="rect">
            <a:avLst/>
          </a:prstGeom>
          <a:solidFill>
            <a:srgbClr val="FFFFFF"/>
          </a:solidFill>
        </p:spPr>
        <p:txBody>
          <a:bodyPr wrap="square" lIns="25400" tIns="25400" rIns="25400" bIns="25400" anchor="ctr"/>
          <a:lstStyle>
            <a:defPPr>
              <a:defRPr>
                <a:solidFill>
                  <a:srgbClr val="000000"/>
                </a:solidFill>
              </a:defRPr>
            </a:defPPr>
          </a:lstStyle>
          <a:p>
            <a:pPr marL="0" indent="0" algn="ctr">
              <a:buNone/>
            </a:pPr>
            <a:r>
              <a:rPr sz="1250" b="1">
                <a:solidFill>
                  <a:srgbClr val="000000"/>
                </a:solidFill>
                <a:latin typeface="Malgun Gothic"/>
                <a:ea typeface="Malgun Gothic"/>
                <a:cs typeface="Malgun Gothic"/>
              </a:rPr>
              <a:t>기능 1 · 개발</a:t>
            </a:r>
            <a:endParaRPr sz="1250"/>
          </a:p>
        </p:txBody>
      </p:sp>
      <p:sp>
        <p:nvSpPr>
          <p:cNvPr id="8" name="Shape 5">
            <a:extLst>
              <a:ext uri="{FF2B5EF4-FFF2-40B4-BE49-F238E27FC236}">
                <a16:creationId xmlns:a16="http://schemas.microsoft.com/office/drawing/2014/main" id="{F68A1883-A98D-4BCD-AE79-89F0A42FB7C6}"/>
              </a:ext>
            </a:extLst>
          </p:cNvPr>
          <p:cNvSpPr>
            <a:spLocks noGrp="1"/>
          </p:cNvSpPr>
          <p:nvPr/>
        </p:nvSpPr>
        <p:spPr>
          <a:xfrm>
            <a:off x="4064279" y="2519474"/>
            <a:ext cx="853821" cy="1038246"/>
          </a:xfrm>
          <a:prstGeom prst="rect">
            <a:avLst/>
          </a:prstGeom>
          <a:ln w="31750">
            <a:solidFill>
              <a:srgbClr val="E02B2B"/>
            </a:solidFill>
            <a:prstDash val="solid"/>
          </a:ln>
        </p:spPr>
        <p:txBody>
          <a:bodyPr/>
          <a:lstStyle/>
          <a:p>
            <a:endParaRPr/>
          </a:p>
        </p:txBody>
      </p:sp>
      <p:sp>
        <p:nvSpPr>
          <p:cNvPr id="9" name="Text 6">
            <a:extLst>
              <a:ext uri="{FF2B5EF4-FFF2-40B4-BE49-F238E27FC236}">
                <a16:creationId xmlns:a16="http://schemas.microsoft.com/office/drawing/2014/main" id="{42F63377-79EF-4365-8CFE-4FB0184BC433}"/>
              </a:ext>
            </a:extLst>
          </p:cNvPr>
          <p:cNvSpPr>
            <a:spLocks noGrp="1"/>
          </p:cNvSpPr>
          <p:nvPr/>
        </p:nvSpPr>
        <p:spPr>
          <a:xfrm>
            <a:off x="3698519" y="3585042"/>
            <a:ext cx="1600200" cy="274320"/>
          </a:xfrm>
          <a:prstGeom prst="rect">
            <a:avLst/>
          </a:prstGeom>
          <a:solidFill>
            <a:srgbClr val="FFFFFF"/>
          </a:solidFill>
        </p:spPr>
        <p:txBody>
          <a:bodyPr wrap="square" lIns="25400" tIns="25400" rIns="25400" bIns="25400" anchor="ctr"/>
          <a:lstStyle>
            <a:defPPr>
              <a:defRPr>
                <a:solidFill>
                  <a:srgbClr val="000000"/>
                </a:solidFill>
              </a:defRPr>
            </a:defPPr>
          </a:lstStyle>
          <a:p>
            <a:pPr marL="0" indent="0" algn="ctr">
              <a:buNone/>
            </a:pPr>
            <a:r>
              <a:rPr sz="1250" b="1">
                <a:solidFill>
                  <a:srgbClr val="000000"/>
                </a:solidFill>
                <a:latin typeface="Malgun Gothic"/>
                <a:ea typeface="Malgun Gothic"/>
                <a:cs typeface="Malgun Gothic"/>
              </a:rPr>
              <a:t>기능 2 · 보안</a:t>
            </a:r>
            <a:endParaRPr sz="1250"/>
          </a:p>
        </p:txBody>
      </p:sp>
      <p:sp>
        <p:nvSpPr>
          <p:cNvPr id="10" name="Shape 7">
            <a:extLst>
              <a:ext uri="{FF2B5EF4-FFF2-40B4-BE49-F238E27FC236}">
                <a16:creationId xmlns:a16="http://schemas.microsoft.com/office/drawing/2014/main" id="{9A5ED6A8-CDAE-4931-8696-C296B5BE7B1D}"/>
              </a:ext>
            </a:extLst>
          </p:cNvPr>
          <p:cNvSpPr>
            <a:spLocks noGrp="1"/>
          </p:cNvSpPr>
          <p:nvPr/>
        </p:nvSpPr>
        <p:spPr>
          <a:xfrm>
            <a:off x="5368918" y="1757865"/>
            <a:ext cx="2469250" cy="1888652"/>
          </a:xfrm>
          <a:prstGeom prst="rect">
            <a:avLst/>
          </a:prstGeom>
          <a:ln w="31750">
            <a:solidFill>
              <a:srgbClr val="E02B2B"/>
            </a:solidFill>
            <a:prstDash val="solid"/>
          </a:ln>
        </p:spPr>
        <p:txBody>
          <a:bodyPr/>
          <a:lstStyle/>
          <a:p>
            <a:endParaRPr/>
          </a:p>
        </p:txBody>
      </p:sp>
      <p:sp>
        <p:nvSpPr>
          <p:cNvPr id="11" name="Text 8">
            <a:extLst>
              <a:ext uri="{FF2B5EF4-FFF2-40B4-BE49-F238E27FC236}">
                <a16:creationId xmlns:a16="http://schemas.microsoft.com/office/drawing/2014/main" id="{5E01C418-9DFB-4E74-888E-FC1F30B11652}"/>
              </a:ext>
            </a:extLst>
          </p:cNvPr>
          <p:cNvSpPr>
            <a:spLocks noGrp="1"/>
          </p:cNvSpPr>
          <p:nvPr/>
        </p:nvSpPr>
        <p:spPr>
          <a:xfrm>
            <a:off x="5368918" y="1428681"/>
            <a:ext cx="1600200" cy="274320"/>
          </a:xfrm>
          <a:prstGeom prst="rect">
            <a:avLst/>
          </a:prstGeom>
          <a:solidFill>
            <a:srgbClr val="FFFFFF"/>
          </a:solidFill>
        </p:spPr>
        <p:txBody>
          <a:bodyPr wrap="square" lIns="25400" tIns="25400" rIns="25400" bIns="25400" anchor="ctr"/>
          <a:lstStyle>
            <a:defPPr>
              <a:defRPr>
                <a:solidFill>
                  <a:srgbClr val="000000"/>
                </a:solidFill>
              </a:defRPr>
            </a:defPPr>
          </a:lstStyle>
          <a:p>
            <a:pPr marL="0" indent="0" algn="ctr">
              <a:buNone/>
            </a:pPr>
            <a:r>
              <a:rPr sz="1250" b="1">
                <a:solidFill>
                  <a:srgbClr val="000000"/>
                </a:solidFill>
                <a:latin typeface="Malgun Gothic"/>
                <a:ea typeface="Malgun Gothic"/>
                <a:cs typeface="Malgun Gothic"/>
              </a:rPr>
              <a:t>기능 3 · 배포·운영</a:t>
            </a:r>
            <a:endParaRPr sz="1250"/>
          </a:p>
        </p:txBody>
      </p:sp>
      <p:sp>
        <p:nvSpPr>
          <p:cNvPr id="25" name="Slide Number Placeholder 0">
            <a:extLst>
              <a:ext uri="{FF2B5EF4-FFF2-40B4-BE49-F238E27FC236}">
                <a16:creationId xmlns:a16="http://schemas.microsoft.com/office/drawing/2014/main" id="{11013080-B209-4F08-9CEA-AA6FD01BA609}"/>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30394428-F1DC-E5F6-DB0C-7DE31F3D8A23}" type="slidenum">
              <a:rPr sz="900" b="1">
                <a:solidFill>
                  <a:srgbClr val="2B7FD4"/>
                </a:solidFill>
                <a:latin typeface="Malgun Gothic"/>
                <a:ea typeface="Malgun Gothic"/>
                <a:cs typeface="Malgun Gothic"/>
              </a:rPr>
              <a:t>11</a:t>
            </a:fld>
            <a:endParaRPr/>
          </a:p>
        </p:txBody>
      </p:sp>
    </p:spTree>
    <p:extLst>
      <p:ext uri="{BB962C8B-B14F-4D97-AF65-F5344CB8AC3E}">
        <p14:creationId xmlns:p14="http://schemas.microsoft.com/office/powerpoint/2010/main" val="520620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730F413-E8D1-47D7-BB8C-E8E0AB0BFE86}"/>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시스템</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아키텍처</a:t>
            </a:r>
            <a:r>
              <a:rPr sz="2000" b="1" dirty="0">
                <a:solidFill>
                  <a:srgbClr val="000000"/>
                </a:solidFill>
                <a:latin typeface="Malgun Gothic"/>
                <a:ea typeface="Malgun Gothic"/>
                <a:cs typeface="Malgun Gothic"/>
              </a:rPr>
              <a:t> : </a:t>
            </a:r>
            <a:r>
              <a:rPr sz="2000" b="1" dirty="0" err="1">
                <a:solidFill>
                  <a:srgbClr val="000000"/>
                </a:solidFill>
                <a:latin typeface="Malgun Gothic"/>
                <a:ea typeface="Malgun Gothic"/>
                <a:cs typeface="Malgun Gothic"/>
              </a:rPr>
              <a:t>로컬</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핵심</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구성</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확대</a:t>
            </a:r>
            <a:endParaRPr sz="2000" dirty="0">
              <a:solidFill>
                <a:schemeClr val="tx1"/>
              </a:solidFill>
            </a:endParaRPr>
          </a:p>
        </p:txBody>
      </p:sp>
      <p:sp>
        <p:nvSpPr>
          <p:cNvPr id="3" name="Text 0">
            <a:extLst>
              <a:ext uri="{FF2B5EF4-FFF2-40B4-BE49-F238E27FC236}">
                <a16:creationId xmlns:a16="http://schemas.microsoft.com/office/drawing/2014/main" id="{D4E384AC-A26F-4EC0-A820-8651C02FD8D2}"/>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A87A0C49-39AB-4FE3-9F54-ABCBC1538A6A}"/>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lang="ko-KR" altLang="en-US"/>
          </a:p>
        </p:txBody>
      </p:sp>
      <p:pic>
        <p:nvPicPr>
          <p:cNvPr id="5" name="Image 0">
            <a:extLst>
              <a:ext uri="{FF2B5EF4-FFF2-40B4-BE49-F238E27FC236}">
                <a16:creationId xmlns:a16="http://schemas.microsoft.com/office/drawing/2014/main" id="{36C71C29-1725-4F57-AED7-E27418F88B15}"/>
              </a:ext>
            </a:extLst>
          </p:cNvPr>
          <p:cNvPicPr>
            <a:picLocks noChangeAspect="1"/>
          </p:cNvPicPr>
          <p:nvPr/>
        </p:nvPicPr>
        <p:blipFill>
          <a:blip r:embed="rId3"/>
          <a:stretch>
            <a:fillRect/>
          </a:stretch>
        </p:blipFill>
        <p:spPr>
          <a:xfrm>
            <a:off x="1161288" y="886968"/>
            <a:ext cx="6830568" cy="3840480"/>
          </a:xfrm>
          <a:prstGeom prst="rect">
            <a:avLst/>
          </a:prstGeom>
        </p:spPr>
      </p:pic>
      <p:sp>
        <p:nvSpPr>
          <p:cNvPr id="6" name="Shape 3">
            <a:extLst>
              <a:ext uri="{FF2B5EF4-FFF2-40B4-BE49-F238E27FC236}">
                <a16:creationId xmlns:a16="http://schemas.microsoft.com/office/drawing/2014/main" id="{2EE1F17E-F465-49C7-8772-7A3182E70922}"/>
              </a:ext>
            </a:extLst>
          </p:cNvPr>
          <p:cNvSpPr>
            <a:spLocks noGrp="1"/>
          </p:cNvSpPr>
          <p:nvPr/>
        </p:nvSpPr>
        <p:spPr>
          <a:xfrm>
            <a:off x="493776" y="1754886"/>
            <a:ext cx="5504688" cy="2241423"/>
          </a:xfrm>
          <a:prstGeom prst="rect">
            <a:avLst/>
          </a:prstGeom>
          <a:solidFill>
            <a:srgbClr val="FFFFFF"/>
          </a:solidFill>
          <a:ln w="31750">
            <a:solidFill>
              <a:srgbClr val="E02B2B"/>
            </a:solidFill>
            <a:prstDash val="solid"/>
          </a:ln>
          <a:effectLst>
            <a:outerShdw blurRad="127000" dist="25400" dir="5400000" algn="bl" rotWithShape="0">
              <a:srgbClr val="000000">
                <a:alpha val="10000"/>
              </a:srgbClr>
            </a:outerShdw>
          </a:effectLst>
        </p:spPr>
        <p:txBody>
          <a:bodyPr/>
          <a:lstStyle/>
          <a:p>
            <a:endParaRPr lang="ko-KR" altLang="en-US"/>
          </a:p>
        </p:txBody>
      </p:sp>
      <p:sp>
        <p:nvSpPr>
          <p:cNvPr id="8" name="Shape 4">
            <a:extLst>
              <a:ext uri="{FF2B5EF4-FFF2-40B4-BE49-F238E27FC236}">
                <a16:creationId xmlns:a16="http://schemas.microsoft.com/office/drawing/2014/main" id="{CC69E1F8-67DD-41C4-8C62-195726323D1B}"/>
              </a:ext>
            </a:extLst>
          </p:cNvPr>
          <p:cNvSpPr>
            <a:spLocks noGrp="1"/>
          </p:cNvSpPr>
          <p:nvPr/>
        </p:nvSpPr>
        <p:spPr>
          <a:xfrm>
            <a:off x="6217920" y="1097280"/>
            <a:ext cx="2423160" cy="3383280"/>
          </a:xfrm>
          <a:prstGeom prst="roundRect">
            <a:avLst>
              <a:gd name="adj" fmla="val 4528"/>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9" name="Shape 5">
            <a:extLst>
              <a:ext uri="{FF2B5EF4-FFF2-40B4-BE49-F238E27FC236}">
                <a16:creationId xmlns:a16="http://schemas.microsoft.com/office/drawing/2014/main" id="{AD76A3A9-DFCD-417B-B936-7E0C3E1B33D0}"/>
              </a:ext>
            </a:extLst>
          </p:cNvPr>
          <p:cNvSpPr>
            <a:spLocks noGrp="1"/>
          </p:cNvSpPr>
          <p:nvPr/>
        </p:nvSpPr>
        <p:spPr>
          <a:xfrm>
            <a:off x="6400800" y="1298448"/>
            <a:ext cx="1508760" cy="310896"/>
          </a:xfrm>
          <a:prstGeom prst="roundRect">
            <a:avLst>
              <a:gd name="adj" fmla="val 50000"/>
            </a:avLst>
          </a:prstGeom>
          <a:solidFill>
            <a:srgbClr val="E02B2B"/>
          </a:solidFill>
        </p:spPr>
        <p:txBody>
          <a:bodyPr/>
          <a:lstStyle/>
          <a:p>
            <a:endParaRPr lang="ko-KR" altLang="en-US"/>
          </a:p>
        </p:txBody>
      </p:sp>
      <p:sp>
        <p:nvSpPr>
          <p:cNvPr id="10" name="Text 6">
            <a:extLst>
              <a:ext uri="{FF2B5EF4-FFF2-40B4-BE49-F238E27FC236}">
                <a16:creationId xmlns:a16="http://schemas.microsoft.com/office/drawing/2014/main" id="{4BB4B6CE-BA60-40AC-8074-7172E81F978B}"/>
              </a:ext>
            </a:extLst>
          </p:cNvPr>
          <p:cNvSpPr>
            <a:spLocks noGrp="1"/>
          </p:cNvSpPr>
          <p:nvPr/>
        </p:nvSpPr>
        <p:spPr>
          <a:xfrm>
            <a:off x="6400800" y="1298448"/>
            <a:ext cx="1508760" cy="310896"/>
          </a:xfrm>
          <a:prstGeom prst="rect">
            <a:avLst/>
          </a:prstGeom>
          <a:noFill/>
        </p:spPr>
        <p:txBody>
          <a:bodyPr wrap="square" lIns="0" tIns="0" rIns="0" bIns="0" anchor="ctr"/>
          <a:lstStyle/>
          <a:p>
            <a:pPr marL="0" indent="0" algn="ctr">
              <a:buNone/>
            </a:pPr>
            <a:r>
              <a:rPr sz="1050" b="1">
                <a:solidFill>
                  <a:srgbClr val="FFFFFF"/>
                </a:solidFill>
                <a:latin typeface="Malgun Gothic"/>
                <a:ea typeface="Malgun Gothic"/>
                <a:cs typeface="Malgun Gothic"/>
              </a:rPr>
              <a:t>로컬 핵심 구성</a:t>
            </a:r>
            <a:endParaRPr sz="1050"/>
          </a:p>
        </p:txBody>
      </p:sp>
      <p:sp>
        <p:nvSpPr>
          <p:cNvPr id="11" name="Text 7">
            <a:extLst>
              <a:ext uri="{FF2B5EF4-FFF2-40B4-BE49-F238E27FC236}">
                <a16:creationId xmlns:a16="http://schemas.microsoft.com/office/drawing/2014/main" id="{99950E30-EC73-4B46-A5C4-BD3080F04357}"/>
              </a:ext>
            </a:extLst>
          </p:cNvPr>
          <p:cNvSpPr>
            <a:spLocks noGrp="1"/>
          </p:cNvSpPr>
          <p:nvPr/>
        </p:nvSpPr>
        <p:spPr>
          <a:xfrm>
            <a:off x="6400800" y="1737360"/>
            <a:ext cx="2148840" cy="365760"/>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1500" b="1">
                <a:solidFill>
                  <a:srgbClr val="000000"/>
                </a:solidFill>
                <a:latin typeface="Malgun Gothic"/>
                <a:ea typeface="Malgun Gothic"/>
                <a:cs typeface="Malgun Gothic"/>
              </a:rPr>
              <a:t>VS Code와 Core</a:t>
            </a:r>
            <a:endParaRPr sz="1500"/>
          </a:p>
        </p:txBody>
      </p:sp>
      <p:sp>
        <p:nvSpPr>
          <p:cNvPr id="12" name="Text 8">
            <a:extLst>
              <a:ext uri="{FF2B5EF4-FFF2-40B4-BE49-F238E27FC236}">
                <a16:creationId xmlns:a16="http://schemas.microsoft.com/office/drawing/2014/main" id="{D6B11DB4-E5FE-4168-928B-3A60711D0B02}"/>
              </a:ext>
            </a:extLst>
          </p:cNvPr>
          <p:cNvSpPr>
            <a:spLocks noGrp="1"/>
          </p:cNvSpPr>
          <p:nvPr/>
        </p:nvSpPr>
        <p:spPr>
          <a:xfrm>
            <a:off x="6400800" y="2240280"/>
            <a:ext cx="2148840" cy="2103120"/>
          </a:xfrm>
          <a:prstGeom prst="rect">
            <a:avLst/>
          </a:prstGeom>
          <a:noFill/>
        </p:spPr>
        <p:txBody>
          <a:bodyPr wrap="square" lIns="0" tIns="0" rIns="0" bIns="0" anchor="t"/>
          <a:lstStyle>
            <a:defPPr>
              <a:defRPr sz="1050"/>
            </a:defPPr>
          </a:lstStyle>
          <a:p>
            <a:pPr marL="152400" indent="-152400">
              <a:spcAft>
                <a:spcPts val="900"/>
              </a:spcAft>
              <a:buSzPct val="100000"/>
              <a:buChar char="•"/>
              <a:defRPr sz="1050"/>
            </a:pPr>
            <a:r>
              <a:rPr sz="1050">
                <a:solidFill>
                  <a:srgbClr val="333333"/>
                </a:solidFill>
                <a:latin typeface="Malgun Gothic"/>
                <a:ea typeface="Malgun Gothic"/>
                <a:cs typeface="Malgun Gothic"/>
              </a:rPr>
              <a:t>VS Code 확장에서 요청·진행 상태·승인을 관리</a:t>
            </a:r>
            <a:endParaRPr sz="1050"/>
          </a:p>
          <a:p>
            <a:pPr marL="152400" indent="-152400">
              <a:spcAft>
                <a:spcPts val="900"/>
              </a:spcAft>
              <a:buSzPct val="100000"/>
              <a:buChar char="•"/>
              <a:defRPr sz="1050"/>
            </a:pPr>
            <a:r>
              <a:rPr sz="1050">
                <a:solidFill>
                  <a:srgbClr val="333333"/>
                </a:solidFill>
                <a:latin typeface="Malgun Gothic"/>
                <a:ea typeface="Malgun Gothic"/>
                <a:cs typeface="Malgun Gothic"/>
              </a:rPr>
              <a:t>로컬 Core가 AI 호출과 검증·배포를 연결</a:t>
            </a:r>
            <a:endParaRPr sz="1050"/>
          </a:p>
          <a:p>
            <a:pPr marL="152400" indent="-152400">
              <a:spcAft>
                <a:spcPts val="900"/>
              </a:spcAft>
              <a:buSzPct val="100000"/>
              <a:buChar char="•"/>
              <a:defRPr sz="1050"/>
            </a:pPr>
            <a:r>
              <a:rPr sz="1050">
                <a:solidFill>
                  <a:srgbClr val="333333"/>
                </a:solidFill>
                <a:latin typeface="Malgun Gothic"/>
                <a:ea typeface="Malgun Gothic"/>
                <a:cs typeface="Malgun Gothic"/>
              </a:rPr>
              <a:t>Docker에서 빌드·실행과 보안 검사 수행</a:t>
            </a:r>
            <a:endParaRPr sz="1050"/>
          </a:p>
        </p:txBody>
      </p:sp>
      <p:sp>
        <p:nvSpPr>
          <p:cNvPr id="25" name="Slide Number Placeholder 0">
            <a:extLst>
              <a:ext uri="{FF2B5EF4-FFF2-40B4-BE49-F238E27FC236}">
                <a16:creationId xmlns:a16="http://schemas.microsoft.com/office/drawing/2014/main" id="{C36FD2D5-6CC1-4C0F-B0D9-D9C719D963B1}"/>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4DB16885-0D3F-A391-B669-3211DB3B26E8}" type="slidenum">
              <a:rPr sz="900" b="1">
                <a:solidFill>
                  <a:srgbClr val="2B7FD4"/>
                </a:solidFill>
                <a:latin typeface="Malgun Gothic"/>
                <a:ea typeface="Malgun Gothic"/>
                <a:cs typeface="Malgun Gothic"/>
              </a:rPr>
              <a:t>12</a:t>
            </a:fld>
            <a:endParaRPr/>
          </a:p>
        </p:txBody>
      </p:sp>
      <p:pic>
        <p:nvPicPr>
          <p:cNvPr id="26" name="그림 25">
            <a:extLst>
              <a:ext uri="{FF2B5EF4-FFF2-40B4-BE49-F238E27FC236}">
                <a16:creationId xmlns:a16="http://schemas.microsoft.com/office/drawing/2014/main" id="{7E83E975-506D-47A0-8B4C-9386132F4C36}"/>
              </a:ext>
            </a:extLst>
          </p:cNvPr>
          <p:cNvPicPr>
            <a:picLocks noChangeAspect="1"/>
          </p:cNvPicPr>
          <p:nvPr/>
        </p:nvPicPr>
        <p:blipFill>
          <a:blip r:embed="rId4"/>
          <a:srcRect l="3000" t="32500" r="38000" b="26000"/>
          <a:stretch/>
        </p:blipFill>
        <p:spPr>
          <a:xfrm>
            <a:off x="548640" y="1809750"/>
            <a:ext cx="5394960" cy="2131695"/>
          </a:xfrm>
          <a:prstGeom prst="rect">
            <a:avLst/>
          </a:prstGeom>
        </p:spPr>
      </p:pic>
    </p:spTree>
    <p:extLst>
      <p:ext uri="{BB962C8B-B14F-4D97-AF65-F5344CB8AC3E}">
        <p14:creationId xmlns:p14="http://schemas.microsoft.com/office/powerpoint/2010/main" val="1910179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10B67DF-9F8E-49DD-B02B-066F4C6BA2BC}"/>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dirty="0">
                <a:solidFill>
                  <a:srgbClr val="000000"/>
                </a:solidFill>
                <a:latin typeface="Malgun Gothic"/>
                <a:ea typeface="Malgun Gothic"/>
                <a:cs typeface="Malgun Gothic"/>
              </a:rPr>
              <a:t>|  </a:t>
            </a:r>
            <a:r>
              <a:rPr lang="ko-KR" altLang="en-US" sz="2000" b="1" dirty="0">
                <a:solidFill>
                  <a:srgbClr val="000000"/>
                </a:solidFill>
                <a:latin typeface="Malgun Gothic"/>
                <a:ea typeface="Malgun Gothic"/>
                <a:cs typeface="Malgun Gothic"/>
              </a:rPr>
              <a:t>기능 소개 </a:t>
            </a:r>
            <a:r>
              <a:rPr lang="en-US" altLang="ko-KR" sz="2000" b="1" dirty="0">
                <a:solidFill>
                  <a:srgbClr val="000000"/>
                </a:solidFill>
                <a:latin typeface="Malgun Gothic"/>
                <a:ea typeface="Malgun Gothic"/>
                <a:cs typeface="Malgun Gothic"/>
              </a:rPr>
              <a:t>:</a:t>
            </a:r>
            <a:r>
              <a:rPr lang="ko-KR" altLang="en-US" sz="2000" b="1" dirty="0">
                <a:solidFill>
                  <a:srgbClr val="000000"/>
                </a:solidFill>
                <a:latin typeface="Malgun Gothic"/>
                <a:ea typeface="Malgun Gothic"/>
                <a:cs typeface="Malgun Gothic"/>
              </a:rPr>
              <a:t> 개발</a:t>
            </a:r>
            <a:endParaRPr sz="2000" dirty="0">
              <a:solidFill>
                <a:schemeClr val="tx1"/>
              </a:solidFill>
            </a:endParaRPr>
          </a:p>
        </p:txBody>
      </p:sp>
      <p:sp>
        <p:nvSpPr>
          <p:cNvPr id="3" name="Text 0">
            <a:extLst>
              <a:ext uri="{FF2B5EF4-FFF2-40B4-BE49-F238E27FC236}">
                <a16:creationId xmlns:a16="http://schemas.microsoft.com/office/drawing/2014/main" id="{74B7AC64-B644-446D-B136-82838524F910}"/>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028F587D-84B5-40E1-8642-97DA1610F848}"/>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lang="ko-KR" altLang="en-US"/>
          </a:p>
        </p:txBody>
      </p:sp>
      <p:pic>
        <p:nvPicPr>
          <p:cNvPr id="5" name="Image 0">
            <a:extLst>
              <a:ext uri="{FF2B5EF4-FFF2-40B4-BE49-F238E27FC236}">
                <a16:creationId xmlns:a16="http://schemas.microsoft.com/office/drawing/2014/main" id="{974678B0-6349-443A-A9E5-496C7B316D74}"/>
              </a:ext>
            </a:extLst>
          </p:cNvPr>
          <p:cNvPicPr>
            <a:picLocks noChangeAspect="1"/>
          </p:cNvPicPr>
          <p:nvPr/>
        </p:nvPicPr>
        <p:blipFill>
          <a:blip r:embed="rId3"/>
          <a:stretch>
            <a:fillRect/>
          </a:stretch>
        </p:blipFill>
        <p:spPr>
          <a:xfrm>
            <a:off x="1161288" y="886968"/>
            <a:ext cx="6830568" cy="3840480"/>
          </a:xfrm>
          <a:prstGeom prst="rect">
            <a:avLst/>
          </a:prstGeom>
        </p:spPr>
      </p:pic>
      <p:sp>
        <p:nvSpPr>
          <p:cNvPr id="6" name="Shape 3">
            <a:extLst>
              <a:ext uri="{FF2B5EF4-FFF2-40B4-BE49-F238E27FC236}">
                <a16:creationId xmlns:a16="http://schemas.microsoft.com/office/drawing/2014/main" id="{73881EFF-FA74-4504-8B17-E6FB91E18BB9}"/>
              </a:ext>
            </a:extLst>
          </p:cNvPr>
          <p:cNvSpPr>
            <a:spLocks noGrp="1"/>
          </p:cNvSpPr>
          <p:nvPr/>
        </p:nvSpPr>
        <p:spPr>
          <a:xfrm>
            <a:off x="493776" y="1907286"/>
            <a:ext cx="5504688" cy="1772793"/>
          </a:xfrm>
          <a:prstGeom prst="rect">
            <a:avLst/>
          </a:prstGeom>
          <a:solidFill>
            <a:srgbClr val="FFFFFF"/>
          </a:solidFill>
          <a:ln w="31750">
            <a:solidFill>
              <a:srgbClr val="E02B2B"/>
            </a:solidFill>
            <a:prstDash val="solid"/>
          </a:ln>
          <a:effectLst>
            <a:outerShdw blurRad="127000" dist="25400" dir="5400000" algn="bl" rotWithShape="0">
              <a:srgbClr val="000000">
                <a:alpha val="10000"/>
              </a:srgbClr>
            </a:outerShdw>
          </a:effectLst>
        </p:spPr>
        <p:txBody>
          <a:bodyPr/>
          <a:lstStyle/>
          <a:p>
            <a:endParaRPr lang="ko-KR" altLang="en-US"/>
          </a:p>
        </p:txBody>
      </p:sp>
      <p:sp>
        <p:nvSpPr>
          <p:cNvPr id="8" name="Shape 4">
            <a:extLst>
              <a:ext uri="{FF2B5EF4-FFF2-40B4-BE49-F238E27FC236}">
                <a16:creationId xmlns:a16="http://schemas.microsoft.com/office/drawing/2014/main" id="{76B72C45-7044-4E58-941B-C6045073E046}"/>
              </a:ext>
            </a:extLst>
          </p:cNvPr>
          <p:cNvSpPr>
            <a:spLocks noGrp="1"/>
          </p:cNvSpPr>
          <p:nvPr/>
        </p:nvSpPr>
        <p:spPr>
          <a:xfrm>
            <a:off x="6217920" y="1097280"/>
            <a:ext cx="2423160" cy="3383280"/>
          </a:xfrm>
          <a:prstGeom prst="roundRect">
            <a:avLst>
              <a:gd name="adj" fmla="val 4528"/>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9" name="Shape 5">
            <a:extLst>
              <a:ext uri="{FF2B5EF4-FFF2-40B4-BE49-F238E27FC236}">
                <a16:creationId xmlns:a16="http://schemas.microsoft.com/office/drawing/2014/main" id="{9B9EF2B5-759A-4510-ADB6-007D93F86376}"/>
              </a:ext>
            </a:extLst>
          </p:cNvPr>
          <p:cNvSpPr>
            <a:spLocks noGrp="1"/>
          </p:cNvSpPr>
          <p:nvPr/>
        </p:nvSpPr>
        <p:spPr>
          <a:xfrm>
            <a:off x="6400800" y="1298448"/>
            <a:ext cx="1508760" cy="310896"/>
          </a:xfrm>
          <a:prstGeom prst="roundRect">
            <a:avLst>
              <a:gd name="adj" fmla="val 50000"/>
            </a:avLst>
          </a:prstGeom>
          <a:solidFill>
            <a:srgbClr val="E02B2B"/>
          </a:solidFill>
        </p:spPr>
        <p:txBody>
          <a:bodyPr/>
          <a:lstStyle/>
          <a:p>
            <a:endParaRPr lang="ko-KR" altLang="en-US"/>
          </a:p>
        </p:txBody>
      </p:sp>
      <p:sp>
        <p:nvSpPr>
          <p:cNvPr id="10" name="Text 6">
            <a:extLst>
              <a:ext uri="{FF2B5EF4-FFF2-40B4-BE49-F238E27FC236}">
                <a16:creationId xmlns:a16="http://schemas.microsoft.com/office/drawing/2014/main" id="{8E914021-F367-48C0-A3E4-74A5A8FA5872}"/>
              </a:ext>
            </a:extLst>
          </p:cNvPr>
          <p:cNvSpPr>
            <a:spLocks noGrp="1"/>
          </p:cNvSpPr>
          <p:nvPr/>
        </p:nvSpPr>
        <p:spPr>
          <a:xfrm>
            <a:off x="6400800" y="1298448"/>
            <a:ext cx="1508760" cy="310896"/>
          </a:xfrm>
          <a:prstGeom prst="rect">
            <a:avLst/>
          </a:prstGeom>
          <a:noFill/>
        </p:spPr>
        <p:txBody>
          <a:bodyPr wrap="square" lIns="0" tIns="0" rIns="0" bIns="0" anchor="ctr"/>
          <a:lstStyle/>
          <a:p>
            <a:pPr marL="0" indent="0" algn="ctr">
              <a:buNone/>
            </a:pPr>
            <a:r>
              <a:rPr sz="1050" b="1">
                <a:solidFill>
                  <a:srgbClr val="FFFFFF"/>
                </a:solidFill>
                <a:latin typeface="Malgun Gothic"/>
                <a:ea typeface="Malgun Gothic"/>
                <a:cs typeface="Malgun Gothic"/>
              </a:rPr>
              <a:t>기능 1 · 개발</a:t>
            </a:r>
            <a:endParaRPr sz="1050"/>
          </a:p>
        </p:txBody>
      </p:sp>
      <p:sp>
        <p:nvSpPr>
          <p:cNvPr id="11" name="Text 7">
            <a:extLst>
              <a:ext uri="{FF2B5EF4-FFF2-40B4-BE49-F238E27FC236}">
                <a16:creationId xmlns:a16="http://schemas.microsoft.com/office/drawing/2014/main" id="{A02841C3-7F9C-478C-8169-58128CE52092}"/>
              </a:ext>
            </a:extLst>
          </p:cNvPr>
          <p:cNvSpPr>
            <a:spLocks noGrp="1"/>
          </p:cNvSpPr>
          <p:nvPr/>
        </p:nvSpPr>
        <p:spPr>
          <a:xfrm>
            <a:off x="6400800" y="1737360"/>
            <a:ext cx="2148840" cy="365760"/>
          </a:xfrm>
          <a:prstGeom prst="rect">
            <a:avLst/>
          </a:prstGeom>
          <a:noFill/>
        </p:spPr>
        <p:txBody>
          <a:bodyPr wrap="square" lIns="0" tIns="0" rIns="0" bIns="0" anchor="t"/>
          <a:lstStyle>
            <a:defPPr>
              <a:defRPr>
                <a:solidFill>
                  <a:srgbClr val="000000"/>
                </a:solidFill>
              </a:defRPr>
            </a:defPPr>
          </a:lstStyle>
          <a:p>
            <a:pPr marL="0" indent="0">
              <a:buNone/>
            </a:pPr>
            <a:r>
              <a:rPr sz="1500" b="1">
                <a:solidFill>
                  <a:srgbClr val="000000"/>
                </a:solidFill>
                <a:latin typeface="Malgun Gothic"/>
                <a:ea typeface="Malgun Gothic"/>
                <a:cs typeface="Malgun Gothic"/>
              </a:rPr>
              <a:t>AI 모델 계층</a:t>
            </a:r>
            <a:endParaRPr sz="1500"/>
          </a:p>
        </p:txBody>
      </p:sp>
      <p:sp>
        <p:nvSpPr>
          <p:cNvPr id="12" name="Text 8">
            <a:extLst>
              <a:ext uri="{FF2B5EF4-FFF2-40B4-BE49-F238E27FC236}">
                <a16:creationId xmlns:a16="http://schemas.microsoft.com/office/drawing/2014/main" id="{5DCC3F21-3954-412B-8455-D38B203E67B1}"/>
              </a:ext>
            </a:extLst>
          </p:cNvPr>
          <p:cNvSpPr>
            <a:spLocks noGrp="1"/>
          </p:cNvSpPr>
          <p:nvPr/>
        </p:nvSpPr>
        <p:spPr>
          <a:xfrm>
            <a:off x="6400800" y="2240280"/>
            <a:ext cx="2148840" cy="2103120"/>
          </a:xfrm>
          <a:prstGeom prst="rect">
            <a:avLst/>
          </a:prstGeom>
          <a:noFill/>
        </p:spPr>
        <p:txBody>
          <a:bodyPr wrap="square" lIns="0" tIns="0" rIns="0" bIns="0" anchor="t"/>
          <a:lstStyle/>
          <a:p>
            <a:pPr marL="152400" indent="-152400">
              <a:spcAft>
                <a:spcPts val="900"/>
              </a:spcAft>
              <a:buSzPct val="100000"/>
              <a:buChar char="•"/>
            </a:pPr>
            <a:r>
              <a:rPr sz="1050">
                <a:solidFill>
                  <a:srgbClr val="333333"/>
                </a:solidFill>
                <a:latin typeface="Malgun Gothic"/>
                <a:ea typeface="Malgun Gothic"/>
                <a:cs typeface="Malgun Gothic"/>
              </a:rPr>
              <a:t>설계 결정 카드와 코드 생성에 AI 모델을 사용</a:t>
            </a:r>
            <a:endParaRPr sz="1050"/>
          </a:p>
          <a:p>
            <a:pPr marL="152400" indent="-152400">
              <a:spcAft>
                <a:spcPts val="900"/>
              </a:spcAft>
              <a:buSzPct val="100000"/>
              <a:buChar char="•"/>
            </a:pPr>
            <a:r>
              <a:rPr sz="1050">
                <a:solidFill>
                  <a:srgbClr val="333333"/>
                </a:solidFill>
                <a:latin typeface="Malgun Gothic"/>
                <a:ea typeface="Malgun Gothic"/>
                <a:cs typeface="Malgun Gothic"/>
              </a:rPr>
              <a:t>Amazon Bedrock · ReCoder Gateway · Claude API · OpenAI API 중 하나를 연결</a:t>
            </a:r>
            <a:endParaRPr sz="1050"/>
          </a:p>
          <a:p>
            <a:pPr marL="152400" indent="-152400">
              <a:spcAft>
                <a:spcPts val="900"/>
              </a:spcAft>
              <a:buSzPct val="100000"/>
              <a:buChar char="•"/>
            </a:pPr>
            <a:r>
              <a:rPr sz="1050">
                <a:solidFill>
                  <a:srgbClr val="333333"/>
                </a:solidFill>
                <a:latin typeface="Malgun Gothic"/>
                <a:ea typeface="Malgun Gothic"/>
                <a:cs typeface="Malgun Gothic"/>
              </a:rPr>
              <a:t>학생은 ReCoder Gateway로 키 없이 사용</a:t>
            </a:r>
            <a:endParaRPr sz="1050"/>
          </a:p>
        </p:txBody>
      </p:sp>
      <p:sp>
        <p:nvSpPr>
          <p:cNvPr id="25" name="Slide Number Placeholder 0">
            <a:extLst>
              <a:ext uri="{FF2B5EF4-FFF2-40B4-BE49-F238E27FC236}">
                <a16:creationId xmlns:a16="http://schemas.microsoft.com/office/drawing/2014/main" id="{25CDEB7F-54B0-4E62-B024-F42974238C5E}"/>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2DD23107-4986-8758-3A93-3D74F35908CC}" type="slidenum">
              <a:rPr sz="900" b="1">
                <a:solidFill>
                  <a:srgbClr val="2B7FD4"/>
                </a:solidFill>
                <a:latin typeface="Malgun Gothic"/>
                <a:ea typeface="Malgun Gothic"/>
                <a:cs typeface="Malgun Gothic"/>
              </a:rPr>
              <a:t>13</a:t>
            </a:fld>
            <a:endParaRPr/>
          </a:p>
        </p:txBody>
      </p:sp>
      <p:pic>
        <p:nvPicPr>
          <p:cNvPr id="26" name="그림 25">
            <a:extLst>
              <a:ext uri="{FF2B5EF4-FFF2-40B4-BE49-F238E27FC236}">
                <a16:creationId xmlns:a16="http://schemas.microsoft.com/office/drawing/2014/main" id="{FA3A35BD-73F3-482D-B021-0E1D2B92D6A9}"/>
              </a:ext>
            </a:extLst>
          </p:cNvPr>
          <p:cNvPicPr>
            <a:picLocks noChangeAspect="1"/>
          </p:cNvPicPr>
          <p:nvPr/>
        </p:nvPicPr>
        <p:blipFill>
          <a:blip r:embed="rId4"/>
          <a:srcRect l="16500" t="12300" r="46100" b="67200"/>
          <a:stretch/>
        </p:blipFill>
        <p:spPr>
          <a:xfrm>
            <a:off x="548640" y="1962150"/>
            <a:ext cx="5394960" cy="1663065"/>
          </a:xfrm>
          <a:prstGeom prst="rect">
            <a:avLst/>
          </a:prstGeom>
        </p:spPr>
      </p:pic>
    </p:spTree>
    <p:extLst>
      <p:ext uri="{BB962C8B-B14F-4D97-AF65-F5344CB8AC3E}">
        <p14:creationId xmlns:p14="http://schemas.microsoft.com/office/powerpoint/2010/main" val="359328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BD3A6D7-524E-485C-9F69-19C02FC475CC}"/>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a:defRPr sz="2000" b="1">
                <a:solidFill>
                  <a:srgbClr val="000000"/>
                </a:solidFill>
                <a:latin typeface="Malgun Gothic"/>
                <a:ea typeface="Malgun Gothic"/>
                <a:cs typeface="Malgun Gothic"/>
              </a:defRPr>
            </a:pPr>
            <a:r>
              <a:rPr lang="en-US" altLang="ko-KR" dirty="0">
                <a:solidFill>
                  <a:schemeClr val="tx1"/>
                </a:solidFill>
                <a:latin typeface="Malgun Gothic" pitchFamily="34" charset="0"/>
                <a:ea typeface="Malgun Gothic" pitchFamily="34" charset="-122"/>
                <a:cs typeface="Malgun Gothic" pitchFamily="34" charset="-120"/>
              </a:rPr>
              <a:t>| </a:t>
            </a:r>
            <a:r>
              <a:rPr lang="ko-KR" altLang="en-US" dirty="0">
                <a:solidFill>
                  <a:schemeClr val="tx1"/>
                </a:solidFill>
                <a:latin typeface="Malgun Gothic" pitchFamily="34" charset="0"/>
                <a:ea typeface="Malgun Gothic" pitchFamily="34" charset="-122"/>
                <a:cs typeface="Malgun Gothic" pitchFamily="34" charset="-120"/>
              </a:rPr>
              <a:t> </a:t>
            </a:r>
            <a:r>
              <a:rPr lang="en-US" altLang="ko-KR" dirty="0">
                <a:solidFill>
                  <a:srgbClr val="333333"/>
                </a:solidFill>
                <a:latin typeface="Malgun Gothic" pitchFamily="34" charset="0"/>
                <a:ea typeface="Malgun Gothic" pitchFamily="34" charset="-122"/>
                <a:cs typeface="Malgun Gothic" pitchFamily="34" charset="-120"/>
              </a:rPr>
              <a:t>Step 1. </a:t>
            </a:r>
            <a:r>
              <a:rPr lang="en-US" altLang="ko-KR" dirty="0" err="1">
                <a:solidFill>
                  <a:srgbClr val="333333"/>
                </a:solidFill>
                <a:latin typeface="Malgun Gothic" pitchFamily="34" charset="0"/>
                <a:ea typeface="Malgun Gothic" pitchFamily="34" charset="-122"/>
                <a:cs typeface="Malgun Gothic" pitchFamily="34" charset="-120"/>
              </a:rPr>
              <a:t>설계</a:t>
            </a:r>
            <a:r>
              <a:rPr lang="en-US" altLang="ko-KR" dirty="0">
                <a:solidFill>
                  <a:srgbClr val="333333"/>
                </a:solidFill>
                <a:latin typeface="Malgun Gothic" pitchFamily="34" charset="0"/>
                <a:ea typeface="Malgun Gothic" pitchFamily="34" charset="-122"/>
                <a:cs typeface="Malgun Gothic" pitchFamily="34" charset="-120"/>
              </a:rPr>
              <a:t> </a:t>
            </a:r>
            <a:r>
              <a:rPr lang="en-US" altLang="ko-KR" dirty="0" err="1">
                <a:solidFill>
                  <a:srgbClr val="333333"/>
                </a:solidFill>
                <a:latin typeface="Malgun Gothic" pitchFamily="34" charset="0"/>
                <a:ea typeface="Malgun Gothic" pitchFamily="34" charset="-122"/>
                <a:cs typeface="Malgun Gothic" pitchFamily="34" charset="-120"/>
              </a:rPr>
              <a:t>결정</a:t>
            </a:r>
            <a:r>
              <a:rPr lang="en-US" altLang="ko-KR" dirty="0">
                <a:solidFill>
                  <a:srgbClr val="333333"/>
                </a:solidFill>
                <a:latin typeface="Malgun Gothic" pitchFamily="34" charset="0"/>
                <a:ea typeface="Malgun Gothic" pitchFamily="34" charset="-122"/>
                <a:cs typeface="Malgun Gothic" pitchFamily="34" charset="-120"/>
              </a:rPr>
              <a:t> </a:t>
            </a:r>
            <a:r>
              <a:rPr lang="en-US" altLang="ko-KR" dirty="0" err="1">
                <a:solidFill>
                  <a:srgbClr val="333333"/>
                </a:solidFill>
                <a:latin typeface="Malgun Gothic" pitchFamily="34" charset="0"/>
                <a:ea typeface="Malgun Gothic" pitchFamily="34" charset="-122"/>
                <a:cs typeface="Malgun Gothic" pitchFamily="34" charset="-120"/>
              </a:rPr>
              <a:t>카드</a:t>
            </a:r>
            <a:r>
              <a:rPr lang="en-US" altLang="ko-KR" dirty="0">
                <a:solidFill>
                  <a:srgbClr val="333333"/>
                </a:solidFill>
                <a:latin typeface="Malgun Gothic" pitchFamily="34" charset="0"/>
                <a:ea typeface="Malgun Gothic" pitchFamily="34" charset="-122"/>
                <a:cs typeface="Malgun Gothic" pitchFamily="34" charset="-120"/>
              </a:rPr>
              <a:t> </a:t>
            </a:r>
            <a:r>
              <a:rPr lang="en-US" altLang="ko-KR" dirty="0" err="1">
                <a:solidFill>
                  <a:srgbClr val="333333"/>
                </a:solidFill>
                <a:latin typeface="Malgun Gothic" pitchFamily="34" charset="0"/>
                <a:ea typeface="Malgun Gothic" pitchFamily="34" charset="-122"/>
                <a:cs typeface="Malgun Gothic" pitchFamily="34" charset="-120"/>
              </a:rPr>
              <a:t>선택</a:t>
            </a:r>
            <a:endParaRPr sz="2000" b="0" dirty="0"/>
          </a:p>
        </p:txBody>
      </p:sp>
      <p:sp>
        <p:nvSpPr>
          <p:cNvPr id="3" name="Text 0">
            <a:extLst>
              <a:ext uri="{FF2B5EF4-FFF2-40B4-BE49-F238E27FC236}">
                <a16:creationId xmlns:a16="http://schemas.microsoft.com/office/drawing/2014/main" id="{0F3A6C95-E242-44DF-BAC2-47BDD872746F}"/>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D08F39B3-DF57-44B3-8FB1-16E7270835CE}"/>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a:p>
        </p:txBody>
      </p:sp>
      <p:sp>
        <p:nvSpPr>
          <p:cNvPr id="27" name="Design Card Frame"/>
          <p:cNvSpPr/>
          <p:nvPr/>
        </p:nvSpPr>
        <p:spPr>
          <a:xfrm>
            <a:off x="548640" y="1828800"/>
            <a:ext cx="3886200" cy="2624328"/>
          </a:xfrm>
          <a:prstGeom prst="rect">
            <a:avLst/>
          </a:prstGeom>
          <a:solidFill>
            <a:srgbClr val="060606"/>
          </a:solidFill>
          <a:ln>
            <a:noFill/>
          </a:ln>
        </p:spPr>
        <p:txBody>
          <a:bodyPr rtlCol="0" anchor="ctr"/>
          <a:lstStyle/>
          <a:p>
            <a:pPr algn="ctr"/>
            <a:endParaRPr/>
          </a:p>
        </p:txBody>
      </p:sp>
      <p:pic>
        <p:nvPicPr>
          <p:cNvPr id="28" name="Design Card" descr="설계 결정 카드 화면"/>
          <p:cNvPicPr>
            <a:picLocks noChangeAspect="1"/>
          </p:cNvPicPr>
          <p:nvPr/>
        </p:nvPicPr>
        <p:blipFill>
          <a:blip r:embed="rId3"/>
          <a:stretch>
            <a:fillRect/>
          </a:stretch>
        </p:blipFill>
        <p:spPr>
          <a:xfrm>
            <a:off x="673126" y="1828800"/>
            <a:ext cx="3637226" cy="2624328"/>
          </a:xfrm>
          <a:prstGeom prst="rect">
            <a:avLst/>
          </a:prstGeom>
        </p:spPr>
      </p:pic>
      <p:sp>
        <p:nvSpPr>
          <p:cNvPr id="29" name="ADR Record Frame"/>
          <p:cNvSpPr/>
          <p:nvPr/>
        </p:nvSpPr>
        <p:spPr>
          <a:xfrm>
            <a:off x="4709160" y="1828800"/>
            <a:ext cx="3886200" cy="2624328"/>
          </a:xfrm>
          <a:prstGeom prst="rect">
            <a:avLst/>
          </a:prstGeom>
          <a:solidFill>
            <a:srgbClr val="121114"/>
          </a:solidFill>
          <a:ln>
            <a:noFill/>
          </a:ln>
        </p:spPr>
        <p:txBody>
          <a:bodyPr rtlCol="0" anchor="ctr"/>
          <a:lstStyle/>
          <a:p>
            <a:pPr algn="ctr"/>
            <a:endParaRPr/>
          </a:p>
        </p:txBody>
      </p:sp>
      <p:pic>
        <p:nvPicPr>
          <p:cNvPr id="30" name="ADR Record" descr="ADR 설계 기록 화면"/>
          <p:cNvPicPr>
            <a:picLocks noChangeAspect="1"/>
          </p:cNvPicPr>
          <p:nvPr/>
        </p:nvPicPr>
        <p:blipFill>
          <a:blip r:embed="rId4"/>
          <a:srcRect r="45136"/>
          <a:stretch>
            <a:fillRect/>
          </a:stretch>
        </p:blipFill>
        <p:spPr>
          <a:xfrm>
            <a:off x="4709160" y="1828800"/>
            <a:ext cx="3886200" cy="2624328"/>
          </a:xfrm>
          <a:prstGeom prst="rect">
            <a:avLst/>
          </a:prstGeom>
        </p:spPr>
      </p:pic>
      <p:sp>
        <p:nvSpPr>
          <p:cNvPr id="5" name="Text 3">
            <a:extLst>
              <a:ext uri="{FF2B5EF4-FFF2-40B4-BE49-F238E27FC236}">
                <a16:creationId xmlns:a16="http://schemas.microsoft.com/office/drawing/2014/main" id="{DFBB8803-A279-4C0A-BB48-BDCECDC32563}"/>
              </a:ext>
            </a:extLst>
          </p:cNvPr>
          <p:cNvSpPr>
            <a:spLocks noGrp="1"/>
          </p:cNvSpPr>
          <p:nvPr/>
        </p:nvSpPr>
        <p:spPr>
          <a:xfrm>
            <a:off x="548640" y="914400"/>
            <a:ext cx="5852160" cy="411480"/>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1700" b="1" dirty="0" err="1">
                <a:solidFill>
                  <a:srgbClr val="000000"/>
                </a:solidFill>
                <a:latin typeface="Malgun Gothic"/>
                <a:ea typeface="Malgun Gothic"/>
                <a:cs typeface="Malgun Gothic"/>
              </a:rPr>
              <a:t>코드 생성 전에 설계를 고르고 근거를 기록</a:t>
            </a:r>
            <a:endParaRPr sz="1700" b="1" dirty="0"/>
          </a:p>
        </p:txBody>
      </p:sp>
      <p:sp>
        <p:nvSpPr>
          <p:cNvPr id="11" name="Text 6">
            <a:extLst>
              <a:ext uri="{FF2B5EF4-FFF2-40B4-BE49-F238E27FC236}">
                <a16:creationId xmlns:a16="http://schemas.microsoft.com/office/drawing/2014/main" id="{F608B392-C7CF-49CF-BFA9-44D90155111F}"/>
              </a:ext>
            </a:extLst>
          </p:cNvPr>
          <p:cNvSpPr>
            <a:spLocks noGrp="1"/>
          </p:cNvSpPr>
          <p:nvPr/>
        </p:nvSpPr>
        <p:spPr>
          <a:xfrm>
            <a:off x="548640" y="1463040"/>
            <a:ext cx="3886200" cy="301752"/>
          </a:xfrm>
          <a:prstGeom prst="rect">
            <a:avLst/>
          </a:prstGeom>
          <a:solidFill>
            <a:srgbClr val="FFFFFF"/>
          </a:solidFill>
        </p:spPr>
        <p:txBody>
          <a:bodyPr wrap="square" lIns="38100" tIns="38100" rIns="38100" bIns="38100" anchor="ctr"/>
          <a:lstStyle>
            <a:defPPr>
              <a:defRPr sz="1500" b="1">
                <a:solidFill>
                  <a:srgbClr val="000000"/>
                </a:solidFill>
              </a:defRPr>
            </a:defPPr>
          </a:lstStyle>
          <a:p>
            <a:pPr algn="l">
              <a:defRPr sz="1500" b="1">
                <a:solidFill>
                  <a:srgbClr val="000000"/>
                </a:solidFill>
              </a:defRPr>
            </a:pPr>
            <a:r>
              <a:rPr sz="1400" b="1">
                <a:solidFill>
                  <a:srgbClr val="000000"/>
                </a:solidFill>
                <a:latin typeface="Malgun Gothic"/>
                <a:ea typeface="Malgun Gothic"/>
                <a:cs typeface="Malgun Gothic"/>
              </a:rPr>
              <a:t>설계 카드 선택</a:t>
            </a:r>
            <a:endParaRPr sz="1200" b="1">
              <a:latin typeface="Malgun Gothic"/>
              <a:ea typeface="Malgun Gothic"/>
              <a:cs typeface="Malgun Gothic"/>
            </a:endParaRPr>
          </a:p>
        </p:txBody>
      </p:sp>
      <p:sp>
        <p:nvSpPr>
          <p:cNvPr id="26" name="edited-선택 근거를 ADR로 기록">
            <a:extLst>
              <a:ext uri="{FF2B5EF4-FFF2-40B4-BE49-F238E27FC236}">
                <a16:creationId xmlns:a16="http://schemas.microsoft.com/office/drawing/2014/main" id="{4A102FC4-5BC4-4C8A-A728-9E9C313E5575}"/>
              </a:ext>
            </a:extLst>
          </p:cNvPr>
          <p:cNvSpPr>
            <a:spLocks noGrp="1"/>
          </p:cNvSpPr>
          <p:nvPr/>
        </p:nvSpPr>
        <p:spPr>
          <a:xfrm>
            <a:off x="4709160" y="1463040"/>
            <a:ext cx="3886200" cy="301752"/>
          </a:xfrm>
          <a:prstGeom prst="rect">
            <a:avLst/>
          </a:prstGeom>
          <a:noFill/>
          <a:ln w="0">
            <a:noFill/>
          </a:ln>
        </p:spPr>
        <p:txBody>
          <a:bodyPr wrap="square" lIns="0" tIns="0" rIns="0" bIns="0" anchor="ctr">
            <a:noAutofit/>
          </a:bodyPr>
          <a:lstStyle>
            <a:defPPr algn="l">
              <a:defRPr sz="1500" b="1">
                <a:solidFill>
                  <a:srgbClr val="000000"/>
                </a:solidFill>
                <a:latin typeface="Malgun Gothic"/>
                <a:ea typeface="Malgun Gothic"/>
                <a:cs typeface="Malgun Gothic"/>
              </a:defRPr>
            </a:defPPr>
          </a:lstStyle>
          <a:p>
            <a:pPr algn="l">
              <a:defRPr sz="1500" b="1">
                <a:solidFill>
                  <a:srgbClr val="000000"/>
                </a:solidFill>
                <a:latin typeface="Malgun Gothic"/>
                <a:ea typeface="Malgun Gothic"/>
                <a:cs typeface="Malgun Gothic"/>
              </a:defRPr>
            </a:pPr>
            <a:r>
              <a:rPr sz="1400" b="1">
                <a:solidFill>
                  <a:srgbClr val="000000"/>
                </a:solidFill>
                <a:latin typeface="Malgun Gothic"/>
                <a:ea typeface="Malgun Gothic"/>
                <a:cs typeface="Malgun Gothic"/>
              </a:rPr>
              <a:t>선택 근거를 ADR로 기록</a:t>
            </a:r>
          </a:p>
        </p:txBody>
      </p:sp>
      <p:sp>
        <p:nvSpPr>
          <p:cNvPr id="25" name="Slide Number Placeholder 0">
            <a:extLst>
              <a:ext uri="{FF2B5EF4-FFF2-40B4-BE49-F238E27FC236}">
                <a16:creationId xmlns:a16="http://schemas.microsoft.com/office/drawing/2014/main" id="{606BD5E4-E0E8-4548-8D46-1A8354B5E8BC}"/>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r>
              <a:rPr sz="900">
                <a:solidFill>
                  <a:srgbClr val="2B7FD4"/>
                </a:solidFill>
                <a:latin typeface="Malgun Gothic"/>
                <a:ea typeface="Malgun Gothic"/>
                <a:cs typeface="Malgun Gothic"/>
              </a:rPr>
              <a:t>14</a:t>
            </a:r>
            <a:endParaRPr/>
          </a:p>
        </p:txBody>
      </p:sp>
    </p:spTree>
    <p:extLst>
      <p:ext uri="{BB962C8B-B14F-4D97-AF65-F5344CB8AC3E}">
        <p14:creationId xmlns:p14="http://schemas.microsoft.com/office/powerpoint/2010/main" val="313989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D4C91F0-77CD-456D-8A78-AED1FE5FEEDE}"/>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a:defRPr sz="2000" b="1">
                <a:solidFill>
                  <a:srgbClr val="000000"/>
                </a:solidFill>
                <a:latin typeface="Malgun Gothic"/>
                <a:ea typeface="Malgun Gothic"/>
                <a:cs typeface="Malgun Gothic"/>
              </a:defRPr>
            </a:pPr>
            <a:r>
              <a:rPr lang="en-US" altLang="ko-KR" dirty="0">
                <a:solidFill>
                  <a:schemeClr val="tx1"/>
                </a:solidFill>
                <a:latin typeface="Malgun Gothic" pitchFamily="34" charset="0"/>
                <a:ea typeface="Malgun Gothic" pitchFamily="34" charset="-122"/>
                <a:cs typeface="Malgun Gothic" pitchFamily="34" charset="-120"/>
              </a:rPr>
              <a:t>|  </a:t>
            </a:r>
            <a:r>
              <a:rPr lang="en-US" altLang="ko-KR" dirty="0">
                <a:solidFill>
                  <a:srgbClr val="333333"/>
                </a:solidFill>
                <a:latin typeface="Malgun Gothic" pitchFamily="34" charset="0"/>
                <a:ea typeface="Malgun Gothic" pitchFamily="34" charset="-122"/>
                <a:cs typeface="Malgun Gothic" pitchFamily="34" charset="-120"/>
              </a:rPr>
              <a:t>Step 2. AI Village </a:t>
            </a:r>
            <a:r>
              <a:rPr lang="en-US" altLang="ko-KR" dirty="0" err="1">
                <a:solidFill>
                  <a:srgbClr val="333333"/>
                </a:solidFill>
                <a:latin typeface="Malgun Gothic" pitchFamily="34" charset="0"/>
                <a:ea typeface="Malgun Gothic" pitchFamily="34" charset="-122"/>
                <a:cs typeface="Malgun Gothic" pitchFamily="34" charset="-120"/>
              </a:rPr>
              <a:t>병렬</a:t>
            </a:r>
            <a:r>
              <a:rPr lang="en-US" altLang="ko-KR" dirty="0">
                <a:solidFill>
                  <a:srgbClr val="333333"/>
                </a:solidFill>
                <a:latin typeface="Malgun Gothic" pitchFamily="34" charset="0"/>
                <a:ea typeface="Malgun Gothic" pitchFamily="34" charset="-122"/>
                <a:cs typeface="Malgun Gothic" pitchFamily="34" charset="-120"/>
              </a:rPr>
              <a:t> </a:t>
            </a:r>
            <a:r>
              <a:rPr lang="en-US" altLang="ko-KR" dirty="0" err="1">
                <a:solidFill>
                  <a:srgbClr val="333333"/>
                </a:solidFill>
                <a:latin typeface="Malgun Gothic" pitchFamily="34" charset="0"/>
                <a:ea typeface="Malgun Gothic" pitchFamily="34" charset="-122"/>
                <a:cs typeface="Malgun Gothic" pitchFamily="34" charset="-120"/>
              </a:rPr>
              <a:t>개발</a:t>
            </a:r>
            <a:endParaRPr sz="2000" dirty="0">
              <a:solidFill>
                <a:schemeClr val="tx1"/>
              </a:solidFill>
            </a:endParaRPr>
          </a:p>
        </p:txBody>
      </p:sp>
      <p:sp>
        <p:nvSpPr>
          <p:cNvPr id="3" name="Text 0">
            <a:extLst>
              <a:ext uri="{FF2B5EF4-FFF2-40B4-BE49-F238E27FC236}">
                <a16:creationId xmlns:a16="http://schemas.microsoft.com/office/drawing/2014/main" id="{2053C41C-F8C7-4575-B0BA-8F91BEA9C39C}"/>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BC19D19C-D3AF-47BF-955D-7A0192730EDD}"/>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a:p>
        </p:txBody>
      </p:sp>
      <p:sp>
        <p:nvSpPr>
          <p:cNvPr id="5" name="Text 3">
            <a:extLst>
              <a:ext uri="{FF2B5EF4-FFF2-40B4-BE49-F238E27FC236}">
                <a16:creationId xmlns:a16="http://schemas.microsoft.com/office/drawing/2014/main" id="{DFBB8803-A279-4C0A-BB48-BDCECDC32563}"/>
              </a:ext>
            </a:extLst>
          </p:cNvPr>
          <p:cNvSpPr>
            <a:spLocks noGrp="1"/>
          </p:cNvSpPr>
          <p:nvPr/>
        </p:nvSpPr>
        <p:spPr>
          <a:xfrm>
            <a:off x="548640" y="914400"/>
            <a:ext cx="5852160" cy="411480"/>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1700" b="1" dirty="0" err="1">
                <a:solidFill>
                  <a:srgbClr val="000000"/>
                </a:solidFill>
                <a:latin typeface="Malgun Gothic"/>
                <a:ea typeface="Malgun Gothic"/>
                <a:cs typeface="Malgun Gothic"/>
              </a:rPr>
              <a:t>의존</a:t>
            </a:r>
            <a:r>
              <a:rPr sz="1700" b="1" dirty="0">
                <a:solidFill>
                  <a:srgbClr val="000000"/>
                </a:solidFill>
                <a:latin typeface="Malgun Gothic"/>
                <a:ea typeface="Malgun Gothic"/>
                <a:cs typeface="Malgun Gothic"/>
              </a:rPr>
              <a:t> </a:t>
            </a:r>
            <a:r>
              <a:rPr sz="1700" b="1" dirty="0" err="1">
                <a:solidFill>
                  <a:srgbClr val="000000"/>
                </a:solidFill>
                <a:latin typeface="Malgun Gothic"/>
                <a:ea typeface="Malgun Gothic"/>
                <a:cs typeface="Malgun Gothic"/>
              </a:rPr>
              <a:t>순서에</a:t>
            </a:r>
            <a:r>
              <a:rPr sz="1700" b="1" dirty="0">
                <a:solidFill>
                  <a:srgbClr val="000000"/>
                </a:solidFill>
                <a:latin typeface="Malgun Gothic"/>
                <a:ea typeface="Malgun Gothic"/>
                <a:cs typeface="Malgun Gothic"/>
              </a:rPr>
              <a:t> </a:t>
            </a:r>
            <a:r>
              <a:rPr sz="1700" b="1" dirty="0" err="1">
                <a:solidFill>
                  <a:srgbClr val="000000"/>
                </a:solidFill>
                <a:latin typeface="Malgun Gothic"/>
                <a:ea typeface="Malgun Gothic"/>
                <a:cs typeface="Malgun Gothic"/>
              </a:rPr>
              <a:t>따라</a:t>
            </a:r>
            <a:r>
              <a:rPr sz="1700" b="1" dirty="0">
                <a:solidFill>
                  <a:srgbClr val="000000"/>
                </a:solidFill>
                <a:latin typeface="Malgun Gothic"/>
                <a:ea typeface="Malgun Gothic"/>
                <a:cs typeface="Malgun Gothic"/>
              </a:rPr>
              <a:t> </a:t>
            </a:r>
            <a:r>
              <a:rPr sz="1700" b="1" dirty="0" err="1">
                <a:solidFill>
                  <a:srgbClr val="000000"/>
                </a:solidFill>
                <a:latin typeface="Malgun Gothic"/>
                <a:ea typeface="Malgun Gothic"/>
                <a:cs typeface="Malgun Gothic"/>
              </a:rPr>
              <a:t>파일</a:t>
            </a:r>
            <a:r>
              <a:rPr sz="1700" b="1" dirty="0">
                <a:solidFill>
                  <a:srgbClr val="000000"/>
                </a:solidFill>
                <a:latin typeface="Malgun Gothic"/>
                <a:ea typeface="Malgun Gothic"/>
                <a:cs typeface="Malgun Gothic"/>
              </a:rPr>
              <a:t> </a:t>
            </a:r>
            <a:r>
              <a:rPr sz="1700" b="1" dirty="0" err="1">
                <a:solidFill>
                  <a:srgbClr val="000000"/>
                </a:solidFill>
                <a:latin typeface="Malgun Gothic"/>
                <a:ea typeface="Malgun Gothic"/>
                <a:cs typeface="Malgun Gothic"/>
              </a:rPr>
              <a:t>생성과</a:t>
            </a:r>
            <a:r>
              <a:rPr sz="1700" b="1" dirty="0">
                <a:solidFill>
                  <a:srgbClr val="000000"/>
                </a:solidFill>
                <a:latin typeface="Malgun Gothic"/>
                <a:ea typeface="Malgun Gothic"/>
                <a:cs typeface="Malgun Gothic"/>
              </a:rPr>
              <a:t> </a:t>
            </a:r>
            <a:r>
              <a:rPr sz="1700" b="1" dirty="0" err="1">
                <a:solidFill>
                  <a:srgbClr val="000000"/>
                </a:solidFill>
                <a:latin typeface="Malgun Gothic"/>
                <a:ea typeface="Malgun Gothic"/>
                <a:cs typeface="Malgun Gothic"/>
              </a:rPr>
              <a:t>검토</a:t>
            </a:r>
            <a:endParaRPr sz="1700" b="1" dirty="0"/>
          </a:p>
        </p:txBody>
      </p:sp>
      <p:sp>
        <p:nvSpPr>
          <p:cNvPr id="26" name="AI Village Running Frame"/>
          <p:cNvSpPr/>
          <p:nvPr/>
        </p:nvSpPr>
        <p:spPr>
          <a:xfrm>
            <a:off x="548640" y="1828800"/>
            <a:ext cx="3886200" cy="2624328"/>
          </a:xfrm>
          <a:prstGeom prst="rect">
            <a:avLst/>
          </a:prstGeom>
          <a:solidFill>
            <a:srgbClr val="121114"/>
          </a:solidFill>
          <a:ln>
            <a:noFill/>
          </a:ln>
        </p:spPr>
        <p:txBody>
          <a:bodyPr rtlCol="0" anchor="ctr"/>
          <a:lstStyle/>
          <a:p>
            <a:pPr algn="ctr"/>
            <a:endParaRPr/>
          </a:p>
        </p:txBody>
      </p:sp>
      <p:pic>
        <p:nvPicPr>
          <p:cNvPr id="27" name="AI Village Running" descr="AI Village 에이전트 작업 중 화면"/>
          <p:cNvPicPr>
            <a:picLocks noChangeAspect="1"/>
          </p:cNvPicPr>
          <p:nvPr/>
        </p:nvPicPr>
        <p:blipFill>
          <a:blip r:embed="rId3"/>
          <a:stretch>
            <a:fillRect/>
          </a:stretch>
        </p:blipFill>
        <p:spPr>
          <a:xfrm>
            <a:off x="548640" y="1951310"/>
            <a:ext cx="3886200" cy="2379306"/>
          </a:xfrm>
          <a:prstGeom prst="rect">
            <a:avLst/>
          </a:prstGeom>
        </p:spPr>
      </p:pic>
      <p:sp>
        <p:nvSpPr>
          <p:cNvPr id="28" name="AI Village Done Frame"/>
          <p:cNvSpPr/>
          <p:nvPr/>
        </p:nvSpPr>
        <p:spPr>
          <a:xfrm>
            <a:off x="4709160" y="1828800"/>
            <a:ext cx="3886200" cy="2624328"/>
          </a:xfrm>
          <a:prstGeom prst="rect">
            <a:avLst/>
          </a:prstGeom>
          <a:solidFill>
            <a:srgbClr val="121114"/>
          </a:solidFill>
          <a:ln>
            <a:noFill/>
          </a:ln>
        </p:spPr>
        <p:txBody>
          <a:bodyPr rtlCol="0" anchor="ctr"/>
          <a:lstStyle/>
          <a:p>
            <a:pPr algn="ctr"/>
            <a:endParaRPr/>
          </a:p>
        </p:txBody>
      </p:sp>
      <p:pic>
        <p:nvPicPr>
          <p:cNvPr id="29" name="AI Village Done" descr="AI Village 작업 완료 화면"/>
          <p:cNvPicPr>
            <a:picLocks noChangeAspect="1"/>
          </p:cNvPicPr>
          <p:nvPr/>
        </p:nvPicPr>
        <p:blipFill>
          <a:blip r:embed="rId4"/>
          <a:stretch>
            <a:fillRect/>
          </a:stretch>
        </p:blipFill>
        <p:spPr>
          <a:xfrm>
            <a:off x="4709160" y="1855490"/>
            <a:ext cx="3886200" cy="2570947"/>
          </a:xfrm>
          <a:prstGeom prst="rect">
            <a:avLst/>
          </a:prstGeom>
        </p:spPr>
      </p:pic>
      <p:sp>
        <p:nvSpPr>
          <p:cNvPr id="11" name="Text 6">
            <a:extLst>
              <a:ext uri="{FF2B5EF4-FFF2-40B4-BE49-F238E27FC236}">
                <a16:creationId xmlns:a16="http://schemas.microsoft.com/office/drawing/2014/main" id="{40427880-92D9-4D5D-8835-69D7758A196F}"/>
              </a:ext>
            </a:extLst>
          </p:cNvPr>
          <p:cNvSpPr>
            <a:spLocks noGrp="1"/>
          </p:cNvSpPr>
          <p:nvPr/>
        </p:nvSpPr>
        <p:spPr>
          <a:xfrm>
            <a:off x="4709160" y="1463040"/>
            <a:ext cx="3886200" cy="301752"/>
          </a:xfrm>
          <a:prstGeom prst="rect">
            <a:avLst/>
          </a:prstGeom>
          <a:solidFill>
            <a:srgbClr val="FFFFFF"/>
          </a:solidFill>
        </p:spPr>
        <p:txBody>
          <a:bodyPr wrap="square" lIns="38100" tIns="38100" rIns="38100" bIns="38100" anchor="ctr"/>
          <a:lstStyle>
            <a:defPPr>
              <a:defRPr sz="1425" b="1">
                <a:solidFill>
                  <a:srgbClr val="000000"/>
                </a:solidFill>
              </a:defRPr>
            </a:defPPr>
          </a:lstStyle>
          <a:p>
            <a:pPr marL="0" indent="0" algn="l">
              <a:buNone/>
              <a:defRPr sz="1425" b="1">
                <a:solidFill>
                  <a:srgbClr val="000000"/>
                </a:solidFill>
              </a:defRPr>
            </a:pPr>
            <a:r>
              <a:rPr sz="1400" b="1">
                <a:solidFill>
                  <a:srgbClr val="000000"/>
                </a:solidFill>
                <a:latin typeface="Malgun Gothic"/>
                <a:ea typeface="Malgun Gothic"/>
                <a:cs typeface="Malgun Gothic"/>
              </a:rPr>
              <a:t>최대 8개 역할 분담</a:t>
            </a:r>
            <a:endParaRPr sz="1200"/>
          </a:p>
        </p:txBody>
      </p:sp>
      <p:sp>
        <p:nvSpPr>
          <p:cNvPr id="25" name="Slide Number Placeholder 0">
            <a:extLst>
              <a:ext uri="{FF2B5EF4-FFF2-40B4-BE49-F238E27FC236}">
                <a16:creationId xmlns:a16="http://schemas.microsoft.com/office/drawing/2014/main" id="{3AFA8C03-6CDB-4045-AF98-D094BD4D2A73}"/>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r>
              <a:rPr sz="900">
                <a:solidFill>
                  <a:srgbClr val="2B7FD4"/>
                </a:solidFill>
                <a:latin typeface="Malgun Gothic"/>
                <a:ea typeface="Malgun Gothic"/>
                <a:cs typeface="Malgun Gothic"/>
              </a:rPr>
              <a:t>15</a:t>
            </a:r>
            <a:endParaRPr/>
          </a:p>
        </p:txBody>
      </p:sp>
    </p:spTree>
    <p:extLst>
      <p:ext uri="{BB962C8B-B14F-4D97-AF65-F5344CB8AC3E}">
        <p14:creationId xmlns:p14="http://schemas.microsoft.com/office/powerpoint/2010/main" val="3249088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10EBD7-0B16-4962-8130-8C1470D95212}"/>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r>
              <a:rPr lang="en-US" altLang="ko-KR" dirty="0">
                <a:solidFill>
                  <a:srgbClr val="333333"/>
                </a:solidFill>
                <a:latin typeface="Malgun Gothic" pitchFamily="34" charset="0"/>
                <a:ea typeface="Malgun Gothic" pitchFamily="34" charset="-122"/>
                <a:cs typeface="Malgun Gothic" pitchFamily="34" charset="-120"/>
              </a:rPr>
              <a:t>|  Step 3. AI </a:t>
            </a:r>
            <a:r>
              <a:rPr lang="ko-KR" altLang="en-US" dirty="0">
                <a:solidFill>
                  <a:srgbClr val="333333"/>
                </a:solidFill>
                <a:latin typeface="Malgun Gothic" pitchFamily="34" charset="0"/>
                <a:ea typeface="Malgun Gothic" pitchFamily="34" charset="-122"/>
                <a:cs typeface="Malgun Gothic" pitchFamily="34" charset="-120"/>
              </a:rPr>
              <a:t>파이프라인 설계</a:t>
            </a:r>
            <a:endParaRPr lang="en-US" altLang="ko-KR" dirty="0"/>
          </a:p>
        </p:txBody>
      </p:sp>
      <p:sp>
        <p:nvSpPr>
          <p:cNvPr id="3" name="Text 0">
            <a:extLst>
              <a:ext uri="{FF2B5EF4-FFF2-40B4-BE49-F238E27FC236}">
                <a16:creationId xmlns:a16="http://schemas.microsoft.com/office/drawing/2014/main" id="{B28E8F44-9064-4941-897F-AC04E8D7B86F}"/>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4CE72093-7539-4922-B577-FD5291355116}"/>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a:p>
        </p:txBody>
      </p:sp>
      <p:sp>
        <p:nvSpPr>
          <p:cNvPr id="8" name="Principle"/>
          <p:cNvSpPr txBox="1"/>
          <p:nvPr/>
        </p:nvSpPr>
        <p:spPr>
          <a:xfrm>
            <a:off x="594360" y="987552"/>
            <a:ext cx="7863840" cy="274320"/>
          </a:xfrm>
          <a:prstGeom prst="rect">
            <a:avLst/>
          </a:prstGeom>
          <a:noFill/>
        </p:spPr>
        <p:txBody>
          <a:bodyPr wrap="square" lIns="0" tIns="0" rIns="0" bIns="0" anchor="t">
            <a:spAutoFit/>
          </a:bodyPr>
          <a:lstStyle/>
          <a:p>
            <a:pPr algn="l"/>
            <a:r>
              <a:rPr sz="1100" b="1">
                <a:solidFill>
                  <a:srgbClr val="6B7685"/>
                </a:solidFill>
                <a:latin typeface="Malgun Gothic"/>
                <a:ea typeface="Malgun Gothic"/>
                <a:cs typeface="Malgun Gothic"/>
              </a:rPr>
              <a:t>원칙   </a:t>
            </a:r>
            <a:r>
              <a:rPr sz="1150" b="1">
                <a:solidFill>
                  <a:srgbClr val="111827"/>
                </a:solidFill>
                <a:latin typeface="Malgun Gothic"/>
                <a:ea typeface="Malgun Gothic"/>
                <a:cs typeface="Malgun Gothic"/>
              </a:rPr>
              <a:t>결정적 규칙이 먼저, AI는 나중</a:t>
            </a:r>
          </a:p>
        </p:txBody>
      </p:sp>
      <p:sp>
        <p:nvSpPr>
          <p:cNvPr id="9" name="Lane 1 Label"/>
          <p:cNvSpPr txBox="1"/>
          <p:nvPr/>
        </p:nvSpPr>
        <p:spPr>
          <a:xfrm>
            <a:off x="594360" y="1517904"/>
            <a:ext cx="1188720" cy="548640"/>
          </a:xfrm>
          <a:prstGeom prst="rect">
            <a:avLst/>
          </a:prstGeom>
          <a:noFill/>
        </p:spPr>
        <p:txBody>
          <a:bodyPr wrap="square" lIns="0" tIns="0" rIns="0" bIns="0" anchor="t">
            <a:spAutoFit/>
          </a:bodyPr>
          <a:lstStyle/>
          <a:p>
            <a:pPr algn="l"/>
            <a:r>
              <a:rPr sz="1200" b="1">
                <a:solidFill>
                  <a:srgbClr val="111827"/>
                </a:solidFill>
                <a:latin typeface="Malgun Gothic"/>
                <a:ea typeface="Malgun Gothic"/>
                <a:cs typeface="Malgun Gothic"/>
              </a:rPr>
              <a:t>생성 직후</a:t>
            </a:r>
          </a:p>
          <a:p>
            <a:pPr algn="l">
              <a:spcBef>
                <a:spcPts val="200"/>
              </a:spcBef>
            </a:pPr>
            <a:r>
              <a:rPr sz="900" b="0">
                <a:solidFill>
                  <a:srgbClr val="6B7685"/>
                </a:solidFill>
                <a:latin typeface="Malgun Gothic"/>
                <a:ea typeface="Malgun Gothic"/>
                <a:cs typeface="Malgun Gothic"/>
              </a:rPr>
              <a:t>모든 생성 파일</a:t>
            </a:r>
          </a:p>
        </p:txBody>
      </p:sp>
      <p:sp>
        <p:nvSpPr>
          <p:cNvPr id="10" name="Gen Step 1"/>
          <p:cNvSpPr/>
          <p:nvPr/>
        </p:nvSpPr>
        <p:spPr>
          <a:xfrm>
            <a:off x="1828800" y="1463040"/>
            <a:ext cx="1463040" cy="603504"/>
          </a:xfrm>
          <a:prstGeom prst="roundRect">
            <a:avLst>
              <a:gd name="adj" fmla="val 10000"/>
            </a:avLst>
          </a:prstGeom>
          <a:solidFill>
            <a:srgbClr val="FFFFFF"/>
          </a:solidFill>
          <a:ln w="12700">
            <a:solidFill>
              <a:srgbClr val="C9D1DC"/>
            </a:solidFill>
          </a:ln>
        </p:spPr>
        <p:txBody>
          <a:bodyPr rtlCol="0" anchor="ctr"/>
          <a:lstStyle/>
          <a:p>
            <a:pPr algn="ctr"/>
            <a:endParaRPr/>
          </a:p>
        </p:txBody>
      </p:sp>
      <p:sp>
        <p:nvSpPr>
          <p:cNvPr id="11" name="Gen Step 1 Text"/>
          <p:cNvSpPr txBox="1"/>
          <p:nvPr/>
        </p:nvSpPr>
        <p:spPr>
          <a:xfrm>
            <a:off x="1828800" y="1463040"/>
            <a:ext cx="1463040" cy="60350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생성된 파일</a:t>
            </a:r>
          </a:p>
          <a:p>
            <a:pPr algn="l">
              <a:spcBef>
                <a:spcPts val="200"/>
              </a:spcBef>
            </a:pPr>
            <a:r>
              <a:rPr sz="850" b="0">
                <a:solidFill>
                  <a:srgbClr val="6B7685"/>
                </a:solidFill>
                <a:latin typeface="Malgun Gothic"/>
                <a:ea typeface="Malgun Gothic"/>
                <a:cs typeface="Malgun Gothic"/>
              </a:rPr>
              <a:t>AI Village 생성 결과</a:t>
            </a:r>
          </a:p>
        </p:txBody>
      </p:sp>
      <p:sp>
        <p:nvSpPr>
          <p:cNvPr id="12" name="Gen Step 2"/>
          <p:cNvSpPr/>
          <p:nvPr/>
        </p:nvSpPr>
        <p:spPr>
          <a:xfrm>
            <a:off x="3584448" y="1463040"/>
            <a:ext cx="1463040" cy="603504"/>
          </a:xfrm>
          <a:prstGeom prst="roundRect">
            <a:avLst>
              <a:gd name="adj" fmla="val 10000"/>
            </a:avLst>
          </a:prstGeom>
          <a:solidFill>
            <a:srgbClr val="FFFFFF"/>
          </a:solidFill>
          <a:ln w="12700">
            <a:solidFill>
              <a:srgbClr val="C9D1DC"/>
            </a:solidFill>
          </a:ln>
        </p:spPr>
        <p:txBody>
          <a:bodyPr rtlCol="0" anchor="ctr"/>
          <a:lstStyle/>
          <a:p>
            <a:pPr algn="ctr"/>
            <a:endParaRPr/>
          </a:p>
        </p:txBody>
      </p:sp>
      <p:sp>
        <p:nvSpPr>
          <p:cNvPr id="13" name="Gen Step 2 Text"/>
          <p:cNvSpPr txBox="1"/>
          <p:nvPr/>
        </p:nvSpPr>
        <p:spPr>
          <a:xfrm>
            <a:off x="3584448" y="1463040"/>
            <a:ext cx="1463040" cy="60350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결정적 규칙 교정</a:t>
            </a:r>
          </a:p>
          <a:p>
            <a:pPr algn="l">
              <a:spcBef>
                <a:spcPts val="200"/>
              </a:spcBef>
            </a:pPr>
            <a:r>
              <a:rPr sz="850" b="0">
                <a:solidFill>
                  <a:srgbClr val="6B7685"/>
                </a:solidFill>
                <a:latin typeface="Malgun Gothic"/>
                <a:ea typeface="Malgun Gothic"/>
                <a:cs typeface="Malgun Gothic"/>
              </a:rPr>
              <a:t>확실한 문제부터 수정</a:t>
            </a:r>
          </a:p>
        </p:txBody>
      </p:sp>
      <p:sp>
        <p:nvSpPr>
          <p:cNvPr id="14" name="Gen Step 3"/>
          <p:cNvSpPr/>
          <p:nvPr/>
        </p:nvSpPr>
        <p:spPr>
          <a:xfrm>
            <a:off x="5340096" y="1463040"/>
            <a:ext cx="1463040" cy="603504"/>
          </a:xfrm>
          <a:prstGeom prst="roundRect">
            <a:avLst>
              <a:gd name="adj" fmla="val 10000"/>
            </a:avLst>
          </a:prstGeom>
          <a:solidFill>
            <a:srgbClr val="FFFFFF"/>
          </a:solidFill>
          <a:ln w="12700">
            <a:solidFill>
              <a:srgbClr val="C9D1DC"/>
            </a:solidFill>
          </a:ln>
        </p:spPr>
        <p:txBody>
          <a:bodyPr rtlCol="0" anchor="ctr"/>
          <a:lstStyle/>
          <a:p>
            <a:pPr algn="ctr"/>
            <a:endParaRPr/>
          </a:p>
        </p:txBody>
      </p:sp>
      <p:sp>
        <p:nvSpPr>
          <p:cNvPr id="15" name="Gen Step 3 Text"/>
          <p:cNvSpPr txBox="1"/>
          <p:nvPr/>
        </p:nvSpPr>
        <p:spPr>
          <a:xfrm>
            <a:off x="5340096" y="1463040"/>
            <a:ext cx="1463040" cy="60350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빌드 · 실행 점검</a:t>
            </a:r>
          </a:p>
          <a:p>
            <a:pPr algn="l">
              <a:spcBef>
                <a:spcPts val="200"/>
              </a:spcBef>
            </a:pPr>
            <a:r>
              <a:rPr sz="850" b="0">
                <a:solidFill>
                  <a:srgbClr val="6B7685"/>
                </a:solidFill>
                <a:latin typeface="Malgun Gothic"/>
                <a:ea typeface="Malgun Gothic"/>
                <a:cs typeface="Malgun Gothic"/>
              </a:rPr>
              <a:t>Docker 빌드 · API 5xx</a:t>
            </a:r>
          </a:p>
        </p:txBody>
      </p:sp>
      <p:sp>
        <p:nvSpPr>
          <p:cNvPr id="16" name="Gen Step 4"/>
          <p:cNvSpPr/>
          <p:nvPr/>
        </p:nvSpPr>
        <p:spPr>
          <a:xfrm>
            <a:off x="7095744" y="1463040"/>
            <a:ext cx="1463040" cy="603504"/>
          </a:xfrm>
          <a:prstGeom prst="roundRect">
            <a:avLst>
              <a:gd name="adj" fmla="val 10000"/>
            </a:avLst>
          </a:prstGeom>
          <a:solidFill>
            <a:srgbClr val="EEF5FD"/>
          </a:solidFill>
          <a:ln w="12700">
            <a:solidFill>
              <a:srgbClr val="2B7FD4"/>
            </a:solidFill>
          </a:ln>
        </p:spPr>
        <p:txBody>
          <a:bodyPr rtlCol="0" anchor="ctr"/>
          <a:lstStyle/>
          <a:p>
            <a:pPr algn="ctr"/>
            <a:endParaRPr/>
          </a:p>
        </p:txBody>
      </p:sp>
      <p:sp>
        <p:nvSpPr>
          <p:cNvPr id="17" name="Gen Step 4 Text"/>
          <p:cNvSpPr txBox="1"/>
          <p:nvPr/>
        </p:nvSpPr>
        <p:spPr>
          <a:xfrm>
            <a:off x="7095744" y="1463040"/>
            <a:ext cx="1463040" cy="60350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적용 승인 요청</a:t>
            </a:r>
          </a:p>
          <a:p>
            <a:pPr algn="l">
              <a:spcBef>
                <a:spcPts val="200"/>
              </a:spcBef>
            </a:pPr>
            <a:r>
              <a:rPr sz="850" b="0">
                <a:solidFill>
                  <a:srgbClr val="6B7685"/>
                </a:solidFill>
                <a:latin typeface="Malgun Gothic"/>
                <a:ea typeface="Malgun Gothic"/>
                <a:cs typeface="Malgun Gothic"/>
              </a:rPr>
              <a:t>검증 완료 후 사용자 확인</a:t>
            </a:r>
          </a:p>
        </p:txBody>
      </p:sp>
      <p:cxnSp>
        <p:nvCxnSpPr>
          <p:cNvPr id="18" name="Gen Arrow 1"/>
          <p:cNvCxnSpPr/>
          <p:nvPr/>
        </p:nvCxnSpPr>
        <p:spPr>
          <a:xfrm>
            <a:off x="3328416" y="1764792"/>
            <a:ext cx="219456" cy="0"/>
          </a:xfrm>
          <a:prstGeom prst="line">
            <a:avLst/>
          </a:prstGeom>
          <a:ln w="15875">
            <a:solidFill>
              <a:srgbClr val="8A96A6"/>
            </a:solidFill>
            <a:tailEnd type="triangle" w="med" len="med"/>
          </a:ln>
        </p:spPr>
      </p:cxnSp>
      <p:cxnSp>
        <p:nvCxnSpPr>
          <p:cNvPr id="19" name="Gen Arrow 2"/>
          <p:cNvCxnSpPr/>
          <p:nvPr/>
        </p:nvCxnSpPr>
        <p:spPr>
          <a:xfrm>
            <a:off x="5084064" y="1764792"/>
            <a:ext cx="219456" cy="0"/>
          </a:xfrm>
          <a:prstGeom prst="line">
            <a:avLst/>
          </a:prstGeom>
          <a:ln w="15875">
            <a:solidFill>
              <a:srgbClr val="8A96A6"/>
            </a:solidFill>
            <a:tailEnd type="triangle" w="med" len="med"/>
          </a:ln>
        </p:spPr>
      </p:cxnSp>
      <p:cxnSp>
        <p:nvCxnSpPr>
          <p:cNvPr id="20" name="Gen Arrow 3"/>
          <p:cNvCxnSpPr/>
          <p:nvPr/>
        </p:nvCxnSpPr>
        <p:spPr>
          <a:xfrm>
            <a:off x="6839712" y="1764792"/>
            <a:ext cx="219456" cy="0"/>
          </a:xfrm>
          <a:prstGeom prst="line">
            <a:avLst/>
          </a:prstGeom>
          <a:ln w="15875">
            <a:solidFill>
              <a:srgbClr val="8A96A6"/>
            </a:solidFill>
            <a:tailEnd type="triangle" w="med" len="med"/>
          </a:ln>
        </p:spPr>
      </p:cxnSp>
      <p:sp>
        <p:nvSpPr>
          <p:cNvPr id="21" name="Pass Label"/>
          <p:cNvSpPr txBox="1"/>
          <p:nvPr/>
        </p:nvSpPr>
        <p:spPr>
          <a:xfrm>
            <a:off x="6803136" y="1517904"/>
            <a:ext cx="292607" cy="182880"/>
          </a:xfrm>
          <a:prstGeom prst="rect">
            <a:avLst/>
          </a:prstGeom>
          <a:noFill/>
        </p:spPr>
        <p:txBody>
          <a:bodyPr wrap="square" lIns="0" tIns="0" rIns="0" bIns="0" anchor="t">
            <a:spAutoFit/>
          </a:bodyPr>
          <a:lstStyle/>
          <a:p>
            <a:pPr algn="ctr"/>
            <a:r>
              <a:rPr sz="850" b="1">
                <a:solidFill>
                  <a:srgbClr val="6B7685"/>
                </a:solidFill>
                <a:latin typeface="Malgun Gothic"/>
                <a:ea typeface="Malgun Gothic"/>
                <a:cs typeface="Malgun Gothic"/>
              </a:rPr>
              <a:t>통과</a:t>
            </a:r>
          </a:p>
        </p:txBody>
      </p:sp>
      <p:sp>
        <p:nvSpPr>
          <p:cNvPr id="22" name="AI Fix"/>
          <p:cNvSpPr/>
          <p:nvPr/>
        </p:nvSpPr>
        <p:spPr>
          <a:xfrm>
            <a:off x="5340096" y="2450592"/>
            <a:ext cx="1463040" cy="512064"/>
          </a:xfrm>
          <a:prstGeom prst="roundRect">
            <a:avLst>
              <a:gd name="adj" fmla="val 10000"/>
            </a:avLst>
          </a:prstGeom>
          <a:solidFill>
            <a:srgbClr val="FEF6F5"/>
          </a:solidFill>
          <a:ln w="12700">
            <a:solidFill>
              <a:srgbClr val="E7B3AD"/>
            </a:solidFill>
          </a:ln>
        </p:spPr>
        <p:txBody>
          <a:bodyPr rtlCol="0" anchor="ctr"/>
          <a:lstStyle/>
          <a:p>
            <a:pPr algn="ctr"/>
            <a:endParaRPr/>
          </a:p>
        </p:txBody>
      </p:sp>
      <p:sp>
        <p:nvSpPr>
          <p:cNvPr id="23" name="AI Fix Text"/>
          <p:cNvSpPr txBox="1"/>
          <p:nvPr/>
        </p:nvSpPr>
        <p:spPr>
          <a:xfrm>
            <a:off x="5340096" y="2450592"/>
            <a:ext cx="1463040" cy="51206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AI 교정</a:t>
            </a:r>
          </a:p>
          <a:p>
            <a:pPr algn="l">
              <a:spcBef>
                <a:spcPts val="200"/>
              </a:spcBef>
            </a:pPr>
            <a:r>
              <a:rPr sz="850" b="0">
                <a:solidFill>
                  <a:srgbClr val="6B7685"/>
                </a:solidFill>
                <a:latin typeface="Malgun Gothic"/>
                <a:ea typeface="Malgun Gothic"/>
                <a:cs typeface="Malgun Gothic"/>
              </a:rPr>
              <a:t>오류 로그 + 관련 코드</a:t>
            </a:r>
          </a:p>
        </p:txBody>
      </p:sp>
      <p:cxnSp>
        <p:nvCxnSpPr>
          <p:cNvPr id="24" name="Fail Arrow"/>
          <p:cNvCxnSpPr/>
          <p:nvPr/>
        </p:nvCxnSpPr>
        <p:spPr>
          <a:xfrm>
            <a:off x="5870448" y="2103120"/>
            <a:ext cx="0" cy="310896"/>
          </a:xfrm>
          <a:prstGeom prst="line">
            <a:avLst/>
          </a:prstGeom>
          <a:ln w="15875">
            <a:solidFill>
              <a:srgbClr val="B42318"/>
            </a:solidFill>
            <a:tailEnd type="triangle" w="med" len="med"/>
          </a:ln>
        </p:spPr>
      </p:cxnSp>
      <p:cxnSp>
        <p:nvCxnSpPr>
          <p:cNvPr id="25" name="Rebuild Arrow"/>
          <p:cNvCxnSpPr/>
          <p:nvPr/>
        </p:nvCxnSpPr>
        <p:spPr>
          <a:xfrm flipV="1">
            <a:off x="6272783" y="2103120"/>
            <a:ext cx="0" cy="310896"/>
          </a:xfrm>
          <a:prstGeom prst="line">
            <a:avLst/>
          </a:prstGeom>
          <a:ln w="15875">
            <a:solidFill>
              <a:srgbClr val="8A96A6"/>
            </a:solidFill>
            <a:prstDash val="dash"/>
            <a:tailEnd type="triangle" w="med" len="med"/>
          </a:ln>
        </p:spPr>
      </p:cxnSp>
      <p:sp>
        <p:nvSpPr>
          <p:cNvPr id="26" name="Fail Label"/>
          <p:cNvSpPr txBox="1"/>
          <p:nvPr/>
        </p:nvSpPr>
        <p:spPr>
          <a:xfrm>
            <a:off x="5294376" y="2157984"/>
            <a:ext cx="502920" cy="182880"/>
          </a:xfrm>
          <a:prstGeom prst="rect">
            <a:avLst/>
          </a:prstGeom>
          <a:noFill/>
        </p:spPr>
        <p:txBody>
          <a:bodyPr wrap="square" lIns="0" tIns="0" rIns="0" bIns="0" anchor="t">
            <a:spAutoFit/>
          </a:bodyPr>
          <a:lstStyle/>
          <a:p>
            <a:pPr algn="r"/>
            <a:r>
              <a:rPr sz="850" b="1">
                <a:solidFill>
                  <a:srgbClr val="B42318"/>
                </a:solidFill>
                <a:latin typeface="Malgun Gothic"/>
                <a:ea typeface="Malgun Gothic"/>
                <a:cs typeface="Malgun Gothic"/>
              </a:rPr>
              <a:t>실패</a:t>
            </a:r>
          </a:p>
        </p:txBody>
      </p:sp>
      <p:sp>
        <p:nvSpPr>
          <p:cNvPr id="27" name="Rebuild Label"/>
          <p:cNvSpPr txBox="1"/>
          <p:nvPr/>
        </p:nvSpPr>
        <p:spPr>
          <a:xfrm>
            <a:off x="6345936" y="2157984"/>
            <a:ext cx="548640" cy="182880"/>
          </a:xfrm>
          <a:prstGeom prst="rect">
            <a:avLst/>
          </a:prstGeom>
          <a:noFill/>
        </p:spPr>
        <p:txBody>
          <a:bodyPr wrap="square" lIns="0" tIns="0" rIns="0" bIns="0" anchor="t">
            <a:spAutoFit/>
          </a:bodyPr>
          <a:lstStyle/>
          <a:p>
            <a:pPr algn="l"/>
            <a:r>
              <a:rPr sz="850" b="1">
                <a:solidFill>
                  <a:srgbClr val="6B7685"/>
                </a:solidFill>
                <a:latin typeface="Malgun Gothic"/>
                <a:ea typeface="Malgun Gothic"/>
                <a:cs typeface="Malgun Gothic"/>
              </a:rPr>
              <a:t>재빌드</a:t>
            </a:r>
          </a:p>
        </p:txBody>
      </p:sp>
      <p:cxnSp>
        <p:nvCxnSpPr>
          <p:cNvPr id="28" name="Lane Divider"/>
          <p:cNvCxnSpPr/>
          <p:nvPr/>
        </p:nvCxnSpPr>
        <p:spPr>
          <a:xfrm>
            <a:off x="594360" y="3127248"/>
            <a:ext cx="7936992" cy="0"/>
          </a:xfrm>
          <a:prstGeom prst="line">
            <a:avLst/>
          </a:prstGeom>
          <a:ln w="9525">
            <a:solidFill>
              <a:srgbClr val="E3E8EF"/>
            </a:solidFill>
          </a:ln>
        </p:spPr>
      </p:cxnSp>
      <p:sp>
        <p:nvSpPr>
          <p:cNvPr id="29" name="Lane 2 Label"/>
          <p:cNvSpPr txBox="1"/>
          <p:nvPr/>
        </p:nvSpPr>
        <p:spPr>
          <a:xfrm>
            <a:off x="594360" y="3401568"/>
            <a:ext cx="1234440" cy="548640"/>
          </a:xfrm>
          <a:prstGeom prst="rect">
            <a:avLst/>
          </a:prstGeom>
          <a:noFill/>
        </p:spPr>
        <p:txBody>
          <a:bodyPr wrap="square" lIns="0" tIns="0" rIns="0" bIns="0" anchor="t">
            <a:spAutoFit/>
          </a:bodyPr>
          <a:lstStyle/>
          <a:p>
            <a:pPr algn="l"/>
            <a:r>
              <a:rPr sz="1200" b="1">
                <a:solidFill>
                  <a:srgbClr val="111827"/>
                </a:solidFill>
                <a:latin typeface="Malgun Gothic"/>
                <a:ea typeface="Malgun Gothic"/>
                <a:cs typeface="Malgun Gothic"/>
              </a:rPr>
              <a:t>배포 실패 시</a:t>
            </a:r>
          </a:p>
          <a:p>
            <a:pPr algn="l">
              <a:spcBef>
                <a:spcPts val="200"/>
              </a:spcBef>
            </a:pPr>
            <a:r>
              <a:rPr sz="950" b="1">
                <a:solidFill>
                  <a:srgbClr val="2B7FD4"/>
                </a:solidFill>
                <a:latin typeface="Malgun Gothic"/>
                <a:ea typeface="Malgun Gothic"/>
                <a:cs typeface="Malgun Gothic"/>
              </a:rPr>
              <a:t>문서 기반 RAG</a:t>
            </a:r>
          </a:p>
        </p:txBody>
      </p:sp>
      <p:sp>
        <p:nvSpPr>
          <p:cNvPr id="30" name="RAG Step 1"/>
          <p:cNvSpPr/>
          <p:nvPr/>
        </p:nvSpPr>
        <p:spPr>
          <a:xfrm>
            <a:off x="1828800" y="3346704"/>
            <a:ext cx="1463040" cy="603504"/>
          </a:xfrm>
          <a:prstGeom prst="roundRect">
            <a:avLst>
              <a:gd name="adj" fmla="val 10000"/>
            </a:avLst>
          </a:prstGeom>
          <a:solidFill>
            <a:srgbClr val="FFFFFF"/>
          </a:solidFill>
          <a:ln w="12700">
            <a:solidFill>
              <a:srgbClr val="C9D1DC"/>
            </a:solidFill>
          </a:ln>
        </p:spPr>
        <p:txBody>
          <a:bodyPr rtlCol="0" anchor="ctr"/>
          <a:lstStyle/>
          <a:p>
            <a:pPr algn="ctr"/>
            <a:endParaRPr/>
          </a:p>
        </p:txBody>
      </p:sp>
      <p:sp>
        <p:nvSpPr>
          <p:cNvPr id="31" name="RAG Step 1 Text"/>
          <p:cNvSpPr txBox="1"/>
          <p:nvPr/>
        </p:nvSpPr>
        <p:spPr>
          <a:xfrm>
            <a:off x="1828800" y="3346704"/>
            <a:ext cx="1463040" cy="60350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규칙 점검</a:t>
            </a:r>
          </a:p>
          <a:p>
            <a:pPr algn="l">
              <a:spcBef>
                <a:spcPts val="200"/>
              </a:spcBef>
            </a:pPr>
            <a:r>
              <a:rPr sz="850" b="0">
                <a:solidFill>
                  <a:srgbClr val="6B7685"/>
                </a:solidFill>
                <a:latin typeface="Malgun Gothic"/>
                <a:ea typeface="Malgun Gothic"/>
                <a:cs typeface="Malgun Gothic"/>
              </a:rPr>
              <a:t>실패 로그 · 관련 파일</a:t>
            </a:r>
          </a:p>
        </p:txBody>
      </p:sp>
      <p:sp>
        <p:nvSpPr>
          <p:cNvPr id="32" name="RAG Step 2"/>
          <p:cNvSpPr/>
          <p:nvPr/>
        </p:nvSpPr>
        <p:spPr>
          <a:xfrm>
            <a:off x="3584448" y="3346704"/>
            <a:ext cx="1463040" cy="603504"/>
          </a:xfrm>
          <a:prstGeom prst="roundRect">
            <a:avLst>
              <a:gd name="adj" fmla="val 10000"/>
            </a:avLst>
          </a:prstGeom>
          <a:solidFill>
            <a:srgbClr val="FFFFFF"/>
          </a:solidFill>
          <a:ln w="12700">
            <a:solidFill>
              <a:srgbClr val="C9D1DC"/>
            </a:solidFill>
          </a:ln>
        </p:spPr>
        <p:txBody>
          <a:bodyPr rtlCol="0" anchor="ctr"/>
          <a:lstStyle/>
          <a:p>
            <a:pPr algn="ctr"/>
            <a:endParaRPr/>
          </a:p>
        </p:txBody>
      </p:sp>
      <p:sp>
        <p:nvSpPr>
          <p:cNvPr id="33" name="RAG Step 2 Text"/>
          <p:cNvSpPr txBox="1"/>
          <p:nvPr/>
        </p:nvSpPr>
        <p:spPr>
          <a:xfrm>
            <a:off x="3584448" y="3346704"/>
            <a:ext cx="1463040" cy="60350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공식 문서 검색</a:t>
            </a:r>
          </a:p>
          <a:p>
            <a:pPr algn="l">
              <a:spcBef>
                <a:spcPts val="200"/>
              </a:spcBef>
            </a:pPr>
            <a:r>
              <a:rPr sz="850" b="0">
                <a:solidFill>
                  <a:srgbClr val="6B7685"/>
                </a:solidFill>
                <a:latin typeface="Malgun Gothic"/>
                <a:ea typeface="Malgun Gothic"/>
                <a:cs typeface="Malgun Gothic"/>
              </a:rPr>
              <a:t>BM25 + E5 · RRF 결합</a:t>
            </a:r>
          </a:p>
        </p:txBody>
      </p:sp>
      <p:sp>
        <p:nvSpPr>
          <p:cNvPr id="34" name="RAG Step 3"/>
          <p:cNvSpPr/>
          <p:nvPr/>
        </p:nvSpPr>
        <p:spPr>
          <a:xfrm>
            <a:off x="5340096" y="3346704"/>
            <a:ext cx="1463040" cy="603504"/>
          </a:xfrm>
          <a:prstGeom prst="roundRect">
            <a:avLst>
              <a:gd name="adj" fmla="val 10000"/>
            </a:avLst>
          </a:prstGeom>
          <a:solidFill>
            <a:srgbClr val="FFFFFF"/>
          </a:solidFill>
          <a:ln w="12700">
            <a:solidFill>
              <a:srgbClr val="C9D1DC"/>
            </a:solidFill>
          </a:ln>
        </p:spPr>
        <p:txBody>
          <a:bodyPr rtlCol="0" anchor="ctr"/>
          <a:lstStyle/>
          <a:p>
            <a:pPr algn="ctr"/>
            <a:endParaRPr/>
          </a:p>
        </p:txBody>
      </p:sp>
      <p:sp>
        <p:nvSpPr>
          <p:cNvPr id="35" name="RAG Step 3 Text"/>
          <p:cNvSpPr txBox="1"/>
          <p:nvPr/>
        </p:nvSpPr>
        <p:spPr>
          <a:xfrm>
            <a:off x="5340096" y="3346704"/>
            <a:ext cx="1463040" cy="60350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근거 포함 수정안</a:t>
            </a:r>
          </a:p>
          <a:p>
            <a:pPr algn="l">
              <a:spcBef>
                <a:spcPts val="200"/>
              </a:spcBef>
            </a:pPr>
            <a:r>
              <a:rPr sz="850" b="0">
                <a:solidFill>
                  <a:srgbClr val="6B7685"/>
                </a:solidFill>
                <a:latin typeface="Malgun Gothic"/>
                <a:ea typeface="Malgun Gothic"/>
                <a:cs typeface="Malgun Gothic"/>
              </a:rPr>
              <a:t>파일 diff · 출처 단락</a:t>
            </a:r>
          </a:p>
        </p:txBody>
      </p:sp>
      <p:sp>
        <p:nvSpPr>
          <p:cNvPr id="36" name="RAG Step 4"/>
          <p:cNvSpPr/>
          <p:nvPr/>
        </p:nvSpPr>
        <p:spPr>
          <a:xfrm>
            <a:off x="7095744" y="3346704"/>
            <a:ext cx="1463040" cy="603504"/>
          </a:xfrm>
          <a:prstGeom prst="roundRect">
            <a:avLst>
              <a:gd name="adj" fmla="val 10000"/>
            </a:avLst>
          </a:prstGeom>
          <a:solidFill>
            <a:srgbClr val="EEF5FD"/>
          </a:solidFill>
          <a:ln w="12700">
            <a:solidFill>
              <a:srgbClr val="2B7FD4"/>
            </a:solidFill>
          </a:ln>
        </p:spPr>
        <p:txBody>
          <a:bodyPr rtlCol="0" anchor="ctr"/>
          <a:lstStyle/>
          <a:p>
            <a:pPr algn="ctr"/>
            <a:endParaRPr/>
          </a:p>
        </p:txBody>
      </p:sp>
      <p:sp>
        <p:nvSpPr>
          <p:cNvPr id="37" name="RAG Step 4 Text"/>
          <p:cNvSpPr txBox="1"/>
          <p:nvPr/>
        </p:nvSpPr>
        <p:spPr>
          <a:xfrm>
            <a:off x="7095744" y="3346704"/>
            <a:ext cx="1463040" cy="603504"/>
          </a:xfrm>
          <a:prstGeom prst="rect">
            <a:avLst/>
          </a:prstGeom>
          <a:noFill/>
        </p:spPr>
        <p:txBody>
          <a:bodyPr wrap="square" lIns="109728" tIns="0" rIns="109728" bIns="0" anchor="ctr">
            <a:spAutoFit/>
          </a:bodyPr>
          <a:lstStyle/>
          <a:p>
            <a:pPr algn="l"/>
            <a:r>
              <a:rPr sz="1050" b="1">
                <a:solidFill>
                  <a:srgbClr val="111827"/>
                </a:solidFill>
                <a:latin typeface="Malgun Gothic"/>
                <a:ea typeface="Malgun Gothic"/>
                <a:cs typeface="Malgun Gothic"/>
              </a:rPr>
              <a:t>사용자 승인</a:t>
            </a:r>
          </a:p>
          <a:p>
            <a:pPr algn="l">
              <a:spcBef>
                <a:spcPts val="200"/>
              </a:spcBef>
            </a:pPr>
            <a:r>
              <a:rPr sz="850" b="0">
                <a:solidFill>
                  <a:srgbClr val="6B7685"/>
                </a:solidFill>
                <a:latin typeface="Malgun Gothic"/>
                <a:ea typeface="Malgun Gothic"/>
                <a:cs typeface="Malgun Gothic"/>
              </a:rPr>
              <a:t>복사본 재검증 통과 후</a:t>
            </a:r>
          </a:p>
        </p:txBody>
      </p:sp>
      <p:cxnSp>
        <p:nvCxnSpPr>
          <p:cNvPr id="38" name="RAG Arrow 1"/>
          <p:cNvCxnSpPr/>
          <p:nvPr/>
        </p:nvCxnSpPr>
        <p:spPr>
          <a:xfrm>
            <a:off x="3328416" y="3648456"/>
            <a:ext cx="219456" cy="0"/>
          </a:xfrm>
          <a:prstGeom prst="line">
            <a:avLst/>
          </a:prstGeom>
          <a:ln w="15875">
            <a:solidFill>
              <a:srgbClr val="8A96A6"/>
            </a:solidFill>
            <a:tailEnd type="triangle" w="med" len="med"/>
          </a:ln>
        </p:spPr>
      </p:cxnSp>
      <p:cxnSp>
        <p:nvCxnSpPr>
          <p:cNvPr id="39" name="RAG Arrow 2"/>
          <p:cNvCxnSpPr/>
          <p:nvPr/>
        </p:nvCxnSpPr>
        <p:spPr>
          <a:xfrm>
            <a:off x="5084064" y="3648456"/>
            <a:ext cx="219456" cy="0"/>
          </a:xfrm>
          <a:prstGeom prst="line">
            <a:avLst/>
          </a:prstGeom>
          <a:ln w="15875">
            <a:solidFill>
              <a:srgbClr val="8A96A6"/>
            </a:solidFill>
            <a:tailEnd type="triangle" w="med" len="med"/>
          </a:ln>
        </p:spPr>
      </p:cxnSp>
      <p:cxnSp>
        <p:nvCxnSpPr>
          <p:cNvPr id="40" name="RAG Arrow 3"/>
          <p:cNvCxnSpPr/>
          <p:nvPr/>
        </p:nvCxnSpPr>
        <p:spPr>
          <a:xfrm>
            <a:off x="6839712" y="3648456"/>
            <a:ext cx="219456" cy="0"/>
          </a:xfrm>
          <a:prstGeom prst="line">
            <a:avLst/>
          </a:prstGeom>
          <a:ln w="15875">
            <a:solidFill>
              <a:srgbClr val="8A96A6"/>
            </a:solidFill>
            <a:tailEnd type="triangle" w="med" len="med"/>
          </a:ln>
        </p:spPr>
      </p:cxnSp>
      <p:sp>
        <p:nvSpPr>
          <p:cNvPr id="41" name="Footnote"/>
          <p:cNvSpPr txBox="1"/>
          <p:nvPr/>
        </p:nvSpPr>
        <p:spPr>
          <a:xfrm>
            <a:off x="594360" y="4224528"/>
            <a:ext cx="7936992" cy="384048"/>
          </a:xfrm>
          <a:prstGeom prst="rect">
            <a:avLst/>
          </a:prstGeom>
          <a:noFill/>
        </p:spPr>
        <p:txBody>
          <a:bodyPr wrap="square" lIns="0" tIns="0" rIns="0" bIns="0" anchor="t">
            <a:spAutoFit/>
          </a:bodyPr>
          <a:lstStyle/>
          <a:p>
            <a:pPr algn="l"/>
            <a:r>
              <a:rPr sz="900" b="0">
                <a:solidFill>
                  <a:srgbClr val="6B7685"/>
                </a:solidFill>
                <a:latin typeface="Malgun Gothic"/>
                <a:ea typeface="Malgun Gothic"/>
                <a:cs typeface="Malgun Gothic"/>
              </a:rPr>
              <a:t>ECS · IAM · S3 환경 오류는 빌드 통과만으로 승인하지 않고 수동 확인으로 남깁니다. 승인 뒤 재배포는 별도 승인으로 실행합니다.</a:t>
            </a:r>
          </a:p>
        </p:txBody>
      </p:sp>
      <p:sp>
        <p:nvSpPr>
          <p:cNvPr id="7" name="Slide Number Placeholder 0">
            <a:extLst>
              <a:ext uri="{FF2B5EF4-FFF2-40B4-BE49-F238E27FC236}">
                <a16:creationId xmlns:a16="http://schemas.microsoft.com/office/drawing/2014/main" id="{DF5014AA-5DCE-4921-B8BE-2289F445836E}"/>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r>
              <a:rPr sz="900">
                <a:solidFill>
                  <a:srgbClr val="2B7FD4"/>
                </a:solidFill>
                <a:latin typeface="Malgun Gothic"/>
                <a:ea typeface="Malgun Gothic"/>
                <a:cs typeface="Malgun Gothic"/>
              </a:rPr>
              <a:t>16</a:t>
            </a:r>
            <a:endParaRPr/>
          </a:p>
        </p:txBody>
      </p:sp>
    </p:spTree>
    <p:extLst>
      <p:ext uri="{BB962C8B-B14F-4D97-AF65-F5344CB8AC3E}">
        <p14:creationId xmlns:p14="http://schemas.microsoft.com/office/powerpoint/2010/main" val="418508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4A204BE-3704-4522-872A-91A16BAEB115}"/>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a:defRPr sz="2000" b="1">
                <a:solidFill>
                  <a:srgbClr val="000000"/>
                </a:solidFill>
                <a:latin typeface="Malgun Gothic"/>
                <a:ea typeface="Malgun Gothic"/>
                <a:cs typeface="Malgun Gothic"/>
              </a:defRPr>
            </a:pPr>
            <a:r>
              <a:rPr lang="en-US" altLang="ko-KR" dirty="0">
                <a:solidFill>
                  <a:srgbClr val="000000"/>
                </a:solidFill>
              </a:rPr>
              <a:t>|  </a:t>
            </a:r>
            <a:r>
              <a:rPr lang="ko-KR" altLang="en-US" dirty="0">
                <a:solidFill>
                  <a:srgbClr val="000000"/>
                </a:solidFill>
              </a:rPr>
              <a:t>기능 소개 </a:t>
            </a:r>
            <a:r>
              <a:rPr lang="en-US" altLang="ko-KR" dirty="0">
                <a:solidFill>
                  <a:srgbClr val="000000"/>
                </a:solidFill>
              </a:rPr>
              <a:t>:</a:t>
            </a:r>
            <a:r>
              <a:rPr lang="ko-KR" altLang="en-US" dirty="0">
                <a:solidFill>
                  <a:srgbClr val="000000"/>
                </a:solidFill>
              </a:rPr>
              <a:t> 보안</a:t>
            </a:r>
            <a:endParaRPr sz="2000" dirty="0"/>
          </a:p>
        </p:txBody>
      </p:sp>
      <p:sp>
        <p:nvSpPr>
          <p:cNvPr id="3" name="Text 0">
            <a:extLst>
              <a:ext uri="{FF2B5EF4-FFF2-40B4-BE49-F238E27FC236}">
                <a16:creationId xmlns:a16="http://schemas.microsoft.com/office/drawing/2014/main" id="{537C390C-FCE9-47BA-80BC-658F515514F8}"/>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EFCA88D9-005E-42F5-AED3-E8FFA66BA281}"/>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lang="ko-KR" altLang="en-US"/>
          </a:p>
        </p:txBody>
      </p:sp>
      <p:pic>
        <p:nvPicPr>
          <p:cNvPr id="5" name="Image 0">
            <a:extLst>
              <a:ext uri="{FF2B5EF4-FFF2-40B4-BE49-F238E27FC236}">
                <a16:creationId xmlns:a16="http://schemas.microsoft.com/office/drawing/2014/main" id="{C91C6719-47AD-477D-8F8F-757C7613C7E8}"/>
              </a:ext>
            </a:extLst>
          </p:cNvPr>
          <p:cNvPicPr>
            <a:picLocks noChangeAspect="1"/>
          </p:cNvPicPr>
          <p:nvPr/>
        </p:nvPicPr>
        <p:blipFill>
          <a:blip r:embed="rId3"/>
          <a:stretch>
            <a:fillRect/>
          </a:stretch>
        </p:blipFill>
        <p:spPr>
          <a:xfrm>
            <a:off x="1161288" y="886968"/>
            <a:ext cx="6830568" cy="3840480"/>
          </a:xfrm>
          <a:prstGeom prst="rect">
            <a:avLst/>
          </a:prstGeom>
        </p:spPr>
      </p:pic>
      <p:sp>
        <p:nvSpPr>
          <p:cNvPr id="6" name="Shape 3">
            <a:extLst>
              <a:ext uri="{FF2B5EF4-FFF2-40B4-BE49-F238E27FC236}">
                <a16:creationId xmlns:a16="http://schemas.microsoft.com/office/drawing/2014/main" id="{44053A33-8AA2-458F-AF5D-A62A00381279}"/>
              </a:ext>
            </a:extLst>
          </p:cNvPr>
          <p:cNvSpPr>
            <a:spLocks noGrp="1"/>
          </p:cNvSpPr>
          <p:nvPr/>
        </p:nvSpPr>
        <p:spPr>
          <a:xfrm>
            <a:off x="573786" y="1945386"/>
            <a:ext cx="5348478" cy="2467166"/>
          </a:xfrm>
          <a:prstGeom prst="rect">
            <a:avLst/>
          </a:prstGeom>
          <a:solidFill>
            <a:srgbClr val="FFFFFF"/>
          </a:solidFill>
          <a:ln w="31750">
            <a:solidFill>
              <a:srgbClr val="E02B2B"/>
            </a:solidFill>
            <a:prstDash val="solid"/>
          </a:ln>
          <a:effectLst>
            <a:outerShdw blurRad="127000" dist="25400" dir="5400000" algn="bl" rotWithShape="0">
              <a:srgbClr val="000000">
                <a:alpha val="10000"/>
              </a:srgbClr>
            </a:outerShdw>
          </a:effectLst>
        </p:spPr>
        <p:txBody>
          <a:bodyPr/>
          <a:lstStyle/>
          <a:p>
            <a:endParaRPr lang="ko-KR" altLang="en-US"/>
          </a:p>
        </p:txBody>
      </p:sp>
      <p:sp>
        <p:nvSpPr>
          <p:cNvPr id="8" name="Shape 4">
            <a:extLst>
              <a:ext uri="{FF2B5EF4-FFF2-40B4-BE49-F238E27FC236}">
                <a16:creationId xmlns:a16="http://schemas.microsoft.com/office/drawing/2014/main" id="{A40C28EA-D365-41ED-BB5D-65A623DF3FEB}"/>
              </a:ext>
            </a:extLst>
          </p:cNvPr>
          <p:cNvSpPr>
            <a:spLocks noGrp="1"/>
          </p:cNvSpPr>
          <p:nvPr/>
        </p:nvSpPr>
        <p:spPr>
          <a:xfrm>
            <a:off x="6217920" y="1097280"/>
            <a:ext cx="2423160" cy="3383280"/>
          </a:xfrm>
          <a:prstGeom prst="roundRect">
            <a:avLst>
              <a:gd name="adj" fmla="val 4528"/>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9" name="Shape 5">
            <a:extLst>
              <a:ext uri="{FF2B5EF4-FFF2-40B4-BE49-F238E27FC236}">
                <a16:creationId xmlns:a16="http://schemas.microsoft.com/office/drawing/2014/main" id="{B5313EC8-6FD8-4E62-AECA-7682379DEF72}"/>
              </a:ext>
            </a:extLst>
          </p:cNvPr>
          <p:cNvSpPr>
            <a:spLocks noGrp="1"/>
          </p:cNvSpPr>
          <p:nvPr/>
        </p:nvSpPr>
        <p:spPr>
          <a:xfrm>
            <a:off x="6400800" y="1298448"/>
            <a:ext cx="1508760" cy="310896"/>
          </a:xfrm>
          <a:prstGeom prst="roundRect">
            <a:avLst>
              <a:gd name="adj" fmla="val 50000"/>
            </a:avLst>
          </a:prstGeom>
          <a:solidFill>
            <a:srgbClr val="E02B2B"/>
          </a:solidFill>
        </p:spPr>
        <p:txBody>
          <a:bodyPr/>
          <a:lstStyle/>
          <a:p>
            <a:endParaRPr lang="ko-KR" altLang="en-US"/>
          </a:p>
        </p:txBody>
      </p:sp>
      <p:sp>
        <p:nvSpPr>
          <p:cNvPr id="10" name="Text 6">
            <a:extLst>
              <a:ext uri="{FF2B5EF4-FFF2-40B4-BE49-F238E27FC236}">
                <a16:creationId xmlns:a16="http://schemas.microsoft.com/office/drawing/2014/main" id="{C62A5116-9A0F-4D6B-874B-891BFA0CEE1E}"/>
              </a:ext>
            </a:extLst>
          </p:cNvPr>
          <p:cNvSpPr>
            <a:spLocks noGrp="1"/>
          </p:cNvSpPr>
          <p:nvPr/>
        </p:nvSpPr>
        <p:spPr>
          <a:xfrm>
            <a:off x="6400800" y="1298448"/>
            <a:ext cx="1508760" cy="310896"/>
          </a:xfrm>
          <a:prstGeom prst="rect">
            <a:avLst/>
          </a:prstGeom>
          <a:noFill/>
        </p:spPr>
        <p:txBody>
          <a:bodyPr wrap="square" lIns="0" tIns="0" rIns="0" bIns="0" anchor="ctr"/>
          <a:lstStyle/>
          <a:p>
            <a:pPr marL="0" indent="0" algn="ctr">
              <a:buNone/>
            </a:pPr>
            <a:r>
              <a:rPr sz="1050" b="1">
                <a:solidFill>
                  <a:srgbClr val="FFFFFF"/>
                </a:solidFill>
                <a:latin typeface="Malgun Gothic"/>
                <a:ea typeface="Malgun Gothic"/>
                <a:cs typeface="Malgun Gothic"/>
              </a:rPr>
              <a:t>기능 2 · 보안</a:t>
            </a:r>
            <a:endParaRPr sz="1050"/>
          </a:p>
        </p:txBody>
      </p:sp>
      <p:sp>
        <p:nvSpPr>
          <p:cNvPr id="11" name="Text 7">
            <a:extLst>
              <a:ext uri="{FF2B5EF4-FFF2-40B4-BE49-F238E27FC236}">
                <a16:creationId xmlns:a16="http://schemas.microsoft.com/office/drawing/2014/main" id="{39377249-F2BC-40D8-8D6C-BCE7B5AC095F}"/>
              </a:ext>
            </a:extLst>
          </p:cNvPr>
          <p:cNvSpPr>
            <a:spLocks noGrp="1"/>
          </p:cNvSpPr>
          <p:nvPr/>
        </p:nvSpPr>
        <p:spPr>
          <a:xfrm>
            <a:off x="6400800" y="1737360"/>
            <a:ext cx="2148840" cy="365760"/>
          </a:xfrm>
          <a:prstGeom prst="rect">
            <a:avLst/>
          </a:prstGeom>
          <a:noFill/>
        </p:spPr>
        <p:txBody>
          <a:bodyPr wrap="square" lIns="0" tIns="0" rIns="0" bIns="0" anchor="t"/>
          <a:lstStyle>
            <a:defPPr>
              <a:defRPr>
                <a:solidFill>
                  <a:srgbClr val="000000"/>
                </a:solidFill>
              </a:defRPr>
            </a:defPPr>
          </a:lstStyle>
          <a:p>
            <a:pPr marL="0" indent="0">
              <a:buNone/>
            </a:pPr>
            <a:r>
              <a:rPr sz="1500" b="1">
                <a:solidFill>
                  <a:srgbClr val="000000"/>
                </a:solidFill>
                <a:latin typeface="Malgun Gothic"/>
                <a:ea typeface="Malgun Gothic"/>
                <a:cs typeface="Malgun Gothic"/>
              </a:rPr>
              <a:t>빌드와 보안 게이트</a:t>
            </a:r>
            <a:endParaRPr sz="1500"/>
          </a:p>
        </p:txBody>
      </p:sp>
      <p:sp>
        <p:nvSpPr>
          <p:cNvPr id="12" name="Text 8">
            <a:extLst>
              <a:ext uri="{FF2B5EF4-FFF2-40B4-BE49-F238E27FC236}">
                <a16:creationId xmlns:a16="http://schemas.microsoft.com/office/drawing/2014/main" id="{6E3BA5F1-8554-4EE8-A4D0-5BE8CA7C2233}"/>
              </a:ext>
            </a:extLst>
          </p:cNvPr>
          <p:cNvSpPr>
            <a:spLocks noGrp="1"/>
          </p:cNvSpPr>
          <p:nvPr/>
        </p:nvSpPr>
        <p:spPr>
          <a:xfrm>
            <a:off x="6400800" y="2240280"/>
            <a:ext cx="2148840" cy="2103120"/>
          </a:xfrm>
          <a:prstGeom prst="rect">
            <a:avLst/>
          </a:prstGeom>
          <a:noFill/>
        </p:spPr>
        <p:txBody>
          <a:bodyPr wrap="square" lIns="0" tIns="0" rIns="0" bIns="0" anchor="t"/>
          <a:lstStyle/>
          <a:p>
            <a:pPr marL="152400" indent="-152400">
              <a:spcAft>
                <a:spcPts val="900"/>
              </a:spcAft>
              <a:buSzPct val="100000"/>
              <a:buChar char="•"/>
            </a:pPr>
            <a:r>
              <a:rPr sz="1050">
                <a:solidFill>
                  <a:srgbClr val="333333"/>
                </a:solidFill>
                <a:latin typeface="Malgun Gothic"/>
                <a:ea typeface="Malgun Gothic"/>
                <a:cs typeface="Malgun Gothic"/>
              </a:rPr>
              <a:t>Docker로 빌드하고 로컬에서 실행</a:t>
            </a:r>
            <a:endParaRPr sz="1050"/>
          </a:p>
          <a:p>
            <a:pPr marL="152400" indent="-152400">
              <a:spcAft>
                <a:spcPts val="900"/>
              </a:spcAft>
              <a:buSzPct val="100000"/>
              <a:buChar char="•"/>
            </a:pPr>
            <a:r>
              <a:rPr sz="1050">
                <a:solidFill>
                  <a:srgbClr val="333333"/>
                </a:solidFill>
                <a:latin typeface="Malgun Gothic"/>
                <a:ea typeface="Malgun Gothic"/>
                <a:cs typeface="Malgun Gothic"/>
              </a:rPr>
              <a:t>배포 전 Trivy · Hadolint · Gitleaks 검사</a:t>
            </a:r>
            <a:endParaRPr sz="1050"/>
          </a:p>
          <a:p>
            <a:pPr marL="152400" indent="-152400">
              <a:spcAft>
                <a:spcPts val="900"/>
              </a:spcAft>
              <a:buSzPct val="100000"/>
              <a:buChar char="•"/>
            </a:pPr>
            <a:r>
              <a:rPr sz="1050">
                <a:solidFill>
                  <a:srgbClr val="333333"/>
                </a:solidFill>
                <a:latin typeface="Malgun Gothic"/>
                <a:ea typeface="Malgun Gothic"/>
                <a:cs typeface="Malgun Gothic"/>
              </a:rPr>
              <a:t>막을 문제가 있으면 배포하지 않음</a:t>
            </a:r>
            <a:endParaRPr sz="1050"/>
          </a:p>
        </p:txBody>
      </p:sp>
      <p:sp>
        <p:nvSpPr>
          <p:cNvPr id="25" name="Slide Number Placeholder 0">
            <a:extLst>
              <a:ext uri="{FF2B5EF4-FFF2-40B4-BE49-F238E27FC236}">
                <a16:creationId xmlns:a16="http://schemas.microsoft.com/office/drawing/2014/main" id="{0AC8D2B8-57A6-40AA-BB66-271BC1B642A6}"/>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B1C6C81E-38B9-7560-621D-5A151A79DF9B}" type="slidenum">
              <a:rPr sz="900" b="1">
                <a:solidFill>
                  <a:srgbClr val="2B7FD4"/>
                </a:solidFill>
                <a:latin typeface="Malgun Gothic"/>
                <a:ea typeface="Malgun Gothic"/>
                <a:cs typeface="Malgun Gothic"/>
              </a:rPr>
              <a:t>17</a:t>
            </a:fld>
            <a:endParaRPr/>
          </a:p>
        </p:txBody>
      </p:sp>
      <p:pic>
        <p:nvPicPr>
          <p:cNvPr id="26" name="그림 25">
            <a:extLst>
              <a:ext uri="{FF2B5EF4-FFF2-40B4-BE49-F238E27FC236}">
                <a16:creationId xmlns:a16="http://schemas.microsoft.com/office/drawing/2014/main" id="{917A9A4B-C160-48C2-9892-EB5A6531A25E}"/>
              </a:ext>
            </a:extLst>
          </p:cNvPr>
          <p:cNvPicPr>
            <a:picLocks noChangeAspect="1"/>
          </p:cNvPicPr>
          <p:nvPr/>
        </p:nvPicPr>
        <p:blipFill>
          <a:blip r:embed="rId4"/>
          <a:srcRect l="29900" t="44400" r="38100" b="30000"/>
          <a:stretch/>
        </p:blipFill>
        <p:spPr>
          <a:xfrm>
            <a:off x="628650" y="2000250"/>
            <a:ext cx="5238750" cy="2357438"/>
          </a:xfrm>
          <a:prstGeom prst="rect">
            <a:avLst/>
          </a:prstGeom>
        </p:spPr>
      </p:pic>
    </p:spTree>
    <p:extLst>
      <p:ext uri="{BB962C8B-B14F-4D97-AF65-F5344CB8AC3E}">
        <p14:creationId xmlns:p14="http://schemas.microsoft.com/office/powerpoint/2010/main" val="1069126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3581299-0668-4E68-9A95-8D2E89CE2DFB}"/>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dirty="0">
                <a:solidFill>
                  <a:srgbClr val="000000"/>
                </a:solidFill>
                <a:latin typeface="Malgun Gothic"/>
                <a:ea typeface="Malgun Gothic"/>
                <a:cs typeface="Malgun Gothic"/>
              </a:rPr>
              <a:t>|  </a:t>
            </a:r>
            <a:r>
              <a:rPr lang="en-US" sz="2000" b="1" dirty="0">
                <a:solidFill>
                  <a:srgbClr val="000000"/>
                </a:solidFill>
                <a:latin typeface="Malgun Gothic"/>
                <a:ea typeface="Malgun Gothic"/>
                <a:cs typeface="Malgun Gothic"/>
              </a:rPr>
              <a:t>Step 1. </a:t>
            </a:r>
            <a:r>
              <a:rPr sz="2000" b="1" dirty="0" err="1">
                <a:solidFill>
                  <a:srgbClr val="000000"/>
                </a:solidFill>
                <a:latin typeface="Malgun Gothic"/>
                <a:ea typeface="Malgun Gothic"/>
                <a:cs typeface="Malgun Gothic"/>
              </a:rPr>
              <a:t>차단과</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수정</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후</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재검사</a:t>
            </a:r>
            <a:endParaRPr sz="2000" dirty="0"/>
          </a:p>
        </p:txBody>
      </p:sp>
      <p:sp>
        <p:nvSpPr>
          <p:cNvPr id="3" name="Text 0">
            <a:extLst>
              <a:ext uri="{FF2B5EF4-FFF2-40B4-BE49-F238E27FC236}">
                <a16:creationId xmlns:a16="http://schemas.microsoft.com/office/drawing/2014/main" id="{BA305FEC-7C45-4A73-9552-16B7349B6641}"/>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8B3726C6-02D9-4285-A764-A4796E35D31A}"/>
              </a:ext>
            </a:extLst>
          </p:cNvPr>
          <p:cNvSpPr>
            <a:spLocks noGrp="1"/>
          </p:cNvSpPr>
          <p:nvPr/>
        </p:nvSpPr>
        <p:spPr>
          <a:xfrm>
            <a:off x="411480" y="777240"/>
            <a:ext cx="2651760" cy="365760"/>
          </a:xfrm>
          <a:prstGeom prst="roundRect">
            <a:avLst>
              <a:gd name="adj" fmla="val 50000"/>
            </a:avLst>
          </a:prstGeom>
          <a:solidFill>
            <a:srgbClr val="E02B2B"/>
          </a:solidFill>
        </p:spPr>
        <p:txBody>
          <a:bodyPr/>
          <a:lstStyle/>
          <a:p>
            <a:endParaRPr/>
          </a:p>
        </p:txBody>
      </p:sp>
      <p:sp>
        <p:nvSpPr>
          <p:cNvPr id="5" name="Text 3">
            <a:extLst>
              <a:ext uri="{FF2B5EF4-FFF2-40B4-BE49-F238E27FC236}">
                <a16:creationId xmlns:a16="http://schemas.microsoft.com/office/drawing/2014/main" id="{7B8E0AAF-A026-4ED0-9C26-9A427B00F50E}"/>
              </a:ext>
            </a:extLst>
          </p:cNvPr>
          <p:cNvSpPr>
            <a:spLocks noGrp="1"/>
          </p:cNvSpPr>
          <p:nvPr/>
        </p:nvSpPr>
        <p:spPr>
          <a:xfrm>
            <a:off x="411480" y="777240"/>
            <a:ext cx="2651760" cy="365760"/>
          </a:xfrm>
          <a:prstGeom prst="rect">
            <a:avLst/>
          </a:prstGeom>
          <a:noFill/>
        </p:spPr>
        <p:txBody>
          <a:bodyPr wrap="square" lIns="0" tIns="0" rIns="0" bIns="0" anchor="ctr"/>
          <a:lstStyle/>
          <a:p>
            <a:pPr marL="0" indent="0" algn="ctr">
              <a:buNone/>
            </a:pPr>
            <a:r>
              <a:rPr sz="1150" b="1">
                <a:solidFill>
                  <a:srgbClr val="FFFFFF"/>
                </a:solidFill>
                <a:latin typeface="Malgun Gothic"/>
                <a:ea typeface="Malgun Gothic"/>
                <a:cs typeface="Malgun Gothic"/>
              </a:rPr>
              <a:t>차단 항목 발견 시 배포 중단</a:t>
            </a:r>
            <a:endParaRPr sz="1150"/>
          </a:p>
        </p:txBody>
      </p:sp>
      <p:sp>
        <p:nvSpPr>
          <p:cNvPr id="6" name="Shape 4">
            <a:extLst>
              <a:ext uri="{FF2B5EF4-FFF2-40B4-BE49-F238E27FC236}">
                <a16:creationId xmlns:a16="http://schemas.microsoft.com/office/drawing/2014/main" id="{3DEB6FF5-9AE0-4A56-BCFF-82E5867EF7AA}"/>
              </a:ext>
            </a:extLst>
          </p:cNvPr>
          <p:cNvSpPr>
            <a:spLocks noGrp="1"/>
          </p:cNvSpPr>
          <p:nvPr/>
        </p:nvSpPr>
        <p:spPr>
          <a:xfrm>
            <a:off x="356616" y="1243584"/>
            <a:ext cx="4133088" cy="2424537"/>
          </a:xfrm>
          <a:prstGeom prst="roundRect">
            <a:avLst>
              <a:gd name="adj" fmla="val 2339"/>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10" name="Text 6">
            <a:extLst>
              <a:ext uri="{FF2B5EF4-FFF2-40B4-BE49-F238E27FC236}">
                <a16:creationId xmlns:a16="http://schemas.microsoft.com/office/drawing/2014/main" id="{9D9B8854-FCD5-4510-B78F-ED34E630FF5B}"/>
              </a:ext>
            </a:extLst>
          </p:cNvPr>
          <p:cNvSpPr>
            <a:spLocks noGrp="1"/>
          </p:cNvSpPr>
          <p:nvPr/>
        </p:nvSpPr>
        <p:spPr>
          <a:xfrm>
            <a:off x="411480" y="3796137"/>
            <a:ext cx="365760" cy="274320"/>
          </a:xfrm>
          <a:prstGeom prst="rect">
            <a:avLst/>
          </a:prstGeom>
          <a:noFill/>
        </p:spPr>
        <p:txBody>
          <a:bodyPr wrap="square" lIns="0" tIns="0" rIns="0" bIns="0" anchor="t"/>
          <a:lstStyle/>
          <a:p>
            <a:pPr marL="0" indent="0">
              <a:buNone/>
            </a:pPr>
            <a:r>
              <a:rPr sz="1100" b="1">
                <a:solidFill>
                  <a:srgbClr val="E02B2B"/>
                </a:solidFill>
                <a:latin typeface="Malgun Gothic"/>
                <a:ea typeface="Malgun Gothic"/>
                <a:cs typeface="Malgun Gothic"/>
              </a:rPr>
              <a:t>01</a:t>
            </a:r>
            <a:endParaRPr sz="1100"/>
          </a:p>
        </p:txBody>
      </p:sp>
      <p:sp>
        <p:nvSpPr>
          <p:cNvPr id="11" name="Text 7">
            <a:extLst>
              <a:ext uri="{FF2B5EF4-FFF2-40B4-BE49-F238E27FC236}">
                <a16:creationId xmlns:a16="http://schemas.microsoft.com/office/drawing/2014/main" id="{B49A69A5-1A53-41C4-A508-5EF70FBA4FBD}"/>
              </a:ext>
            </a:extLst>
          </p:cNvPr>
          <p:cNvSpPr>
            <a:spLocks noGrp="1"/>
          </p:cNvSpPr>
          <p:nvPr/>
        </p:nvSpPr>
        <p:spPr>
          <a:xfrm>
            <a:off x="795528" y="3796137"/>
            <a:ext cx="3566160" cy="274320"/>
          </a:xfrm>
          <a:prstGeom prst="rect">
            <a:avLst/>
          </a:prstGeom>
          <a:noFill/>
        </p:spPr>
        <p:txBody>
          <a:bodyPr wrap="square" lIns="0" tIns="0" rIns="0" bIns="0" anchor="t"/>
          <a:lstStyle>
            <a:defPPr>
              <a:defRPr>
                <a:solidFill>
                  <a:srgbClr val="000000"/>
                </a:solidFill>
              </a:defRPr>
            </a:defPPr>
          </a:lstStyle>
          <a:p>
            <a:pPr marL="0" indent="0">
              <a:buNone/>
            </a:pPr>
            <a:r>
              <a:rPr sz="1100" b="1">
                <a:solidFill>
                  <a:srgbClr val="000000"/>
                </a:solidFill>
                <a:latin typeface="Malgun Gothic"/>
                <a:ea typeface="Malgun Gothic"/>
                <a:cs typeface="Malgun Gothic"/>
              </a:rPr>
              <a:t>Hadolint · Dockerfile 설정 검사</a:t>
            </a:r>
            <a:endParaRPr sz="1100" b="1"/>
          </a:p>
        </p:txBody>
      </p:sp>
      <p:sp>
        <p:nvSpPr>
          <p:cNvPr id="12" name="Text 8">
            <a:extLst>
              <a:ext uri="{FF2B5EF4-FFF2-40B4-BE49-F238E27FC236}">
                <a16:creationId xmlns:a16="http://schemas.microsoft.com/office/drawing/2014/main" id="{F3A6B0DB-A38D-4C9F-BF6E-37C2A7A95058}"/>
              </a:ext>
            </a:extLst>
          </p:cNvPr>
          <p:cNvSpPr>
            <a:spLocks noGrp="1"/>
          </p:cNvSpPr>
          <p:nvPr/>
        </p:nvSpPr>
        <p:spPr>
          <a:xfrm>
            <a:off x="411480" y="4107033"/>
            <a:ext cx="365760" cy="274320"/>
          </a:xfrm>
          <a:prstGeom prst="rect">
            <a:avLst/>
          </a:prstGeom>
          <a:noFill/>
        </p:spPr>
        <p:txBody>
          <a:bodyPr wrap="square" lIns="0" tIns="0" rIns="0" bIns="0" anchor="t"/>
          <a:lstStyle/>
          <a:p>
            <a:pPr marL="0" indent="0">
              <a:buNone/>
            </a:pPr>
            <a:r>
              <a:rPr sz="1100" b="1">
                <a:solidFill>
                  <a:srgbClr val="E02B2B"/>
                </a:solidFill>
                <a:latin typeface="Malgun Gothic"/>
                <a:ea typeface="Malgun Gothic"/>
                <a:cs typeface="Malgun Gothic"/>
              </a:rPr>
              <a:t>02</a:t>
            </a:r>
            <a:endParaRPr sz="1100"/>
          </a:p>
        </p:txBody>
      </p:sp>
      <p:sp>
        <p:nvSpPr>
          <p:cNvPr id="13" name="Text 9">
            <a:extLst>
              <a:ext uri="{FF2B5EF4-FFF2-40B4-BE49-F238E27FC236}">
                <a16:creationId xmlns:a16="http://schemas.microsoft.com/office/drawing/2014/main" id="{44EABEA4-5C58-4FC9-B060-F2EC16E48FA7}"/>
              </a:ext>
            </a:extLst>
          </p:cNvPr>
          <p:cNvSpPr>
            <a:spLocks noGrp="1"/>
          </p:cNvSpPr>
          <p:nvPr/>
        </p:nvSpPr>
        <p:spPr>
          <a:xfrm>
            <a:off x="795528" y="4107033"/>
            <a:ext cx="3566160" cy="274320"/>
          </a:xfrm>
          <a:prstGeom prst="rect">
            <a:avLst/>
          </a:prstGeom>
          <a:noFill/>
        </p:spPr>
        <p:txBody>
          <a:bodyPr wrap="square" lIns="0" tIns="0" rIns="0" bIns="0" anchor="t"/>
          <a:lstStyle>
            <a:defPPr>
              <a:defRPr>
                <a:solidFill>
                  <a:srgbClr val="000000"/>
                </a:solidFill>
              </a:defRPr>
            </a:defPPr>
          </a:lstStyle>
          <a:p>
            <a:pPr marL="0" indent="0">
              <a:buNone/>
            </a:pPr>
            <a:r>
              <a:rPr sz="1100" b="1">
                <a:solidFill>
                  <a:srgbClr val="000000"/>
                </a:solidFill>
                <a:latin typeface="Malgun Gothic"/>
                <a:ea typeface="Malgun Gothic"/>
                <a:cs typeface="Malgun Gothic"/>
              </a:rPr>
              <a:t>Gitleaks · 비밀값 노출 검사</a:t>
            </a:r>
            <a:endParaRPr sz="1100" b="1"/>
          </a:p>
        </p:txBody>
      </p:sp>
      <p:sp>
        <p:nvSpPr>
          <p:cNvPr id="14" name="Text 10">
            <a:extLst>
              <a:ext uri="{FF2B5EF4-FFF2-40B4-BE49-F238E27FC236}">
                <a16:creationId xmlns:a16="http://schemas.microsoft.com/office/drawing/2014/main" id="{A49A82E3-CB93-4061-A4F6-7012891AEACF}"/>
              </a:ext>
            </a:extLst>
          </p:cNvPr>
          <p:cNvSpPr>
            <a:spLocks noGrp="1"/>
          </p:cNvSpPr>
          <p:nvPr/>
        </p:nvSpPr>
        <p:spPr>
          <a:xfrm>
            <a:off x="411480" y="4417929"/>
            <a:ext cx="365760" cy="274320"/>
          </a:xfrm>
          <a:prstGeom prst="rect">
            <a:avLst/>
          </a:prstGeom>
          <a:noFill/>
        </p:spPr>
        <p:txBody>
          <a:bodyPr wrap="square" lIns="0" tIns="0" rIns="0" bIns="0" anchor="t"/>
          <a:lstStyle/>
          <a:p>
            <a:pPr marL="0" indent="0">
              <a:buNone/>
            </a:pPr>
            <a:r>
              <a:rPr sz="1100" b="1">
                <a:solidFill>
                  <a:srgbClr val="E02B2B"/>
                </a:solidFill>
                <a:latin typeface="Malgun Gothic"/>
                <a:ea typeface="Malgun Gothic"/>
                <a:cs typeface="Malgun Gothic"/>
              </a:rPr>
              <a:t>03</a:t>
            </a:r>
            <a:endParaRPr sz="1100"/>
          </a:p>
        </p:txBody>
      </p:sp>
      <p:sp>
        <p:nvSpPr>
          <p:cNvPr id="15" name="Text 11">
            <a:extLst>
              <a:ext uri="{FF2B5EF4-FFF2-40B4-BE49-F238E27FC236}">
                <a16:creationId xmlns:a16="http://schemas.microsoft.com/office/drawing/2014/main" id="{30332655-5791-415E-BD44-A320C09B1C54}"/>
              </a:ext>
            </a:extLst>
          </p:cNvPr>
          <p:cNvSpPr>
            <a:spLocks noGrp="1"/>
          </p:cNvSpPr>
          <p:nvPr/>
        </p:nvSpPr>
        <p:spPr>
          <a:xfrm>
            <a:off x="795528" y="4417929"/>
            <a:ext cx="3566160" cy="274320"/>
          </a:xfrm>
          <a:prstGeom prst="rect">
            <a:avLst/>
          </a:prstGeom>
          <a:noFill/>
        </p:spPr>
        <p:txBody>
          <a:bodyPr wrap="square" lIns="0" tIns="0" rIns="0" bIns="0" anchor="t"/>
          <a:lstStyle>
            <a:defPPr>
              <a:defRPr>
                <a:solidFill>
                  <a:srgbClr val="000000"/>
                </a:solidFill>
              </a:defRPr>
            </a:defPPr>
          </a:lstStyle>
          <a:p>
            <a:pPr marL="0" indent="0">
              <a:buNone/>
            </a:pPr>
            <a:r>
              <a:rPr sz="1100" b="1">
                <a:solidFill>
                  <a:srgbClr val="000000"/>
                </a:solidFill>
                <a:latin typeface="Malgun Gothic"/>
                <a:ea typeface="Malgun Gothic"/>
                <a:cs typeface="Malgun Gothic"/>
              </a:rPr>
              <a:t>Trivy · 이미지 취약점 검사</a:t>
            </a:r>
            <a:endParaRPr sz="1100" b="1"/>
          </a:p>
        </p:txBody>
      </p:sp>
      <p:sp>
        <p:nvSpPr>
          <p:cNvPr id="16" name="Shape 12">
            <a:extLst>
              <a:ext uri="{FF2B5EF4-FFF2-40B4-BE49-F238E27FC236}">
                <a16:creationId xmlns:a16="http://schemas.microsoft.com/office/drawing/2014/main" id="{3F2F6955-231E-43E3-8025-73856F43B7F0}"/>
              </a:ext>
            </a:extLst>
          </p:cNvPr>
          <p:cNvSpPr>
            <a:spLocks noGrp="1"/>
          </p:cNvSpPr>
          <p:nvPr/>
        </p:nvSpPr>
        <p:spPr>
          <a:xfrm>
            <a:off x="4709160" y="777240"/>
            <a:ext cx="2651760" cy="365760"/>
          </a:xfrm>
          <a:prstGeom prst="roundRect">
            <a:avLst>
              <a:gd name="adj" fmla="val 50000"/>
            </a:avLst>
          </a:prstGeom>
          <a:solidFill>
            <a:srgbClr val="2FA86B"/>
          </a:solidFill>
        </p:spPr>
        <p:txBody>
          <a:bodyPr/>
          <a:lstStyle/>
          <a:p>
            <a:endParaRPr/>
          </a:p>
        </p:txBody>
      </p:sp>
      <p:sp>
        <p:nvSpPr>
          <p:cNvPr id="17" name="Text 13">
            <a:extLst>
              <a:ext uri="{FF2B5EF4-FFF2-40B4-BE49-F238E27FC236}">
                <a16:creationId xmlns:a16="http://schemas.microsoft.com/office/drawing/2014/main" id="{8E6BC8A2-999F-4FC1-AB2C-94138C036A6B}"/>
              </a:ext>
            </a:extLst>
          </p:cNvPr>
          <p:cNvSpPr>
            <a:spLocks noGrp="1"/>
          </p:cNvSpPr>
          <p:nvPr/>
        </p:nvSpPr>
        <p:spPr>
          <a:xfrm>
            <a:off x="4709160" y="777240"/>
            <a:ext cx="2651760" cy="365760"/>
          </a:xfrm>
          <a:prstGeom prst="rect">
            <a:avLst/>
          </a:prstGeom>
          <a:noFill/>
        </p:spPr>
        <p:txBody>
          <a:bodyPr wrap="square" lIns="0" tIns="0" rIns="0" bIns="0" anchor="ctr"/>
          <a:lstStyle/>
          <a:p>
            <a:pPr marL="0" indent="0" algn="ctr">
              <a:buNone/>
            </a:pPr>
            <a:r>
              <a:rPr sz="1150" b="1">
                <a:solidFill>
                  <a:srgbClr val="FFFFFF"/>
                </a:solidFill>
                <a:latin typeface="Malgun Gothic"/>
                <a:ea typeface="Malgun Gothic"/>
                <a:cs typeface="Malgun Gothic"/>
              </a:rPr>
              <a:t>수정·재검사 후 배포 진행</a:t>
            </a:r>
            <a:endParaRPr sz="1150"/>
          </a:p>
        </p:txBody>
      </p:sp>
      <p:sp>
        <p:nvSpPr>
          <p:cNvPr id="18" name="Shape 14">
            <a:extLst>
              <a:ext uri="{FF2B5EF4-FFF2-40B4-BE49-F238E27FC236}">
                <a16:creationId xmlns:a16="http://schemas.microsoft.com/office/drawing/2014/main" id="{23F13DE6-06C4-4C7F-A189-CB495F0CA3EA}"/>
              </a:ext>
            </a:extLst>
          </p:cNvPr>
          <p:cNvSpPr>
            <a:spLocks noGrp="1"/>
          </p:cNvSpPr>
          <p:nvPr/>
        </p:nvSpPr>
        <p:spPr>
          <a:xfrm>
            <a:off x="4654296" y="1243584"/>
            <a:ext cx="4133088" cy="2424537"/>
          </a:xfrm>
          <a:prstGeom prst="roundRect">
            <a:avLst>
              <a:gd name="adj" fmla="val 2339"/>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22" name="Text 16">
            <a:extLst>
              <a:ext uri="{FF2B5EF4-FFF2-40B4-BE49-F238E27FC236}">
                <a16:creationId xmlns:a16="http://schemas.microsoft.com/office/drawing/2014/main" id="{229AEF3D-100D-4437-8276-689AFBE4BFED}"/>
              </a:ext>
            </a:extLst>
          </p:cNvPr>
          <p:cNvSpPr>
            <a:spLocks noGrp="1"/>
          </p:cNvSpPr>
          <p:nvPr/>
        </p:nvSpPr>
        <p:spPr>
          <a:xfrm>
            <a:off x="4709160" y="3796137"/>
            <a:ext cx="365760" cy="274320"/>
          </a:xfrm>
          <a:prstGeom prst="rect">
            <a:avLst/>
          </a:prstGeom>
          <a:noFill/>
        </p:spPr>
        <p:txBody>
          <a:bodyPr wrap="square" lIns="0" tIns="0" rIns="0" bIns="0" anchor="t"/>
          <a:lstStyle/>
          <a:p>
            <a:pPr marL="0" indent="0">
              <a:buNone/>
            </a:pPr>
            <a:r>
              <a:rPr sz="1100" b="1">
                <a:solidFill>
                  <a:srgbClr val="2FA86B"/>
                </a:solidFill>
                <a:latin typeface="Malgun Gothic"/>
                <a:ea typeface="Malgun Gothic"/>
                <a:cs typeface="Malgun Gothic"/>
              </a:rPr>
              <a:t>01</a:t>
            </a:r>
            <a:endParaRPr sz="1100"/>
          </a:p>
        </p:txBody>
      </p:sp>
      <p:sp>
        <p:nvSpPr>
          <p:cNvPr id="23" name="Text 17">
            <a:extLst>
              <a:ext uri="{FF2B5EF4-FFF2-40B4-BE49-F238E27FC236}">
                <a16:creationId xmlns:a16="http://schemas.microsoft.com/office/drawing/2014/main" id="{0FA2E1A9-09CE-49EB-AB8D-63A706FBBC30}"/>
              </a:ext>
            </a:extLst>
          </p:cNvPr>
          <p:cNvSpPr>
            <a:spLocks noGrp="1"/>
          </p:cNvSpPr>
          <p:nvPr/>
        </p:nvSpPr>
        <p:spPr>
          <a:xfrm>
            <a:off x="5093208" y="3796137"/>
            <a:ext cx="3566160" cy="274320"/>
          </a:xfrm>
          <a:prstGeom prst="rect">
            <a:avLst/>
          </a:prstGeom>
          <a:noFill/>
        </p:spPr>
        <p:txBody>
          <a:bodyPr wrap="square" lIns="0" tIns="0" rIns="0" bIns="0" anchor="t"/>
          <a:lstStyle>
            <a:defPPr>
              <a:defRPr>
                <a:solidFill>
                  <a:srgbClr val="000000"/>
                </a:solidFill>
              </a:defRPr>
            </a:defPPr>
          </a:lstStyle>
          <a:p>
            <a:pPr marL="0" indent="0">
              <a:buNone/>
            </a:pPr>
            <a:r>
              <a:rPr sz="1100" b="1">
                <a:solidFill>
                  <a:srgbClr val="000000"/>
                </a:solidFill>
                <a:latin typeface="Malgun Gothic"/>
                <a:ea typeface="Malgun Gothic"/>
                <a:cs typeface="Malgun Gothic"/>
              </a:rPr>
              <a:t>OPA · ECS 배포 정책 확인</a:t>
            </a:r>
            <a:endParaRPr sz="1100" b="1"/>
          </a:p>
        </p:txBody>
      </p:sp>
      <p:sp>
        <p:nvSpPr>
          <p:cNvPr id="24" name="Text 18">
            <a:extLst>
              <a:ext uri="{FF2B5EF4-FFF2-40B4-BE49-F238E27FC236}">
                <a16:creationId xmlns:a16="http://schemas.microsoft.com/office/drawing/2014/main" id="{686B5948-9234-440C-B088-55612198A344}"/>
              </a:ext>
            </a:extLst>
          </p:cNvPr>
          <p:cNvSpPr>
            <a:spLocks noGrp="1"/>
          </p:cNvSpPr>
          <p:nvPr/>
        </p:nvSpPr>
        <p:spPr>
          <a:xfrm>
            <a:off x="4709160" y="4107033"/>
            <a:ext cx="365760" cy="274320"/>
          </a:xfrm>
          <a:prstGeom prst="rect">
            <a:avLst/>
          </a:prstGeom>
          <a:noFill/>
        </p:spPr>
        <p:txBody>
          <a:bodyPr wrap="square" lIns="0" tIns="0" rIns="0" bIns="0" anchor="t"/>
          <a:lstStyle/>
          <a:p>
            <a:pPr marL="0" indent="0">
              <a:buNone/>
            </a:pPr>
            <a:r>
              <a:rPr sz="1100" b="1">
                <a:solidFill>
                  <a:srgbClr val="2FA86B"/>
                </a:solidFill>
                <a:latin typeface="Malgun Gothic"/>
                <a:ea typeface="Malgun Gothic"/>
                <a:cs typeface="Malgun Gothic"/>
              </a:rPr>
              <a:t>02</a:t>
            </a:r>
            <a:endParaRPr sz="1100"/>
          </a:p>
        </p:txBody>
      </p:sp>
      <p:sp>
        <p:nvSpPr>
          <p:cNvPr id="25" name="Text 19">
            <a:extLst>
              <a:ext uri="{FF2B5EF4-FFF2-40B4-BE49-F238E27FC236}">
                <a16:creationId xmlns:a16="http://schemas.microsoft.com/office/drawing/2014/main" id="{1F6DA0DF-C738-47C1-A6C0-884C4BF985A5}"/>
              </a:ext>
            </a:extLst>
          </p:cNvPr>
          <p:cNvSpPr>
            <a:spLocks noGrp="1"/>
          </p:cNvSpPr>
          <p:nvPr/>
        </p:nvSpPr>
        <p:spPr>
          <a:xfrm>
            <a:off x="5093208" y="4107033"/>
            <a:ext cx="3566160" cy="274320"/>
          </a:xfrm>
          <a:prstGeom prst="rect">
            <a:avLst/>
          </a:prstGeom>
          <a:noFill/>
        </p:spPr>
        <p:txBody>
          <a:bodyPr wrap="square" lIns="0" tIns="0" rIns="0" bIns="0" anchor="t"/>
          <a:lstStyle>
            <a:defPPr>
              <a:defRPr>
                <a:solidFill>
                  <a:srgbClr val="000000"/>
                </a:solidFill>
              </a:defRPr>
            </a:defPPr>
          </a:lstStyle>
          <a:p>
            <a:pPr marL="0" indent="0">
              <a:buNone/>
            </a:pPr>
            <a:r>
              <a:rPr sz="1100" b="1">
                <a:solidFill>
                  <a:srgbClr val="000000"/>
                </a:solidFill>
                <a:latin typeface="Malgun Gothic"/>
                <a:ea typeface="Malgun Gothic"/>
                <a:cs typeface="Malgun Gothic"/>
              </a:rPr>
              <a:t>차단 항목 수정 후 재검사</a:t>
            </a:r>
            <a:endParaRPr sz="1100" b="1"/>
          </a:p>
        </p:txBody>
      </p:sp>
      <p:sp>
        <p:nvSpPr>
          <p:cNvPr id="26" name="Text 20">
            <a:extLst>
              <a:ext uri="{FF2B5EF4-FFF2-40B4-BE49-F238E27FC236}">
                <a16:creationId xmlns:a16="http://schemas.microsoft.com/office/drawing/2014/main" id="{19142486-0CF0-4089-8C00-37463E725BAD}"/>
              </a:ext>
            </a:extLst>
          </p:cNvPr>
          <p:cNvSpPr>
            <a:spLocks noGrp="1"/>
          </p:cNvSpPr>
          <p:nvPr/>
        </p:nvSpPr>
        <p:spPr>
          <a:xfrm>
            <a:off x="4709160" y="4417929"/>
            <a:ext cx="365760" cy="274320"/>
          </a:xfrm>
          <a:prstGeom prst="rect">
            <a:avLst/>
          </a:prstGeom>
          <a:noFill/>
        </p:spPr>
        <p:txBody>
          <a:bodyPr wrap="square" lIns="0" tIns="0" rIns="0" bIns="0" anchor="t"/>
          <a:lstStyle/>
          <a:p>
            <a:pPr marL="0" indent="0">
              <a:buNone/>
            </a:pPr>
            <a:r>
              <a:rPr sz="1100" b="1">
                <a:solidFill>
                  <a:srgbClr val="2FA86B"/>
                </a:solidFill>
                <a:latin typeface="Malgun Gothic"/>
                <a:ea typeface="Malgun Gothic"/>
                <a:cs typeface="Malgun Gothic"/>
              </a:rPr>
              <a:t>03</a:t>
            </a:r>
            <a:endParaRPr sz="1100"/>
          </a:p>
        </p:txBody>
      </p:sp>
      <p:sp>
        <p:nvSpPr>
          <p:cNvPr id="27" name="Text 21">
            <a:extLst>
              <a:ext uri="{FF2B5EF4-FFF2-40B4-BE49-F238E27FC236}">
                <a16:creationId xmlns:a16="http://schemas.microsoft.com/office/drawing/2014/main" id="{A72B56F0-69A7-4152-A52E-E60DDA01A0FF}"/>
              </a:ext>
            </a:extLst>
          </p:cNvPr>
          <p:cNvSpPr>
            <a:spLocks noGrp="1"/>
          </p:cNvSpPr>
          <p:nvPr/>
        </p:nvSpPr>
        <p:spPr>
          <a:xfrm>
            <a:off x="5093208" y="4417929"/>
            <a:ext cx="3566160" cy="274320"/>
          </a:xfrm>
          <a:prstGeom prst="rect">
            <a:avLst/>
          </a:prstGeom>
          <a:noFill/>
        </p:spPr>
        <p:txBody>
          <a:bodyPr wrap="square" lIns="0" tIns="0" rIns="0" bIns="0" anchor="t"/>
          <a:lstStyle>
            <a:defPPr>
              <a:defRPr>
                <a:solidFill>
                  <a:srgbClr val="000000"/>
                </a:solidFill>
              </a:defRPr>
            </a:defPPr>
          </a:lstStyle>
          <a:p>
            <a:pPr marL="0" indent="0">
              <a:buNone/>
            </a:pPr>
            <a:r>
              <a:rPr sz="1100" b="1">
                <a:solidFill>
                  <a:srgbClr val="000000"/>
                </a:solidFill>
                <a:latin typeface="Malgun Gothic"/>
                <a:ea typeface="Malgun Gothic"/>
                <a:cs typeface="Malgun Gothic"/>
              </a:rPr>
              <a:t>검사 상태 확인 후 승인·배포</a:t>
            </a:r>
            <a:endParaRPr sz="1100" b="1"/>
          </a:p>
        </p:txBody>
      </p:sp>
      <p:pic>
        <p:nvPicPr>
          <p:cNvPr id="31" name="Gate Blocked" descr="보안 게이트 이상 발견 1건 · 배포 차단 화면"/>
          <p:cNvPicPr>
            <a:picLocks noChangeAspect="1"/>
          </p:cNvPicPr>
          <p:nvPr/>
        </p:nvPicPr>
        <p:blipFill>
          <a:blip r:embed="rId3"/>
          <a:stretch>
            <a:fillRect/>
          </a:stretch>
        </p:blipFill>
        <p:spPr>
          <a:xfrm>
            <a:off x="411480" y="1298448"/>
            <a:ext cx="4023360" cy="2314809"/>
          </a:xfrm>
          <a:prstGeom prst="rect">
            <a:avLst/>
          </a:prstGeom>
        </p:spPr>
      </p:pic>
      <p:pic>
        <p:nvPicPr>
          <p:cNvPr id="32" name="Gate Passed" descr="수정 후 재검사 · 이상 없음 권고 2건 화면"/>
          <p:cNvPicPr>
            <a:picLocks noChangeAspect="1"/>
          </p:cNvPicPr>
          <p:nvPr/>
        </p:nvPicPr>
        <p:blipFill>
          <a:blip r:embed="rId4"/>
          <a:stretch>
            <a:fillRect/>
          </a:stretch>
        </p:blipFill>
        <p:spPr>
          <a:xfrm>
            <a:off x="4709160" y="1298448"/>
            <a:ext cx="4023360" cy="2314809"/>
          </a:xfrm>
          <a:prstGeom prst="rect">
            <a:avLst/>
          </a:prstGeom>
        </p:spPr>
      </p:pic>
      <p:sp>
        <p:nvSpPr>
          <p:cNvPr id="33" name="Highlight Blocked"/>
          <p:cNvSpPr/>
          <p:nvPr/>
        </p:nvSpPr>
        <p:spPr>
          <a:xfrm>
            <a:off x="2773530" y="1306321"/>
            <a:ext cx="1448724" cy="1192835"/>
          </a:xfrm>
          <a:prstGeom prst="roundRect">
            <a:avLst>
              <a:gd name="adj" fmla="val 4000"/>
            </a:avLst>
          </a:prstGeom>
          <a:noFill/>
          <a:ln w="28575">
            <a:solidFill>
              <a:srgbClr val="E02B2B"/>
            </a:solidFill>
          </a:ln>
        </p:spPr>
        <p:txBody>
          <a:bodyPr rtlCol="0" anchor="ctr"/>
          <a:lstStyle/>
          <a:p>
            <a:pPr algn="ctr"/>
            <a:endParaRPr/>
          </a:p>
        </p:txBody>
      </p:sp>
      <p:sp>
        <p:nvSpPr>
          <p:cNvPr id="34" name="Highlight Passed"/>
          <p:cNvSpPr/>
          <p:nvPr/>
        </p:nvSpPr>
        <p:spPr>
          <a:xfrm>
            <a:off x="7071210" y="1306321"/>
            <a:ext cx="1448724" cy="1192835"/>
          </a:xfrm>
          <a:prstGeom prst="roundRect">
            <a:avLst>
              <a:gd name="adj" fmla="val 4000"/>
            </a:avLst>
          </a:prstGeom>
          <a:noFill/>
          <a:ln w="28575">
            <a:solidFill>
              <a:srgbClr val="2FA86B"/>
            </a:solidFill>
          </a:ln>
        </p:spPr>
        <p:txBody>
          <a:bodyPr rtlCol="0" anchor="ctr"/>
          <a:lstStyle/>
          <a:p>
            <a:pPr algn="ctr"/>
            <a:endParaRPr/>
          </a:p>
        </p:txBody>
      </p:sp>
      <p:sp>
        <p:nvSpPr>
          <p:cNvPr id="28" name="Shape 22">
            <a:extLst>
              <a:ext uri="{FF2B5EF4-FFF2-40B4-BE49-F238E27FC236}">
                <a16:creationId xmlns:a16="http://schemas.microsoft.com/office/drawing/2014/main" id="{63411A4B-4006-4A10-8592-0CC8BCF3E532}"/>
              </a:ext>
            </a:extLst>
          </p:cNvPr>
          <p:cNvSpPr>
            <a:spLocks noGrp="1"/>
          </p:cNvSpPr>
          <p:nvPr/>
        </p:nvSpPr>
        <p:spPr>
          <a:xfrm>
            <a:off x="4361688" y="2245540"/>
            <a:ext cx="420624" cy="420624"/>
          </a:xfrm>
          <a:prstGeom prst="ellipse">
            <a:avLst/>
          </a:prstGeom>
          <a:solidFill>
            <a:srgbClr val="2B7FD4"/>
          </a:solidFill>
          <a:ln w="25400">
            <a:solidFill>
              <a:srgbClr val="FFFFFF"/>
            </a:solidFill>
            <a:prstDash val="solid"/>
          </a:ln>
          <a:effectLst>
            <a:outerShdw blurRad="127000" dist="25400" dir="5400000" algn="bl" rotWithShape="0">
              <a:srgbClr val="000000">
                <a:alpha val="10000"/>
              </a:srgbClr>
            </a:outerShdw>
          </a:effectLst>
        </p:spPr>
        <p:txBody>
          <a:bodyPr/>
          <a:lstStyle/>
          <a:p>
            <a:endParaRPr/>
          </a:p>
        </p:txBody>
      </p:sp>
      <p:pic>
        <p:nvPicPr>
          <p:cNvPr id="29" name="Image 4">
            <a:extLst>
              <a:ext uri="{FF2B5EF4-FFF2-40B4-BE49-F238E27FC236}">
                <a16:creationId xmlns:a16="http://schemas.microsoft.com/office/drawing/2014/main" id="{4BE3894A-84CD-4F2C-9679-0BED53724171}"/>
              </a:ext>
            </a:extLst>
          </p:cNvPr>
          <p:cNvPicPr>
            <a:picLocks noChangeAspect="1"/>
          </p:cNvPicPr>
          <p:nvPr/>
        </p:nvPicPr>
        <p:blipFill>
          <a:blip r:embed="rId5"/>
          <a:stretch>
            <a:fillRect/>
          </a:stretch>
        </p:blipFill>
        <p:spPr>
          <a:xfrm>
            <a:off x="4453128" y="2336980"/>
            <a:ext cx="237744" cy="237744"/>
          </a:xfrm>
          <a:prstGeom prst="rect">
            <a:avLst/>
          </a:prstGeom>
        </p:spPr>
      </p:pic>
      <p:sp>
        <p:nvSpPr>
          <p:cNvPr id="30" name="Slide Number Placeholder 0">
            <a:extLst>
              <a:ext uri="{FF2B5EF4-FFF2-40B4-BE49-F238E27FC236}">
                <a16:creationId xmlns:a16="http://schemas.microsoft.com/office/drawing/2014/main" id="{C7AB1B76-ACEC-46E2-A6DA-28990CB4BEA4}"/>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r>
              <a:rPr sz="900" b="1" dirty="0">
                <a:solidFill>
                  <a:srgbClr val="2B7FD4"/>
                </a:solidFill>
                <a:latin typeface="Malgun Gothic"/>
                <a:ea typeface="Malgun Gothic"/>
                <a:cs typeface="Malgun Gothic"/>
              </a:rPr>
              <a:t>1</a:t>
            </a:r>
            <a:r>
              <a:rPr lang="en-US" sz="900" b="1" dirty="0">
                <a:solidFill>
                  <a:srgbClr val="2B7FD4"/>
                </a:solidFill>
                <a:latin typeface="Malgun Gothic"/>
                <a:ea typeface="Malgun Gothic"/>
                <a:cs typeface="Malgun Gothic"/>
              </a:rPr>
              <a:t>8</a:t>
            </a:r>
            <a:endParaRPr b="1" dirty="0"/>
          </a:p>
        </p:txBody>
      </p:sp>
    </p:spTree>
    <p:extLst>
      <p:ext uri="{BB962C8B-B14F-4D97-AF65-F5344CB8AC3E}">
        <p14:creationId xmlns:p14="http://schemas.microsoft.com/office/powerpoint/2010/main" val="164741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2F75B2A-908E-40EE-9B3A-AC55062E019C}"/>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a:defRPr sz="2000" b="1">
                <a:solidFill>
                  <a:srgbClr val="000000"/>
                </a:solidFill>
                <a:latin typeface="Malgun Gothic"/>
                <a:ea typeface="Malgun Gothic"/>
                <a:cs typeface="Malgun Gothic"/>
              </a:defRPr>
            </a:pPr>
            <a:r>
              <a:rPr lang="en-US" altLang="ko-KR" dirty="0">
                <a:solidFill>
                  <a:srgbClr val="000000"/>
                </a:solidFill>
              </a:rPr>
              <a:t>|  </a:t>
            </a:r>
            <a:r>
              <a:rPr lang="ko-KR" altLang="en-US" dirty="0">
                <a:solidFill>
                  <a:srgbClr val="000000"/>
                </a:solidFill>
              </a:rPr>
              <a:t>기능 소개 </a:t>
            </a:r>
            <a:r>
              <a:rPr lang="en-US" altLang="ko-KR" dirty="0">
                <a:solidFill>
                  <a:srgbClr val="000000"/>
                </a:solidFill>
              </a:rPr>
              <a:t>:</a:t>
            </a:r>
            <a:r>
              <a:rPr lang="ko-KR" altLang="en-US" dirty="0">
                <a:solidFill>
                  <a:srgbClr val="000000"/>
                </a:solidFill>
              </a:rPr>
              <a:t> 배포</a:t>
            </a:r>
            <a:r>
              <a:rPr lang="ko-KR" altLang="en-US" dirty="0">
                <a:solidFill>
                  <a:srgbClr val="FFFFFF"/>
                </a:solidFill>
              </a:rPr>
              <a:t> </a:t>
            </a:r>
            <a:r>
              <a:rPr lang="en-US" altLang="ko-KR" dirty="0">
                <a:solidFill>
                  <a:schemeClr val="tx1"/>
                </a:solidFill>
              </a:rPr>
              <a:t>·</a:t>
            </a:r>
            <a:r>
              <a:rPr lang="ko-KR" altLang="en-US" dirty="0">
                <a:solidFill>
                  <a:schemeClr val="tx1"/>
                </a:solidFill>
              </a:rPr>
              <a:t> 운영</a:t>
            </a:r>
            <a:endParaRPr sz="2000" dirty="0">
              <a:solidFill>
                <a:schemeClr val="tx1"/>
              </a:solidFill>
            </a:endParaRPr>
          </a:p>
        </p:txBody>
      </p:sp>
      <p:sp>
        <p:nvSpPr>
          <p:cNvPr id="3" name="Text 0">
            <a:extLst>
              <a:ext uri="{FF2B5EF4-FFF2-40B4-BE49-F238E27FC236}">
                <a16:creationId xmlns:a16="http://schemas.microsoft.com/office/drawing/2014/main" id="{2352E0C3-1559-401A-86E2-86B6D1A1D64C}"/>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17782E8C-B276-415B-AAEF-5C82B644084A}"/>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lang="ko-KR" altLang="en-US"/>
          </a:p>
        </p:txBody>
      </p:sp>
      <p:pic>
        <p:nvPicPr>
          <p:cNvPr id="5" name="Image 0">
            <a:extLst>
              <a:ext uri="{FF2B5EF4-FFF2-40B4-BE49-F238E27FC236}">
                <a16:creationId xmlns:a16="http://schemas.microsoft.com/office/drawing/2014/main" id="{681E267E-2803-4BA3-BC8F-54587EC610A6}"/>
              </a:ext>
            </a:extLst>
          </p:cNvPr>
          <p:cNvPicPr>
            <a:picLocks noChangeAspect="1"/>
          </p:cNvPicPr>
          <p:nvPr/>
        </p:nvPicPr>
        <p:blipFill>
          <a:blip r:embed="rId3"/>
          <a:stretch>
            <a:fillRect/>
          </a:stretch>
        </p:blipFill>
        <p:spPr>
          <a:xfrm>
            <a:off x="1161288" y="886968"/>
            <a:ext cx="6830568" cy="3840480"/>
          </a:xfrm>
          <a:prstGeom prst="rect">
            <a:avLst/>
          </a:prstGeom>
        </p:spPr>
      </p:pic>
      <p:sp>
        <p:nvSpPr>
          <p:cNvPr id="6" name="Shape 3">
            <a:extLst>
              <a:ext uri="{FF2B5EF4-FFF2-40B4-BE49-F238E27FC236}">
                <a16:creationId xmlns:a16="http://schemas.microsoft.com/office/drawing/2014/main" id="{A701AC25-847C-425A-935F-B3911DF65F98}"/>
              </a:ext>
            </a:extLst>
          </p:cNvPr>
          <p:cNvSpPr>
            <a:spLocks noGrp="1"/>
          </p:cNvSpPr>
          <p:nvPr/>
        </p:nvSpPr>
        <p:spPr>
          <a:xfrm>
            <a:off x="857774" y="914400"/>
            <a:ext cx="4776691" cy="3721608"/>
          </a:xfrm>
          <a:prstGeom prst="rect">
            <a:avLst/>
          </a:prstGeom>
          <a:solidFill>
            <a:srgbClr val="FFFFFF"/>
          </a:solidFill>
          <a:ln w="31750">
            <a:solidFill>
              <a:srgbClr val="E02B2B"/>
            </a:solidFill>
            <a:prstDash val="solid"/>
          </a:ln>
          <a:effectLst>
            <a:outerShdw blurRad="127000" dist="25400" dir="5400000" algn="bl" rotWithShape="0">
              <a:srgbClr val="000000">
                <a:alpha val="10000"/>
              </a:srgbClr>
            </a:outerShdw>
          </a:effectLst>
        </p:spPr>
        <p:txBody>
          <a:bodyPr/>
          <a:lstStyle/>
          <a:p>
            <a:endParaRPr lang="ko-KR" altLang="en-US"/>
          </a:p>
        </p:txBody>
      </p:sp>
      <p:pic>
        <p:nvPicPr>
          <p:cNvPr id="7" name="Image 1">
            <a:extLst>
              <a:ext uri="{FF2B5EF4-FFF2-40B4-BE49-F238E27FC236}">
                <a16:creationId xmlns:a16="http://schemas.microsoft.com/office/drawing/2014/main" id="{4F54BCC4-FD69-462D-A235-D8E97B0037D6}"/>
              </a:ext>
            </a:extLst>
          </p:cNvPr>
          <p:cNvPicPr>
            <a:picLocks noChangeAspect="1"/>
          </p:cNvPicPr>
          <p:nvPr/>
        </p:nvPicPr>
        <p:blipFill>
          <a:blip r:embed="rId4"/>
          <a:stretch>
            <a:fillRect/>
          </a:stretch>
        </p:blipFill>
        <p:spPr>
          <a:xfrm>
            <a:off x="912638" y="969264"/>
            <a:ext cx="4666963" cy="3611880"/>
          </a:xfrm>
          <a:prstGeom prst="rect">
            <a:avLst/>
          </a:prstGeom>
        </p:spPr>
      </p:pic>
      <p:sp>
        <p:nvSpPr>
          <p:cNvPr id="8" name="Shape 4">
            <a:extLst>
              <a:ext uri="{FF2B5EF4-FFF2-40B4-BE49-F238E27FC236}">
                <a16:creationId xmlns:a16="http://schemas.microsoft.com/office/drawing/2014/main" id="{DE84147C-BD71-48F9-BAA6-4B984D3388D7}"/>
              </a:ext>
            </a:extLst>
          </p:cNvPr>
          <p:cNvSpPr>
            <a:spLocks noGrp="1"/>
          </p:cNvSpPr>
          <p:nvPr/>
        </p:nvSpPr>
        <p:spPr>
          <a:xfrm>
            <a:off x="6217920" y="1097280"/>
            <a:ext cx="2423160" cy="3383280"/>
          </a:xfrm>
          <a:prstGeom prst="roundRect">
            <a:avLst>
              <a:gd name="adj" fmla="val 4528"/>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9" name="Shape 5">
            <a:extLst>
              <a:ext uri="{FF2B5EF4-FFF2-40B4-BE49-F238E27FC236}">
                <a16:creationId xmlns:a16="http://schemas.microsoft.com/office/drawing/2014/main" id="{D9E68CE6-2D13-4E8A-8C50-9718506C9CD6}"/>
              </a:ext>
            </a:extLst>
          </p:cNvPr>
          <p:cNvSpPr>
            <a:spLocks noGrp="1"/>
          </p:cNvSpPr>
          <p:nvPr/>
        </p:nvSpPr>
        <p:spPr>
          <a:xfrm>
            <a:off x="6400800" y="1298448"/>
            <a:ext cx="1508760" cy="310896"/>
          </a:xfrm>
          <a:prstGeom prst="roundRect">
            <a:avLst>
              <a:gd name="adj" fmla="val 50000"/>
            </a:avLst>
          </a:prstGeom>
          <a:solidFill>
            <a:srgbClr val="E02B2B"/>
          </a:solidFill>
        </p:spPr>
        <p:txBody>
          <a:bodyPr/>
          <a:lstStyle/>
          <a:p>
            <a:endParaRPr lang="ko-KR" altLang="en-US"/>
          </a:p>
        </p:txBody>
      </p:sp>
      <p:sp>
        <p:nvSpPr>
          <p:cNvPr id="10" name="Text 6">
            <a:extLst>
              <a:ext uri="{FF2B5EF4-FFF2-40B4-BE49-F238E27FC236}">
                <a16:creationId xmlns:a16="http://schemas.microsoft.com/office/drawing/2014/main" id="{46AA772F-4EF6-4053-A377-6D3AE1842711}"/>
              </a:ext>
            </a:extLst>
          </p:cNvPr>
          <p:cNvSpPr>
            <a:spLocks noGrp="1"/>
          </p:cNvSpPr>
          <p:nvPr/>
        </p:nvSpPr>
        <p:spPr>
          <a:xfrm>
            <a:off x="6400800" y="1298448"/>
            <a:ext cx="1508760" cy="310896"/>
          </a:xfrm>
          <a:prstGeom prst="rect">
            <a:avLst/>
          </a:prstGeom>
          <a:noFill/>
        </p:spPr>
        <p:txBody>
          <a:bodyPr wrap="square" lIns="0" tIns="0" rIns="0" bIns="0" anchor="ctr"/>
          <a:lstStyle/>
          <a:p>
            <a:pPr marL="0" indent="0" algn="ctr">
              <a:buNone/>
            </a:pPr>
            <a:r>
              <a:rPr sz="1050" b="1" dirty="0" err="1">
                <a:solidFill>
                  <a:srgbClr val="FFFFFF"/>
                </a:solidFill>
                <a:latin typeface="Malgun Gothic"/>
                <a:ea typeface="Malgun Gothic"/>
                <a:cs typeface="Malgun Gothic"/>
              </a:rPr>
              <a:t>기능</a:t>
            </a:r>
            <a:r>
              <a:rPr sz="1050" b="1" dirty="0">
                <a:solidFill>
                  <a:srgbClr val="FFFFFF"/>
                </a:solidFill>
                <a:latin typeface="Malgun Gothic"/>
                <a:ea typeface="Malgun Gothic"/>
                <a:cs typeface="Malgun Gothic"/>
              </a:rPr>
              <a:t> 3 · </a:t>
            </a:r>
            <a:r>
              <a:rPr sz="1050" b="1" dirty="0" err="1">
                <a:solidFill>
                  <a:srgbClr val="FFFFFF"/>
                </a:solidFill>
                <a:latin typeface="Malgun Gothic"/>
                <a:ea typeface="Malgun Gothic"/>
                <a:cs typeface="Malgun Gothic"/>
              </a:rPr>
              <a:t>배포·운영</a:t>
            </a:r>
            <a:endParaRPr sz="1050" dirty="0"/>
          </a:p>
        </p:txBody>
      </p:sp>
      <p:sp>
        <p:nvSpPr>
          <p:cNvPr id="11" name="Text 7">
            <a:extLst>
              <a:ext uri="{FF2B5EF4-FFF2-40B4-BE49-F238E27FC236}">
                <a16:creationId xmlns:a16="http://schemas.microsoft.com/office/drawing/2014/main" id="{A5B29813-11EF-4E03-A0A2-1ED1BBABEBBC}"/>
              </a:ext>
            </a:extLst>
          </p:cNvPr>
          <p:cNvSpPr>
            <a:spLocks noGrp="1"/>
          </p:cNvSpPr>
          <p:nvPr/>
        </p:nvSpPr>
        <p:spPr>
          <a:xfrm>
            <a:off x="6400800" y="1737360"/>
            <a:ext cx="2148840" cy="365760"/>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1500" b="1">
                <a:solidFill>
                  <a:srgbClr val="000000"/>
                </a:solidFill>
                <a:latin typeface="Malgun Gothic"/>
                <a:ea typeface="Malgun Gothic"/>
                <a:cs typeface="Malgun Gothic"/>
              </a:rPr>
              <a:t>클라우드 배포 경로</a:t>
            </a:r>
            <a:endParaRPr sz="1500"/>
          </a:p>
        </p:txBody>
      </p:sp>
      <p:sp>
        <p:nvSpPr>
          <p:cNvPr id="12" name="Text 8">
            <a:extLst>
              <a:ext uri="{FF2B5EF4-FFF2-40B4-BE49-F238E27FC236}">
                <a16:creationId xmlns:a16="http://schemas.microsoft.com/office/drawing/2014/main" id="{A5554A33-F135-409A-BC65-B2E5CC6F6D5F}"/>
              </a:ext>
            </a:extLst>
          </p:cNvPr>
          <p:cNvSpPr>
            <a:spLocks noGrp="1"/>
          </p:cNvSpPr>
          <p:nvPr/>
        </p:nvSpPr>
        <p:spPr>
          <a:xfrm>
            <a:off x="6400800" y="2240280"/>
            <a:ext cx="2148840" cy="2103120"/>
          </a:xfrm>
          <a:prstGeom prst="rect">
            <a:avLst/>
          </a:prstGeom>
          <a:noFill/>
        </p:spPr>
        <p:txBody>
          <a:bodyPr wrap="square" lIns="0" tIns="0" rIns="0" bIns="0" anchor="t"/>
          <a:lstStyle>
            <a:defPPr>
              <a:defRPr sz="1050"/>
            </a:defPPr>
          </a:lstStyle>
          <a:p>
            <a:pPr marL="152400" indent="-152400">
              <a:spcAft>
                <a:spcPts val="900"/>
              </a:spcAft>
              <a:buSzPct val="100000"/>
              <a:buChar char="•"/>
              <a:defRPr sz="1050"/>
            </a:pPr>
            <a:r>
              <a:rPr sz="1050">
                <a:solidFill>
                  <a:srgbClr val="333333"/>
                </a:solidFill>
                <a:latin typeface="Malgun Gothic"/>
                <a:ea typeface="Malgun Gothic"/>
                <a:cs typeface="Malgun Gothic"/>
              </a:rPr>
              <a:t>컨테이너: ECR 이미지 저장 후 ECS Fargate 실행</a:t>
            </a:r>
            <a:endParaRPr sz="1050"/>
          </a:p>
          <a:p>
            <a:pPr marL="152400" indent="-152400">
              <a:spcAft>
                <a:spcPts val="900"/>
              </a:spcAft>
              <a:buSzPct val="100000"/>
              <a:buChar char="•"/>
              <a:defRPr sz="1050"/>
            </a:pPr>
            <a:r>
              <a:rPr sz="1050">
                <a:solidFill>
                  <a:srgbClr val="333333"/>
                </a:solidFill>
                <a:latin typeface="Malgun Gothic"/>
                <a:ea typeface="Malgun Gothic"/>
                <a:cs typeface="Malgun Gothic"/>
              </a:rPr>
              <a:t>정적 사이트: S3에 빌드 결과 업로드</a:t>
            </a:r>
            <a:endParaRPr sz="1050"/>
          </a:p>
          <a:p>
            <a:pPr marL="152400" indent="-152400">
              <a:spcAft>
                <a:spcPts val="900"/>
              </a:spcAft>
              <a:buSzPct val="100000"/>
              <a:buChar char="•"/>
              <a:defRPr sz="1050"/>
            </a:pPr>
            <a:r>
              <a:rPr sz="1050">
                <a:solidFill>
                  <a:srgbClr val="333333"/>
                </a:solidFill>
                <a:latin typeface="Malgun Gothic"/>
                <a:ea typeface="Malgun Gothic"/>
                <a:cs typeface="Malgun Gothic"/>
              </a:rPr>
              <a:t>사용자 AWS 권한으로 실행하고 CloudWatch 로그 확인</a:t>
            </a:r>
            <a:endParaRPr sz="1050"/>
          </a:p>
        </p:txBody>
      </p:sp>
      <p:sp>
        <p:nvSpPr>
          <p:cNvPr id="25" name="Slide Number Placeholder 0">
            <a:extLst>
              <a:ext uri="{FF2B5EF4-FFF2-40B4-BE49-F238E27FC236}">
                <a16:creationId xmlns:a16="http://schemas.microsoft.com/office/drawing/2014/main" id="{E6BBCAA3-9352-44BA-B557-1FF70DFD4D26}"/>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844E025A-983C-6D44-79C6-4612AACD43FC}" type="slidenum">
              <a:rPr sz="900" b="1">
                <a:solidFill>
                  <a:srgbClr val="2B7FD4"/>
                </a:solidFill>
                <a:latin typeface="Malgun Gothic"/>
                <a:ea typeface="Malgun Gothic"/>
                <a:cs typeface="Malgun Gothic"/>
              </a:rPr>
              <a:t>19</a:t>
            </a:fld>
            <a:endParaRPr/>
          </a:p>
        </p:txBody>
      </p:sp>
    </p:spTree>
    <p:extLst>
      <p:ext uri="{BB962C8B-B14F-4D97-AF65-F5344CB8AC3E}">
        <p14:creationId xmlns:p14="http://schemas.microsoft.com/office/powerpoint/2010/main" val="1023140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DD79A5A-5F89-4192-A618-95E3172B76E3}"/>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dirty="0">
                <a:solidFill>
                  <a:srgbClr val="000000"/>
                </a:solidFill>
                <a:latin typeface="Malgun Gothic"/>
                <a:ea typeface="Malgun Gothic"/>
                <a:cs typeface="Malgun Gothic"/>
              </a:rPr>
              <a:t>|  </a:t>
            </a:r>
            <a:r>
              <a:rPr lang="en-US" sz="2000" b="1" dirty="0">
                <a:solidFill>
                  <a:srgbClr val="000000"/>
                </a:solidFill>
                <a:latin typeface="Malgun Gothic"/>
                <a:ea typeface="Malgun Gothic"/>
                <a:cs typeface="Malgun Gothic"/>
              </a:rPr>
              <a:t>Step 1. </a:t>
            </a:r>
            <a:r>
              <a:rPr sz="2000" b="1" dirty="0" err="1">
                <a:solidFill>
                  <a:srgbClr val="000000"/>
                </a:solidFill>
                <a:latin typeface="Malgun Gothic"/>
                <a:ea typeface="Malgun Gothic"/>
                <a:cs typeface="Malgun Gothic"/>
              </a:rPr>
              <a:t>배포</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절차와</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실행</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검증</a:t>
            </a:r>
            <a:endParaRPr sz="2000" dirty="0"/>
          </a:p>
        </p:txBody>
      </p:sp>
      <p:sp>
        <p:nvSpPr>
          <p:cNvPr id="3" name="Text 0">
            <a:extLst>
              <a:ext uri="{FF2B5EF4-FFF2-40B4-BE49-F238E27FC236}">
                <a16:creationId xmlns:a16="http://schemas.microsoft.com/office/drawing/2014/main" id="{D0FEDCFA-C9FC-457B-9E74-66A818B48374}"/>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defRPr>
                <a:solidFill>
                  <a:srgbClr val="000000"/>
                </a:solidFill>
              </a:defRPr>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4BD7205A-FCEE-4F99-BA60-92227B96E3FC}"/>
              </a:ext>
            </a:extLst>
          </p:cNvPr>
          <p:cNvSpPr>
            <a:spLocks noGrp="1"/>
          </p:cNvSpPr>
          <p:nvPr/>
        </p:nvSpPr>
        <p:spPr>
          <a:xfrm>
            <a:off x="320040" y="777240"/>
            <a:ext cx="8503920" cy="4041648"/>
          </a:xfrm>
          <a:prstGeom prst="roundRect">
            <a:avLst>
              <a:gd name="adj" fmla="val 2715"/>
            </a:avLst>
          </a:prstGeom>
          <a:solidFill>
            <a:srgbClr val="FFFFFF">
              <a:alpha val="90000"/>
            </a:srgbClr>
          </a:solidFill>
          <a:effectLst>
            <a:outerShdw blurRad="127000" dist="25400" dir="5400000" algn="bl" rotWithShape="0">
              <a:srgbClr val="000000">
                <a:alpha val="10000"/>
              </a:srgbClr>
            </a:outerShdw>
          </a:effectLst>
        </p:spPr>
        <p:txBody>
          <a:bodyPr/>
          <a:lstStyle/>
          <a:p>
            <a:endParaRPr/>
          </a:p>
        </p:txBody>
      </p:sp>
      <p:sp>
        <p:nvSpPr>
          <p:cNvPr id="5" name="Text 3">
            <a:extLst>
              <a:ext uri="{FF2B5EF4-FFF2-40B4-BE49-F238E27FC236}">
                <a16:creationId xmlns:a16="http://schemas.microsoft.com/office/drawing/2014/main" id="{EFC99214-BB62-43D4-8971-8CFA2D71B3D2}"/>
              </a:ext>
            </a:extLst>
          </p:cNvPr>
          <p:cNvSpPr>
            <a:spLocks noGrp="1"/>
          </p:cNvSpPr>
          <p:nvPr/>
        </p:nvSpPr>
        <p:spPr>
          <a:xfrm>
            <a:off x="548640" y="914400"/>
            <a:ext cx="5852160" cy="411480"/>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1700" b="1">
                <a:solidFill>
                  <a:srgbClr val="000000"/>
                </a:solidFill>
                <a:latin typeface="Malgun Gothic"/>
                <a:ea typeface="Malgun Gothic"/>
                <a:cs typeface="Malgun Gothic"/>
              </a:rPr>
              <a:t>배포 대상에 맞춰 실행하고 결과를 검증</a:t>
            </a:r>
            <a:endParaRPr sz="1700" b="1"/>
          </a:p>
        </p:txBody>
      </p:sp>
      <p:sp>
        <p:nvSpPr>
          <p:cNvPr id="26" name="Deploy Canvas Frame"/>
          <p:cNvSpPr/>
          <p:nvPr/>
        </p:nvSpPr>
        <p:spPr>
          <a:xfrm>
            <a:off x="548640" y="1828800"/>
            <a:ext cx="3886200" cy="2624328"/>
          </a:xfrm>
          <a:prstGeom prst="rect">
            <a:avLst/>
          </a:prstGeom>
          <a:solidFill>
            <a:srgbClr val="0D0D0D"/>
          </a:solidFill>
          <a:ln>
            <a:noFill/>
          </a:ln>
        </p:spPr>
        <p:txBody>
          <a:bodyPr rtlCol="0" anchor="ctr"/>
          <a:lstStyle/>
          <a:p>
            <a:pPr algn="ctr"/>
            <a:endParaRPr/>
          </a:p>
        </p:txBody>
      </p:sp>
      <p:pic>
        <p:nvPicPr>
          <p:cNvPr id="27" name="Deploy Canvas" descr="배포 캔버스 화면"/>
          <p:cNvPicPr>
            <a:picLocks noChangeAspect="1"/>
          </p:cNvPicPr>
          <p:nvPr/>
        </p:nvPicPr>
        <p:blipFill>
          <a:blip r:embed="rId3"/>
          <a:stretch>
            <a:fillRect/>
          </a:stretch>
        </p:blipFill>
        <p:spPr>
          <a:xfrm>
            <a:off x="548640" y="2061270"/>
            <a:ext cx="3886200" cy="2159386"/>
          </a:xfrm>
          <a:prstGeom prst="rect">
            <a:avLst/>
          </a:prstGeom>
        </p:spPr>
      </p:pic>
      <p:sp>
        <p:nvSpPr>
          <p:cNvPr id="28" name="Deploy Result Frame"/>
          <p:cNvSpPr/>
          <p:nvPr/>
        </p:nvSpPr>
        <p:spPr>
          <a:xfrm>
            <a:off x="4709160" y="1828800"/>
            <a:ext cx="3886200" cy="2624328"/>
          </a:xfrm>
          <a:prstGeom prst="rect">
            <a:avLst/>
          </a:prstGeom>
          <a:solidFill>
            <a:srgbClr val="121214"/>
          </a:solidFill>
          <a:ln>
            <a:noFill/>
          </a:ln>
        </p:spPr>
        <p:txBody>
          <a:bodyPr rtlCol="0" anchor="ctr"/>
          <a:lstStyle/>
          <a:p>
            <a:pPr algn="ctr"/>
            <a:endParaRPr/>
          </a:p>
        </p:txBody>
      </p:sp>
      <p:pic>
        <p:nvPicPr>
          <p:cNvPr id="29" name="Deploy Result" descr="Docker 배포 완료 · Health Check 통과 화면"/>
          <p:cNvPicPr>
            <a:picLocks noChangeAspect="1"/>
          </p:cNvPicPr>
          <p:nvPr/>
        </p:nvPicPr>
        <p:blipFill>
          <a:blip r:embed="rId4"/>
          <a:srcRect t="702"/>
          <a:stretch>
            <a:fillRect/>
          </a:stretch>
        </p:blipFill>
        <p:spPr>
          <a:xfrm>
            <a:off x="5340096" y="1838008"/>
            <a:ext cx="2624328" cy="2605911"/>
          </a:xfrm>
          <a:prstGeom prst="rect">
            <a:avLst/>
          </a:prstGeom>
        </p:spPr>
      </p:pic>
      <p:sp>
        <p:nvSpPr>
          <p:cNvPr id="11" name="Text 6">
            <a:extLst>
              <a:ext uri="{FF2B5EF4-FFF2-40B4-BE49-F238E27FC236}">
                <a16:creationId xmlns:a16="http://schemas.microsoft.com/office/drawing/2014/main" id="{28E1EA7A-7D0E-4BB3-9DE3-2FAEB9175246}"/>
              </a:ext>
            </a:extLst>
          </p:cNvPr>
          <p:cNvSpPr>
            <a:spLocks noGrp="1"/>
          </p:cNvSpPr>
          <p:nvPr/>
        </p:nvSpPr>
        <p:spPr>
          <a:xfrm>
            <a:off x="4709160" y="1463040"/>
            <a:ext cx="3886200" cy="301752"/>
          </a:xfrm>
          <a:prstGeom prst="rect">
            <a:avLst/>
          </a:prstGeom>
          <a:solidFill>
            <a:srgbClr val="FFFFFF"/>
          </a:solidFill>
        </p:spPr>
        <p:txBody>
          <a:bodyPr wrap="square" lIns="38100" tIns="38100" rIns="38100" bIns="38100" anchor="ctr"/>
          <a:lstStyle>
            <a:defPPr>
              <a:defRPr>
                <a:solidFill>
                  <a:srgbClr val="000000"/>
                </a:solidFill>
              </a:defRPr>
            </a:defPPr>
          </a:lstStyle>
          <a:p>
            <a:pPr marL="0" indent="0" algn="l">
              <a:buNone/>
            </a:pPr>
            <a:r>
              <a:rPr sz="1400" b="1">
                <a:solidFill>
                  <a:srgbClr val="000000"/>
                </a:solidFill>
                <a:latin typeface="Malgun Gothic"/>
                <a:ea typeface="Malgun Gothic"/>
                <a:cs typeface="Malgun Gothic"/>
              </a:rPr>
              <a:t>배포 완료 · Health Check 통과</a:t>
            </a:r>
            <a:endParaRPr sz="1200"/>
          </a:p>
        </p:txBody>
      </p:sp>
      <p:sp>
        <p:nvSpPr>
          <p:cNvPr id="25" name="Slide Number Placeholder 0">
            <a:extLst>
              <a:ext uri="{FF2B5EF4-FFF2-40B4-BE49-F238E27FC236}">
                <a16:creationId xmlns:a16="http://schemas.microsoft.com/office/drawing/2014/main" id="{F38A3B04-CD6C-453D-8A1F-0C1E698F6099}"/>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r>
              <a:rPr sz="900" b="1" dirty="0">
                <a:solidFill>
                  <a:srgbClr val="2B7FD4"/>
                </a:solidFill>
                <a:latin typeface="Malgun Gothic"/>
                <a:ea typeface="Malgun Gothic"/>
                <a:cs typeface="Malgun Gothic"/>
              </a:rPr>
              <a:t>2</a:t>
            </a:r>
            <a:r>
              <a:rPr lang="en-US" altLang="ko-KR" sz="900" b="1" dirty="0">
                <a:solidFill>
                  <a:srgbClr val="2B7FD4"/>
                </a:solidFill>
                <a:latin typeface="Malgun Gothic"/>
                <a:ea typeface="Malgun Gothic"/>
                <a:cs typeface="Malgun Gothic"/>
              </a:rPr>
              <a:t>0</a:t>
            </a:r>
            <a:endParaRPr b="1" dirty="0"/>
          </a:p>
        </p:txBody>
      </p:sp>
    </p:spTree>
    <p:extLst>
      <p:ext uri="{BB962C8B-B14F-4D97-AF65-F5344CB8AC3E}">
        <p14:creationId xmlns:p14="http://schemas.microsoft.com/office/powerpoint/2010/main" val="224542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9C53926-6CAB-4DF8-A9FD-BC99C25DF480}"/>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dirty="0">
                <a:solidFill>
                  <a:srgbClr val="000000"/>
                </a:solidFill>
                <a:latin typeface="Malgun Gothic"/>
                <a:ea typeface="Malgun Gothic"/>
                <a:cs typeface="Malgun Gothic"/>
              </a:rPr>
              <a:t>|  </a:t>
            </a:r>
            <a:r>
              <a:rPr lang="en-US" sz="2000" b="1" dirty="0">
                <a:solidFill>
                  <a:srgbClr val="000000"/>
                </a:solidFill>
                <a:latin typeface="Malgun Gothic"/>
                <a:ea typeface="Malgun Gothic"/>
                <a:cs typeface="Malgun Gothic"/>
              </a:rPr>
              <a:t>Step 2.</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운영</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감시와</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승인</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기반</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롤백</a:t>
            </a:r>
            <a:endParaRPr sz="2000" dirty="0"/>
          </a:p>
        </p:txBody>
      </p:sp>
      <p:sp>
        <p:nvSpPr>
          <p:cNvPr id="3" name="Text 0">
            <a:extLst>
              <a:ext uri="{FF2B5EF4-FFF2-40B4-BE49-F238E27FC236}">
                <a16:creationId xmlns:a16="http://schemas.microsoft.com/office/drawing/2014/main" id="{7ED0C981-9C6D-43C8-AF0B-0698F3042516}"/>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defRPr>
                <a:solidFill>
                  <a:srgbClr val="000000"/>
                </a:solidFill>
              </a:defRPr>
            </a:pPr>
            <a:r>
              <a:rPr sz="1000" b="1">
                <a:solidFill>
                  <a:srgbClr val="000000"/>
                </a:solidFill>
                <a:latin typeface="Malgun Gothic"/>
                <a:ea typeface="Malgun Gothic"/>
                <a:cs typeface="Malgun Gothic"/>
              </a:rPr>
              <a:t>02 기능별 심층 분석</a:t>
            </a:r>
            <a:endParaRPr sz="1000"/>
          </a:p>
        </p:txBody>
      </p:sp>
      <p:sp>
        <p:nvSpPr>
          <p:cNvPr id="4" name="Shape 2">
            <a:extLst>
              <a:ext uri="{FF2B5EF4-FFF2-40B4-BE49-F238E27FC236}">
                <a16:creationId xmlns:a16="http://schemas.microsoft.com/office/drawing/2014/main" id="{EAD73FC0-3F8A-4487-937C-3485F7E93CA6}"/>
              </a:ext>
            </a:extLst>
          </p:cNvPr>
          <p:cNvSpPr>
            <a:spLocks noGrp="1"/>
          </p:cNvSpPr>
          <p:nvPr/>
        </p:nvSpPr>
        <p:spPr>
          <a:xfrm>
            <a:off x="914400" y="2011680"/>
            <a:ext cx="7315200" cy="0"/>
          </a:xfrm>
          <a:prstGeom prst="line">
            <a:avLst/>
          </a:prstGeom>
          <a:noFill/>
          <a:ln w="25400">
            <a:solidFill>
              <a:srgbClr val="C5CDD8"/>
            </a:solidFill>
            <a:prstDash val="solid"/>
          </a:ln>
        </p:spPr>
        <p:txBody>
          <a:bodyPr/>
          <a:lstStyle/>
          <a:p>
            <a:endParaRPr lang="ko-KR" altLang="en-US"/>
          </a:p>
        </p:txBody>
      </p:sp>
      <p:sp>
        <p:nvSpPr>
          <p:cNvPr id="5" name="Shape 3">
            <a:extLst>
              <a:ext uri="{FF2B5EF4-FFF2-40B4-BE49-F238E27FC236}">
                <a16:creationId xmlns:a16="http://schemas.microsoft.com/office/drawing/2014/main" id="{67280D95-E378-43D9-9810-17AC31B41AD5}"/>
              </a:ext>
            </a:extLst>
          </p:cNvPr>
          <p:cNvSpPr>
            <a:spLocks noGrp="1"/>
          </p:cNvSpPr>
          <p:nvPr/>
        </p:nvSpPr>
        <p:spPr>
          <a:xfrm>
            <a:off x="914400" y="2011680"/>
            <a:ext cx="2743200" cy="0"/>
          </a:xfrm>
          <a:prstGeom prst="line">
            <a:avLst/>
          </a:prstGeom>
          <a:noFill/>
          <a:ln w="63500">
            <a:solidFill>
              <a:srgbClr val="2B7FD4"/>
            </a:solidFill>
            <a:prstDash val="solid"/>
          </a:ln>
        </p:spPr>
        <p:txBody>
          <a:bodyPr/>
          <a:lstStyle/>
          <a:p>
            <a:endParaRPr lang="ko-KR" altLang="en-US"/>
          </a:p>
        </p:txBody>
      </p:sp>
      <p:sp>
        <p:nvSpPr>
          <p:cNvPr id="6" name="Text 4">
            <a:extLst>
              <a:ext uri="{FF2B5EF4-FFF2-40B4-BE49-F238E27FC236}">
                <a16:creationId xmlns:a16="http://schemas.microsoft.com/office/drawing/2014/main" id="{4828365D-6E77-4112-BBA1-FDE99E0FA426}"/>
              </a:ext>
            </a:extLst>
          </p:cNvPr>
          <p:cNvSpPr>
            <a:spLocks noGrp="1"/>
          </p:cNvSpPr>
          <p:nvPr/>
        </p:nvSpPr>
        <p:spPr>
          <a:xfrm>
            <a:off x="1874520" y="1664208"/>
            <a:ext cx="822960" cy="274320"/>
          </a:xfrm>
          <a:prstGeom prst="rect">
            <a:avLst/>
          </a:prstGeom>
          <a:noFill/>
        </p:spPr>
        <p:txBody>
          <a:bodyPr wrap="square" lIns="0" tIns="0" rIns="0" bIns="0" anchor="t"/>
          <a:lstStyle>
            <a:defPPr>
              <a:defRPr>
                <a:solidFill>
                  <a:srgbClr val="000000"/>
                </a:solidFill>
              </a:defRPr>
            </a:defPPr>
          </a:lstStyle>
          <a:p>
            <a:pPr marL="0" indent="0" algn="ctr">
              <a:buNone/>
            </a:pPr>
            <a:r>
              <a:rPr sz="1100" b="1">
                <a:solidFill>
                  <a:srgbClr val="000000"/>
                </a:solidFill>
                <a:latin typeface="Malgun Gothic"/>
                <a:ea typeface="Malgun Gothic"/>
                <a:cs typeface="Malgun Gothic"/>
              </a:rPr>
              <a:t>5분</a:t>
            </a:r>
            <a:endParaRPr sz="1100"/>
          </a:p>
        </p:txBody>
      </p:sp>
      <p:sp>
        <p:nvSpPr>
          <p:cNvPr id="7" name="Shape 5">
            <a:extLst>
              <a:ext uri="{FF2B5EF4-FFF2-40B4-BE49-F238E27FC236}">
                <a16:creationId xmlns:a16="http://schemas.microsoft.com/office/drawing/2014/main" id="{6DFCA969-FC17-4A6A-9994-91F51D4D2B47}"/>
              </a:ext>
            </a:extLst>
          </p:cNvPr>
          <p:cNvSpPr>
            <a:spLocks noGrp="1"/>
          </p:cNvSpPr>
          <p:nvPr/>
        </p:nvSpPr>
        <p:spPr>
          <a:xfrm>
            <a:off x="713232" y="1810512"/>
            <a:ext cx="402336" cy="402336"/>
          </a:xfrm>
          <a:prstGeom prst="ellipse">
            <a:avLst/>
          </a:prstGeom>
          <a:solidFill>
            <a:srgbClr val="FFFFFF"/>
          </a:solidFill>
          <a:ln w="25400">
            <a:solidFill>
              <a:srgbClr val="2B7FD4"/>
            </a:solidFill>
            <a:prstDash val="solid"/>
          </a:ln>
        </p:spPr>
        <p:txBody>
          <a:bodyPr/>
          <a:lstStyle/>
          <a:p>
            <a:endParaRPr lang="ko-KR" altLang="en-US"/>
          </a:p>
        </p:txBody>
      </p:sp>
      <p:sp>
        <p:nvSpPr>
          <p:cNvPr id="8" name="Text 6">
            <a:extLst>
              <a:ext uri="{FF2B5EF4-FFF2-40B4-BE49-F238E27FC236}">
                <a16:creationId xmlns:a16="http://schemas.microsoft.com/office/drawing/2014/main" id="{A619C86C-4A39-4EC3-BBDB-57D622BC4812}"/>
              </a:ext>
            </a:extLst>
          </p:cNvPr>
          <p:cNvSpPr>
            <a:spLocks noGrp="1"/>
          </p:cNvSpPr>
          <p:nvPr/>
        </p:nvSpPr>
        <p:spPr>
          <a:xfrm>
            <a:off x="713232" y="1810512"/>
            <a:ext cx="402336" cy="402336"/>
          </a:xfrm>
          <a:prstGeom prst="rect">
            <a:avLst/>
          </a:prstGeom>
          <a:noFill/>
        </p:spPr>
        <p:txBody>
          <a:bodyPr wrap="square" lIns="0" tIns="0" rIns="0" bIns="0" anchor="ctr"/>
          <a:lstStyle/>
          <a:p>
            <a:pPr marL="0" indent="0" algn="ctr">
              <a:buNone/>
            </a:pPr>
            <a:r>
              <a:rPr sz="1100" b="1">
                <a:solidFill>
                  <a:srgbClr val="2B7FD4"/>
                </a:solidFill>
                <a:latin typeface="Malgun Gothic"/>
                <a:ea typeface="Malgun Gothic"/>
                <a:cs typeface="Malgun Gothic"/>
              </a:rPr>
              <a:t>1</a:t>
            </a:r>
            <a:endParaRPr sz="1100"/>
          </a:p>
        </p:txBody>
      </p:sp>
      <p:sp>
        <p:nvSpPr>
          <p:cNvPr id="9" name="Text 7">
            <a:extLst>
              <a:ext uri="{FF2B5EF4-FFF2-40B4-BE49-F238E27FC236}">
                <a16:creationId xmlns:a16="http://schemas.microsoft.com/office/drawing/2014/main" id="{BCBB2690-EFBA-4253-84F6-CBA758D4EEF7}"/>
              </a:ext>
            </a:extLst>
          </p:cNvPr>
          <p:cNvSpPr>
            <a:spLocks noGrp="1"/>
          </p:cNvSpPr>
          <p:nvPr/>
        </p:nvSpPr>
        <p:spPr>
          <a:xfrm>
            <a:off x="182880" y="2377440"/>
            <a:ext cx="1463040" cy="274320"/>
          </a:xfrm>
          <a:prstGeom prst="rect">
            <a:avLst/>
          </a:prstGeom>
          <a:noFill/>
        </p:spPr>
        <p:txBody>
          <a:bodyPr wrap="square" lIns="0" tIns="0" rIns="0" bIns="0" anchor="t"/>
          <a:lstStyle>
            <a:defPPr>
              <a:defRPr>
                <a:solidFill>
                  <a:srgbClr val="000000"/>
                </a:solidFill>
              </a:defRPr>
            </a:defPPr>
          </a:lstStyle>
          <a:p>
            <a:pPr marL="0" indent="0" algn="ctr">
              <a:buNone/>
            </a:pPr>
            <a:r>
              <a:rPr sz="1250" b="1">
                <a:solidFill>
                  <a:srgbClr val="000000"/>
                </a:solidFill>
                <a:latin typeface="Malgun Gothic"/>
                <a:ea typeface="Malgun Gothic"/>
                <a:cs typeface="Malgun Gothic"/>
              </a:rPr>
              <a:t>배포 완료</a:t>
            </a:r>
            <a:endParaRPr sz="1250"/>
          </a:p>
        </p:txBody>
      </p:sp>
      <p:sp>
        <p:nvSpPr>
          <p:cNvPr id="10" name="Text 8">
            <a:extLst>
              <a:ext uri="{FF2B5EF4-FFF2-40B4-BE49-F238E27FC236}">
                <a16:creationId xmlns:a16="http://schemas.microsoft.com/office/drawing/2014/main" id="{0A0639F6-10F0-4AFD-8DDE-A109D0F197FF}"/>
              </a:ext>
            </a:extLst>
          </p:cNvPr>
          <p:cNvSpPr>
            <a:spLocks noGrp="1"/>
          </p:cNvSpPr>
          <p:nvPr/>
        </p:nvSpPr>
        <p:spPr>
          <a:xfrm>
            <a:off x="182880" y="2670048"/>
            <a:ext cx="1463040" cy="274320"/>
          </a:xfrm>
          <a:prstGeom prst="rect">
            <a:avLst/>
          </a:prstGeom>
          <a:noFill/>
        </p:spPr>
        <p:txBody>
          <a:bodyPr wrap="square" lIns="0" tIns="0" rIns="0" bIns="0" anchor="t"/>
          <a:lstStyle/>
          <a:p>
            <a:pPr marL="0" indent="0" algn="ctr">
              <a:buNone/>
            </a:pPr>
            <a:r>
              <a:rPr sz="950">
                <a:solidFill>
                  <a:srgbClr val="5E6878"/>
                </a:solidFill>
                <a:latin typeface="Malgun Gothic"/>
                <a:ea typeface="Malgun Gothic"/>
                <a:cs typeface="Malgun Gothic"/>
              </a:rPr>
              <a:t>승인 후 실행</a:t>
            </a:r>
            <a:endParaRPr sz="950"/>
          </a:p>
        </p:txBody>
      </p:sp>
      <p:sp>
        <p:nvSpPr>
          <p:cNvPr id="11" name="Shape 9">
            <a:extLst>
              <a:ext uri="{FF2B5EF4-FFF2-40B4-BE49-F238E27FC236}">
                <a16:creationId xmlns:a16="http://schemas.microsoft.com/office/drawing/2014/main" id="{5DB8CEEA-3786-404A-8ADB-AC3BB0BC4721}"/>
              </a:ext>
            </a:extLst>
          </p:cNvPr>
          <p:cNvSpPr>
            <a:spLocks noGrp="1"/>
          </p:cNvSpPr>
          <p:nvPr/>
        </p:nvSpPr>
        <p:spPr>
          <a:xfrm>
            <a:off x="2542032" y="1810512"/>
            <a:ext cx="402336" cy="402336"/>
          </a:xfrm>
          <a:prstGeom prst="ellipse">
            <a:avLst/>
          </a:prstGeom>
          <a:solidFill>
            <a:srgbClr val="FFFFFF"/>
          </a:solidFill>
          <a:ln w="25400">
            <a:solidFill>
              <a:srgbClr val="2B7FD4"/>
            </a:solidFill>
            <a:prstDash val="solid"/>
          </a:ln>
        </p:spPr>
        <p:txBody>
          <a:bodyPr/>
          <a:lstStyle/>
          <a:p>
            <a:endParaRPr lang="ko-KR" altLang="en-US"/>
          </a:p>
        </p:txBody>
      </p:sp>
      <p:sp>
        <p:nvSpPr>
          <p:cNvPr id="12" name="Text 10">
            <a:extLst>
              <a:ext uri="{FF2B5EF4-FFF2-40B4-BE49-F238E27FC236}">
                <a16:creationId xmlns:a16="http://schemas.microsoft.com/office/drawing/2014/main" id="{E23B99F9-119E-4061-B4DB-62C6FE7F46C1}"/>
              </a:ext>
            </a:extLst>
          </p:cNvPr>
          <p:cNvSpPr>
            <a:spLocks noGrp="1"/>
          </p:cNvSpPr>
          <p:nvPr/>
        </p:nvSpPr>
        <p:spPr>
          <a:xfrm>
            <a:off x="2542032" y="1810512"/>
            <a:ext cx="402336" cy="402336"/>
          </a:xfrm>
          <a:prstGeom prst="rect">
            <a:avLst/>
          </a:prstGeom>
          <a:noFill/>
        </p:spPr>
        <p:txBody>
          <a:bodyPr wrap="square" lIns="0" tIns="0" rIns="0" bIns="0" anchor="ctr"/>
          <a:lstStyle/>
          <a:p>
            <a:pPr marL="0" indent="0" algn="ctr">
              <a:buNone/>
            </a:pPr>
            <a:r>
              <a:rPr sz="1100" b="1">
                <a:solidFill>
                  <a:srgbClr val="2B7FD4"/>
                </a:solidFill>
                <a:latin typeface="Malgun Gothic"/>
                <a:ea typeface="Malgun Gothic"/>
                <a:cs typeface="Malgun Gothic"/>
              </a:rPr>
              <a:t>2</a:t>
            </a:r>
            <a:endParaRPr sz="1100"/>
          </a:p>
        </p:txBody>
      </p:sp>
      <p:sp>
        <p:nvSpPr>
          <p:cNvPr id="13" name="Text 11">
            <a:extLst>
              <a:ext uri="{FF2B5EF4-FFF2-40B4-BE49-F238E27FC236}">
                <a16:creationId xmlns:a16="http://schemas.microsoft.com/office/drawing/2014/main" id="{A18991DF-A13A-411F-9558-2AF6C795BF64}"/>
              </a:ext>
            </a:extLst>
          </p:cNvPr>
          <p:cNvSpPr>
            <a:spLocks noGrp="1"/>
          </p:cNvSpPr>
          <p:nvPr/>
        </p:nvSpPr>
        <p:spPr>
          <a:xfrm>
            <a:off x="2011680" y="2377440"/>
            <a:ext cx="1463040" cy="274320"/>
          </a:xfrm>
          <a:prstGeom prst="rect">
            <a:avLst/>
          </a:prstGeom>
          <a:noFill/>
        </p:spPr>
        <p:txBody>
          <a:bodyPr wrap="square" lIns="0" tIns="0" rIns="0" bIns="0" anchor="t"/>
          <a:lstStyle>
            <a:defPPr>
              <a:defRPr>
                <a:solidFill>
                  <a:srgbClr val="000000"/>
                </a:solidFill>
              </a:defRPr>
            </a:defPPr>
          </a:lstStyle>
          <a:p>
            <a:pPr marL="0" indent="0" algn="ctr">
              <a:buNone/>
            </a:pPr>
            <a:r>
              <a:rPr sz="1250" b="1">
                <a:solidFill>
                  <a:srgbClr val="000000"/>
                </a:solidFill>
                <a:latin typeface="Malgun Gothic"/>
                <a:ea typeface="Malgun Gothic"/>
                <a:cs typeface="Malgun Gothic"/>
              </a:rPr>
              <a:t>상태 감시</a:t>
            </a:r>
            <a:endParaRPr sz="1250"/>
          </a:p>
        </p:txBody>
      </p:sp>
      <p:sp>
        <p:nvSpPr>
          <p:cNvPr id="14" name="Text 12">
            <a:extLst>
              <a:ext uri="{FF2B5EF4-FFF2-40B4-BE49-F238E27FC236}">
                <a16:creationId xmlns:a16="http://schemas.microsoft.com/office/drawing/2014/main" id="{B7D9AFED-906A-4A38-B980-85FEF481E1A7}"/>
              </a:ext>
            </a:extLst>
          </p:cNvPr>
          <p:cNvSpPr>
            <a:spLocks noGrp="1"/>
          </p:cNvSpPr>
          <p:nvPr/>
        </p:nvSpPr>
        <p:spPr>
          <a:xfrm>
            <a:off x="2011680" y="2670048"/>
            <a:ext cx="1463040" cy="274320"/>
          </a:xfrm>
          <a:prstGeom prst="rect">
            <a:avLst/>
          </a:prstGeom>
          <a:noFill/>
        </p:spPr>
        <p:txBody>
          <a:bodyPr wrap="square" lIns="0" tIns="0" rIns="0" bIns="0" anchor="t"/>
          <a:lstStyle/>
          <a:p>
            <a:pPr marL="0" indent="0" algn="ctr">
              <a:buNone/>
            </a:pPr>
            <a:r>
              <a:rPr sz="950">
                <a:solidFill>
                  <a:srgbClr val="5E6878"/>
                </a:solidFill>
                <a:latin typeface="Malgun Gothic"/>
                <a:ea typeface="Malgun Gothic"/>
                <a:cs typeface="Malgun Gothic"/>
              </a:rPr>
              <a:t>배포 직후 5분</a:t>
            </a:r>
            <a:endParaRPr sz="950"/>
          </a:p>
        </p:txBody>
      </p:sp>
      <p:sp>
        <p:nvSpPr>
          <p:cNvPr id="15" name="Shape 13">
            <a:extLst>
              <a:ext uri="{FF2B5EF4-FFF2-40B4-BE49-F238E27FC236}">
                <a16:creationId xmlns:a16="http://schemas.microsoft.com/office/drawing/2014/main" id="{661BE035-89D2-4E40-BAAD-C469495FAD79}"/>
              </a:ext>
            </a:extLst>
          </p:cNvPr>
          <p:cNvSpPr>
            <a:spLocks noGrp="1"/>
          </p:cNvSpPr>
          <p:nvPr/>
        </p:nvSpPr>
        <p:spPr>
          <a:xfrm>
            <a:off x="4370832" y="1810512"/>
            <a:ext cx="402336" cy="402336"/>
          </a:xfrm>
          <a:prstGeom prst="ellipse">
            <a:avLst/>
          </a:prstGeom>
          <a:solidFill>
            <a:srgbClr val="FFFFFF"/>
          </a:solidFill>
          <a:ln w="25400">
            <a:solidFill>
              <a:srgbClr val="2B7FD4"/>
            </a:solidFill>
            <a:prstDash val="solid"/>
          </a:ln>
        </p:spPr>
        <p:txBody>
          <a:bodyPr/>
          <a:lstStyle/>
          <a:p>
            <a:endParaRPr lang="ko-KR" altLang="en-US"/>
          </a:p>
        </p:txBody>
      </p:sp>
      <p:sp>
        <p:nvSpPr>
          <p:cNvPr id="16" name="Text 14">
            <a:extLst>
              <a:ext uri="{FF2B5EF4-FFF2-40B4-BE49-F238E27FC236}">
                <a16:creationId xmlns:a16="http://schemas.microsoft.com/office/drawing/2014/main" id="{312978F9-B70E-4DF5-A407-F276CB1E2CC7}"/>
              </a:ext>
            </a:extLst>
          </p:cNvPr>
          <p:cNvSpPr>
            <a:spLocks noGrp="1"/>
          </p:cNvSpPr>
          <p:nvPr/>
        </p:nvSpPr>
        <p:spPr>
          <a:xfrm>
            <a:off x="4370832" y="1810512"/>
            <a:ext cx="402336" cy="402336"/>
          </a:xfrm>
          <a:prstGeom prst="rect">
            <a:avLst/>
          </a:prstGeom>
          <a:noFill/>
        </p:spPr>
        <p:txBody>
          <a:bodyPr wrap="square" lIns="0" tIns="0" rIns="0" bIns="0" anchor="ctr"/>
          <a:lstStyle/>
          <a:p>
            <a:pPr marL="0" indent="0" algn="ctr">
              <a:buNone/>
            </a:pPr>
            <a:r>
              <a:rPr sz="1100" b="1">
                <a:solidFill>
                  <a:srgbClr val="2B7FD4"/>
                </a:solidFill>
                <a:latin typeface="Malgun Gothic"/>
                <a:ea typeface="Malgun Gothic"/>
                <a:cs typeface="Malgun Gothic"/>
              </a:rPr>
              <a:t>3</a:t>
            </a:r>
            <a:endParaRPr sz="1100"/>
          </a:p>
        </p:txBody>
      </p:sp>
      <p:sp>
        <p:nvSpPr>
          <p:cNvPr id="17" name="Text 15">
            <a:extLst>
              <a:ext uri="{FF2B5EF4-FFF2-40B4-BE49-F238E27FC236}">
                <a16:creationId xmlns:a16="http://schemas.microsoft.com/office/drawing/2014/main" id="{D0632F00-0153-4B03-BB42-3A88ADBD865B}"/>
              </a:ext>
            </a:extLst>
          </p:cNvPr>
          <p:cNvSpPr>
            <a:spLocks noGrp="1"/>
          </p:cNvSpPr>
          <p:nvPr/>
        </p:nvSpPr>
        <p:spPr>
          <a:xfrm>
            <a:off x="3840480" y="2377440"/>
            <a:ext cx="1463040" cy="274320"/>
          </a:xfrm>
          <a:prstGeom prst="rect">
            <a:avLst/>
          </a:prstGeom>
          <a:noFill/>
        </p:spPr>
        <p:txBody>
          <a:bodyPr wrap="square" lIns="0" tIns="0" rIns="0" bIns="0" anchor="t"/>
          <a:lstStyle>
            <a:defPPr>
              <a:defRPr>
                <a:solidFill>
                  <a:srgbClr val="000000"/>
                </a:solidFill>
              </a:defRPr>
            </a:defPPr>
          </a:lstStyle>
          <a:p>
            <a:pPr marL="0" indent="0" algn="ctr">
              <a:buNone/>
            </a:pPr>
            <a:r>
              <a:rPr sz="1250" b="1">
                <a:solidFill>
                  <a:srgbClr val="000000"/>
                </a:solidFill>
                <a:latin typeface="Malgun Gothic"/>
                <a:ea typeface="Malgun Gothic"/>
                <a:cs typeface="Malgun Gothic"/>
              </a:rPr>
              <a:t>이상 감지</a:t>
            </a:r>
            <a:endParaRPr sz="1250"/>
          </a:p>
        </p:txBody>
      </p:sp>
      <p:sp>
        <p:nvSpPr>
          <p:cNvPr id="18" name="Text 16">
            <a:extLst>
              <a:ext uri="{FF2B5EF4-FFF2-40B4-BE49-F238E27FC236}">
                <a16:creationId xmlns:a16="http://schemas.microsoft.com/office/drawing/2014/main" id="{44E55311-5C57-4A8C-BA1D-F3A068835500}"/>
              </a:ext>
            </a:extLst>
          </p:cNvPr>
          <p:cNvSpPr>
            <a:spLocks noGrp="1"/>
          </p:cNvSpPr>
          <p:nvPr/>
        </p:nvSpPr>
        <p:spPr>
          <a:xfrm>
            <a:off x="3840480" y="2670048"/>
            <a:ext cx="1463040" cy="274320"/>
          </a:xfrm>
          <a:prstGeom prst="rect">
            <a:avLst/>
          </a:prstGeom>
          <a:noFill/>
        </p:spPr>
        <p:txBody>
          <a:bodyPr wrap="square" lIns="0" tIns="0" rIns="0" bIns="0" anchor="t"/>
          <a:lstStyle>
            <a:defPPr>
              <a:defRPr sz="938"/>
            </a:defPPr>
          </a:lstStyle>
          <a:p>
            <a:pPr marL="0" indent="0" algn="ctr">
              <a:buNone/>
              <a:defRPr sz="938"/>
            </a:pPr>
            <a:r>
              <a:rPr sz="938">
                <a:solidFill>
                  <a:srgbClr val="5E6878"/>
                </a:solidFill>
                <a:latin typeface="Malgun Gothic"/>
                <a:ea typeface="Malgun Gothic"/>
                <a:cs typeface="Malgun Gothic"/>
              </a:rPr>
              <a:t>헬스·오류 로그 이상</a:t>
            </a:r>
            <a:endParaRPr sz="950"/>
          </a:p>
        </p:txBody>
      </p:sp>
      <p:sp>
        <p:nvSpPr>
          <p:cNvPr id="19" name="Shape 17">
            <a:extLst>
              <a:ext uri="{FF2B5EF4-FFF2-40B4-BE49-F238E27FC236}">
                <a16:creationId xmlns:a16="http://schemas.microsoft.com/office/drawing/2014/main" id="{25464336-A40D-4D70-A85A-90284647FCA7}"/>
              </a:ext>
            </a:extLst>
          </p:cNvPr>
          <p:cNvSpPr>
            <a:spLocks noGrp="1"/>
          </p:cNvSpPr>
          <p:nvPr/>
        </p:nvSpPr>
        <p:spPr>
          <a:xfrm>
            <a:off x="6199632" y="1810512"/>
            <a:ext cx="402336" cy="402336"/>
          </a:xfrm>
          <a:prstGeom prst="ellipse">
            <a:avLst/>
          </a:prstGeom>
          <a:solidFill>
            <a:srgbClr val="FFFFFF"/>
          </a:solidFill>
          <a:ln w="25400">
            <a:solidFill>
              <a:srgbClr val="2B7FD4"/>
            </a:solidFill>
            <a:prstDash val="solid"/>
          </a:ln>
        </p:spPr>
        <p:txBody>
          <a:bodyPr/>
          <a:lstStyle/>
          <a:p>
            <a:endParaRPr lang="ko-KR" altLang="en-US"/>
          </a:p>
        </p:txBody>
      </p:sp>
      <p:sp>
        <p:nvSpPr>
          <p:cNvPr id="20" name="Text 18">
            <a:extLst>
              <a:ext uri="{FF2B5EF4-FFF2-40B4-BE49-F238E27FC236}">
                <a16:creationId xmlns:a16="http://schemas.microsoft.com/office/drawing/2014/main" id="{DE575E19-AB21-4FEF-819E-83FB546F76A5}"/>
              </a:ext>
            </a:extLst>
          </p:cNvPr>
          <p:cNvSpPr>
            <a:spLocks noGrp="1"/>
          </p:cNvSpPr>
          <p:nvPr/>
        </p:nvSpPr>
        <p:spPr>
          <a:xfrm>
            <a:off x="6199632" y="1810512"/>
            <a:ext cx="402336" cy="402336"/>
          </a:xfrm>
          <a:prstGeom prst="rect">
            <a:avLst/>
          </a:prstGeom>
          <a:noFill/>
        </p:spPr>
        <p:txBody>
          <a:bodyPr wrap="square" lIns="0" tIns="0" rIns="0" bIns="0" anchor="ctr"/>
          <a:lstStyle/>
          <a:p>
            <a:pPr marL="0" indent="0" algn="ctr">
              <a:buNone/>
            </a:pPr>
            <a:r>
              <a:rPr sz="1100" b="1">
                <a:solidFill>
                  <a:srgbClr val="2B7FD4"/>
                </a:solidFill>
                <a:latin typeface="Malgun Gothic"/>
                <a:ea typeface="Malgun Gothic"/>
                <a:cs typeface="Malgun Gothic"/>
              </a:rPr>
              <a:t>4</a:t>
            </a:r>
            <a:endParaRPr sz="1100"/>
          </a:p>
        </p:txBody>
      </p:sp>
      <p:sp>
        <p:nvSpPr>
          <p:cNvPr id="21" name="Text 19">
            <a:extLst>
              <a:ext uri="{FF2B5EF4-FFF2-40B4-BE49-F238E27FC236}">
                <a16:creationId xmlns:a16="http://schemas.microsoft.com/office/drawing/2014/main" id="{237AE3AB-E8E0-4B42-A2DC-7BBED36DE0E8}"/>
              </a:ext>
            </a:extLst>
          </p:cNvPr>
          <p:cNvSpPr>
            <a:spLocks noGrp="1"/>
          </p:cNvSpPr>
          <p:nvPr/>
        </p:nvSpPr>
        <p:spPr>
          <a:xfrm>
            <a:off x="5669280" y="2377440"/>
            <a:ext cx="1463040" cy="274320"/>
          </a:xfrm>
          <a:prstGeom prst="rect">
            <a:avLst/>
          </a:prstGeom>
          <a:noFill/>
        </p:spPr>
        <p:txBody>
          <a:bodyPr wrap="square" lIns="0" tIns="0" rIns="0" bIns="0" anchor="t"/>
          <a:lstStyle>
            <a:defPPr>
              <a:defRPr>
                <a:solidFill>
                  <a:srgbClr val="000000"/>
                </a:solidFill>
              </a:defRPr>
            </a:defPPr>
          </a:lstStyle>
          <a:p>
            <a:pPr marL="0" indent="0" algn="ctr">
              <a:buNone/>
            </a:pPr>
            <a:r>
              <a:rPr sz="1250" b="1">
                <a:solidFill>
                  <a:srgbClr val="000000"/>
                </a:solidFill>
                <a:latin typeface="Malgun Gothic"/>
                <a:ea typeface="Malgun Gothic"/>
                <a:cs typeface="Malgun Gothic"/>
              </a:rPr>
              <a:t>롤백 제안</a:t>
            </a:r>
            <a:endParaRPr sz="1250"/>
          </a:p>
        </p:txBody>
      </p:sp>
      <p:sp>
        <p:nvSpPr>
          <p:cNvPr id="22" name="Text 20">
            <a:extLst>
              <a:ext uri="{FF2B5EF4-FFF2-40B4-BE49-F238E27FC236}">
                <a16:creationId xmlns:a16="http://schemas.microsoft.com/office/drawing/2014/main" id="{E755B4EE-DF98-4AFF-A1A2-C53BA848AD80}"/>
              </a:ext>
            </a:extLst>
          </p:cNvPr>
          <p:cNvSpPr>
            <a:spLocks noGrp="1"/>
          </p:cNvSpPr>
          <p:nvPr/>
        </p:nvSpPr>
        <p:spPr>
          <a:xfrm>
            <a:off x="5669280" y="2670048"/>
            <a:ext cx="1463040" cy="274320"/>
          </a:xfrm>
          <a:prstGeom prst="rect">
            <a:avLst/>
          </a:prstGeom>
          <a:noFill/>
        </p:spPr>
        <p:txBody>
          <a:bodyPr wrap="square" lIns="0" tIns="0" rIns="0" bIns="0" anchor="t"/>
          <a:lstStyle/>
          <a:p>
            <a:pPr marL="0" indent="0" algn="ctr">
              <a:buNone/>
            </a:pPr>
            <a:r>
              <a:rPr sz="950">
                <a:solidFill>
                  <a:srgbClr val="5E6878"/>
                </a:solidFill>
                <a:latin typeface="Malgun Gothic"/>
                <a:ea typeface="Malgun Gothic"/>
                <a:cs typeface="Malgun Gothic"/>
              </a:rPr>
              <a:t>이전 버전 복구 준비</a:t>
            </a:r>
            <a:endParaRPr sz="950"/>
          </a:p>
        </p:txBody>
      </p:sp>
      <p:sp>
        <p:nvSpPr>
          <p:cNvPr id="23" name="Shape 21">
            <a:extLst>
              <a:ext uri="{FF2B5EF4-FFF2-40B4-BE49-F238E27FC236}">
                <a16:creationId xmlns:a16="http://schemas.microsoft.com/office/drawing/2014/main" id="{33B17C3A-50CF-47B4-9145-3CEBFD7C9E85}"/>
              </a:ext>
            </a:extLst>
          </p:cNvPr>
          <p:cNvSpPr>
            <a:spLocks noGrp="1"/>
          </p:cNvSpPr>
          <p:nvPr/>
        </p:nvSpPr>
        <p:spPr>
          <a:xfrm>
            <a:off x="8028432" y="1810512"/>
            <a:ext cx="402336" cy="402336"/>
          </a:xfrm>
          <a:prstGeom prst="ellipse">
            <a:avLst/>
          </a:prstGeom>
          <a:solidFill>
            <a:srgbClr val="2B7FD4"/>
          </a:solidFill>
          <a:ln w="25400">
            <a:solidFill>
              <a:srgbClr val="2B7FD4"/>
            </a:solidFill>
            <a:prstDash val="solid"/>
          </a:ln>
        </p:spPr>
        <p:txBody>
          <a:bodyPr/>
          <a:lstStyle/>
          <a:p>
            <a:endParaRPr lang="ko-KR" altLang="en-US"/>
          </a:p>
        </p:txBody>
      </p:sp>
      <p:sp>
        <p:nvSpPr>
          <p:cNvPr id="24" name="Text 22">
            <a:extLst>
              <a:ext uri="{FF2B5EF4-FFF2-40B4-BE49-F238E27FC236}">
                <a16:creationId xmlns:a16="http://schemas.microsoft.com/office/drawing/2014/main" id="{29AF11AA-07F0-4D3F-8B3C-BB1F3C514D1A}"/>
              </a:ext>
            </a:extLst>
          </p:cNvPr>
          <p:cNvSpPr>
            <a:spLocks noGrp="1"/>
          </p:cNvSpPr>
          <p:nvPr/>
        </p:nvSpPr>
        <p:spPr>
          <a:xfrm>
            <a:off x="8028432" y="1810512"/>
            <a:ext cx="402336" cy="402336"/>
          </a:xfrm>
          <a:prstGeom prst="rect">
            <a:avLst/>
          </a:prstGeom>
          <a:noFill/>
        </p:spPr>
        <p:txBody>
          <a:bodyPr wrap="square" lIns="0" tIns="0" rIns="0" bIns="0" anchor="ctr"/>
          <a:lstStyle/>
          <a:p>
            <a:pPr marL="0" indent="0" algn="ctr">
              <a:buNone/>
            </a:pPr>
            <a:r>
              <a:rPr sz="1100" b="1">
                <a:solidFill>
                  <a:srgbClr val="FFFFFF"/>
                </a:solidFill>
                <a:latin typeface="Malgun Gothic"/>
                <a:ea typeface="Malgun Gothic"/>
                <a:cs typeface="Malgun Gothic"/>
              </a:rPr>
              <a:t>5</a:t>
            </a:r>
            <a:endParaRPr sz="1100"/>
          </a:p>
        </p:txBody>
      </p:sp>
      <p:sp>
        <p:nvSpPr>
          <p:cNvPr id="25" name="Text 23">
            <a:extLst>
              <a:ext uri="{FF2B5EF4-FFF2-40B4-BE49-F238E27FC236}">
                <a16:creationId xmlns:a16="http://schemas.microsoft.com/office/drawing/2014/main" id="{5CA110E0-AA9D-4023-BF3F-DC6C110F3C67}"/>
              </a:ext>
            </a:extLst>
          </p:cNvPr>
          <p:cNvSpPr>
            <a:spLocks noGrp="1"/>
          </p:cNvSpPr>
          <p:nvPr/>
        </p:nvSpPr>
        <p:spPr>
          <a:xfrm>
            <a:off x="7498080" y="2377440"/>
            <a:ext cx="1463040" cy="274320"/>
          </a:xfrm>
          <a:prstGeom prst="rect">
            <a:avLst/>
          </a:prstGeom>
          <a:noFill/>
        </p:spPr>
        <p:txBody>
          <a:bodyPr wrap="square" lIns="0" tIns="0" rIns="0" bIns="0" anchor="t"/>
          <a:lstStyle>
            <a:defPPr>
              <a:defRPr>
                <a:solidFill>
                  <a:srgbClr val="000000"/>
                </a:solidFill>
              </a:defRPr>
            </a:defPPr>
          </a:lstStyle>
          <a:p>
            <a:pPr marL="0" indent="0" algn="ctr">
              <a:buNone/>
            </a:pPr>
            <a:r>
              <a:rPr sz="1250" b="1">
                <a:solidFill>
                  <a:srgbClr val="000000"/>
                </a:solidFill>
                <a:latin typeface="Malgun Gothic"/>
                <a:ea typeface="Malgun Gothic"/>
                <a:cs typeface="Malgun Gothic"/>
              </a:rPr>
              <a:t>사람이 승인</a:t>
            </a:r>
            <a:endParaRPr sz="1250"/>
          </a:p>
        </p:txBody>
      </p:sp>
      <p:sp>
        <p:nvSpPr>
          <p:cNvPr id="26" name="Text 24">
            <a:extLst>
              <a:ext uri="{FF2B5EF4-FFF2-40B4-BE49-F238E27FC236}">
                <a16:creationId xmlns:a16="http://schemas.microsoft.com/office/drawing/2014/main" id="{4C47F673-73C1-468B-AB05-3F91A7F8C6A2}"/>
              </a:ext>
            </a:extLst>
          </p:cNvPr>
          <p:cNvSpPr>
            <a:spLocks noGrp="1"/>
          </p:cNvSpPr>
          <p:nvPr/>
        </p:nvSpPr>
        <p:spPr>
          <a:xfrm>
            <a:off x="7498080" y="2670048"/>
            <a:ext cx="1463040" cy="274320"/>
          </a:xfrm>
          <a:prstGeom prst="rect">
            <a:avLst/>
          </a:prstGeom>
          <a:noFill/>
        </p:spPr>
        <p:txBody>
          <a:bodyPr wrap="square" lIns="0" tIns="0" rIns="0" bIns="0" anchor="t"/>
          <a:lstStyle/>
          <a:p>
            <a:pPr marL="0" indent="0" algn="ctr">
              <a:buNone/>
            </a:pPr>
            <a:r>
              <a:rPr sz="950">
                <a:solidFill>
                  <a:srgbClr val="5E6878"/>
                </a:solidFill>
                <a:latin typeface="Malgun Gothic"/>
                <a:ea typeface="Malgun Gothic"/>
                <a:cs typeface="Malgun Gothic"/>
              </a:rPr>
              <a:t>승인 뒤에만 롤백</a:t>
            </a:r>
            <a:endParaRPr sz="950"/>
          </a:p>
        </p:txBody>
      </p:sp>
      <p:sp>
        <p:nvSpPr>
          <p:cNvPr id="27" name="Text 25">
            <a:extLst>
              <a:ext uri="{FF2B5EF4-FFF2-40B4-BE49-F238E27FC236}">
                <a16:creationId xmlns:a16="http://schemas.microsoft.com/office/drawing/2014/main" id="{5E6796E5-1AD2-4A0D-A6BA-4927B03C5C74}"/>
              </a:ext>
            </a:extLst>
          </p:cNvPr>
          <p:cNvSpPr>
            <a:spLocks noGrp="1"/>
          </p:cNvSpPr>
          <p:nvPr/>
        </p:nvSpPr>
        <p:spPr>
          <a:xfrm>
            <a:off x="548640" y="3291840"/>
            <a:ext cx="3657600" cy="274320"/>
          </a:xfrm>
          <a:prstGeom prst="rect">
            <a:avLst/>
          </a:prstGeom>
          <a:noFill/>
        </p:spPr>
        <p:txBody>
          <a:bodyPr wrap="square" lIns="0" tIns="0" rIns="0" bIns="0" anchor="t"/>
          <a:lstStyle>
            <a:defPPr>
              <a:defRPr>
                <a:solidFill>
                  <a:srgbClr val="000000"/>
                </a:solidFill>
              </a:defRPr>
            </a:defPPr>
          </a:lstStyle>
          <a:p>
            <a:pPr marL="0" indent="0">
              <a:buNone/>
            </a:pPr>
            <a:r>
              <a:rPr sz="1200" b="1">
                <a:solidFill>
                  <a:srgbClr val="000000"/>
                </a:solidFill>
                <a:latin typeface="Malgun Gothic"/>
                <a:ea typeface="Malgun Gothic"/>
                <a:cs typeface="Malgun Gothic"/>
              </a:rPr>
              <a:t>확장 운영 구성 (선택)</a:t>
            </a:r>
            <a:endParaRPr sz="1200"/>
          </a:p>
        </p:txBody>
      </p:sp>
      <p:sp>
        <p:nvSpPr>
          <p:cNvPr id="28" name="Shape 26">
            <a:extLst>
              <a:ext uri="{FF2B5EF4-FFF2-40B4-BE49-F238E27FC236}">
                <a16:creationId xmlns:a16="http://schemas.microsoft.com/office/drawing/2014/main" id="{70C8D16B-562B-4274-8051-3771B32F9134}"/>
              </a:ext>
            </a:extLst>
          </p:cNvPr>
          <p:cNvSpPr>
            <a:spLocks noGrp="1"/>
          </p:cNvSpPr>
          <p:nvPr/>
        </p:nvSpPr>
        <p:spPr>
          <a:xfrm>
            <a:off x="548640" y="3657600"/>
            <a:ext cx="2560320" cy="868680"/>
          </a:xfrm>
          <a:prstGeom prst="roundRect">
            <a:avLst>
              <a:gd name="adj" fmla="val 10526"/>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29" name="Shape 27">
            <a:extLst>
              <a:ext uri="{FF2B5EF4-FFF2-40B4-BE49-F238E27FC236}">
                <a16:creationId xmlns:a16="http://schemas.microsoft.com/office/drawing/2014/main" id="{BE4BF0FD-3A3E-4DCC-B293-FE978638ED4E}"/>
              </a:ext>
            </a:extLst>
          </p:cNvPr>
          <p:cNvSpPr>
            <a:spLocks noGrp="1"/>
          </p:cNvSpPr>
          <p:nvPr/>
        </p:nvSpPr>
        <p:spPr>
          <a:xfrm>
            <a:off x="685800" y="3794760"/>
            <a:ext cx="594360" cy="594360"/>
          </a:xfrm>
          <a:prstGeom prst="ellipse">
            <a:avLst/>
          </a:prstGeom>
          <a:solidFill>
            <a:srgbClr val="E6F0FB"/>
          </a:solidFill>
        </p:spPr>
        <p:txBody>
          <a:bodyPr/>
          <a:lstStyle/>
          <a:p>
            <a:endParaRPr lang="ko-KR" altLang="en-US"/>
          </a:p>
        </p:txBody>
      </p:sp>
      <p:pic>
        <p:nvPicPr>
          <p:cNvPr id="30" name="Image 0">
            <a:extLst>
              <a:ext uri="{FF2B5EF4-FFF2-40B4-BE49-F238E27FC236}">
                <a16:creationId xmlns:a16="http://schemas.microsoft.com/office/drawing/2014/main" id="{786373D1-2686-4222-863D-4CFD057A6860}"/>
              </a:ext>
            </a:extLst>
          </p:cNvPr>
          <p:cNvPicPr>
            <a:picLocks noChangeAspect="1"/>
          </p:cNvPicPr>
          <p:nvPr/>
        </p:nvPicPr>
        <p:blipFill>
          <a:blip r:embed="rId3"/>
          <a:stretch>
            <a:fillRect/>
          </a:stretch>
        </p:blipFill>
        <p:spPr>
          <a:xfrm>
            <a:off x="816559" y="3925519"/>
            <a:ext cx="332842" cy="332842"/>
          </a:xfrm>
          <a:prstGeom prst="rect">
            <a:avLst/>
          </a:prstGeom>
        </p:spPr>
      </p:pic>
      <p:sp>
        <p:nvSpPr>
          <p:cNvPr id="31" name="Text 28">
            <a:extLst>
              <a:ext uri="{FF2B5EF4-FFF2-40B4-BE49-F238E27FC236}">
                <a16:creationId xmlns:a16="http://schemas.microsoft.com/office/drawing/2014/main" id="{DF360AC3-B47D-4CE1-B5ED-2CEAECD19BD3}"/>
              </a:ext>
            </a:extLst>
          </p:cNvPr>
          <p:cNvSpPr>
            <a:spLocks noGrp="1"/>
          </p:cNvSpPr>
          <p:nvPr/>
        </p:nvSpPr>
        <p:spPr>
          <a:xfrm>
            <a:off x="1417320" y="3794760"/>
            <a:ext cx="1645920" cy="274320"/>
          </a:xfrm>
          <a:prstGeom prst="rect">
            <a:avLst/>
          </a:prstGeom>
          <a:noFill/>
        </p:spPr>
        <p:txBody>
          <a:bodyPr wrap="square" lIns="0" tIns="0" rIns="0" bIns="0" anchor="t"/>
          <a:lstStyle>
            <a:defPPr>
              <a:defRPr>
                <a:solidFill>
                  <a:srgbClr val="000000"/>
                </a:solidFill>
              </a:defRPr>
            </a:defPPr>
          </a:lstStyle>
          <a:p>
            <a:pPr marL="0" indent="0">
              <a:buNone/>
            </a:pPr>
            <a:r>
              <a:rPr sz="1150" b="1">
                <a:solidFill>
                  <a:srgbClr val="000000"/>
                </a:solidFill>
                <a:latin typeface="Malgun Gothic"/>
                <a:ea typeface="Malgun Gothic"/>
                <a:cs typeface="Malgun Gothic"/>
              </a:rPr>
              <a:t>watchdog</a:t>
            </a:r>
            <a:endParaRPr sz="1150"/>
          </a:p>
        </p:txBody>
      </p:sp>
      <p:sp>
        <p:nvSpPr>
          <p:cNvPr id="32" name="Text 29">
            <a:extLst>
              <a:ext uri="{FF2B5EF4-FFF2-40B4-BE49-F238E27FC236}">
                <a16:creationId xmlns:a16="http://schemas.microsoft.com/office/drawing/2014/main" id="{17907CD0-54B6-4390-B991-7CD4DDCAB23A}"/>
              </a:ext>
            </a:extLst>
          </p:cNvPr>
          <p:cNvSpPr>
            <a:spLocks noGrp="1"/>
          </p:cNvSpPr>
          <p:nvPr/>
        </p:nvSpPr>
        <p:spPr>
          <a:xfrm>
            <a:off x="1417320" y="4069080"/>
            <a:ext cx="1645920" cy="365760"/>
          </a:xfrm>
          <a:prstGeom prst="rect">
            <a:avLst/>
          </a:prstGeom>
          <a:noFill/>
        </p:spPr>
        <p:txBody>
          <a:bodyPr wrap="square" lIns="0" tIns="0" rIns="0" bIns="0" anchor="t"/>
          <a:lstStyle/>
          <a:p>
            <a:pPr marL="0" indent="0">
              <a:buNone/>
            </a:pPr>
            <a:r>
              <a:rPr sz="950">
                <a:solidFill>
                  <a:srgbClr val="5E6878"/>
                </a:solidFill>
                <a:latin typeface="Malgun Gothic"/>
                <a:ea typeface="Malgun Gothic"/>
                <a:cs typeface="Malgun Gothic"/>
              </a:rPr>
              <a:t>EC2·ECS 장애 감시 데몬</a:t>
            </a:r>
            <a:endParaRPr sz="950"/>
          </a:p>
        </p:txBody>
      </p:sp>
      <p:sp>
        <p:nvSpPr>
          <p:cNvPr id="33" name="Shape 30">
            <a:extLst>
              <a:ext uri="{FF2B5EF4-FFF2-40B4-BE49-F238E27FC236}">
                <a16:creationId xmlns:a16="http://schemas.microsoft.com/office/drawing/2014/main" id="{E3553367-62A7-4B53-9BC7-DE13902E1704}"/>
              </a:ext>
            </a:extLst>
          </p:cNvPr>
          <p:cNvSpPr>
            <a:spLocks noGrp="1"/>
          </p:cNvSpPr>
          <p:nvPr/>
        </p:nvSpPr>
        <p:spPr>
          <a:xfrm>
            <a:off x="3291840" y="3657600"/>
            <a:ext cx="2560320" cy="868680"/>
          </a:xfrm>
          <a:prstGeom prst="roundRect">
            <a:avLst>
              <a:gd name="adj" fmla="val 10526"/>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34" name="Shape 31">
            <a:extLst>
              <a:ext uri="{FF2B5EF4-FFF2-40B4-BE49-F238E27FC236}">
                <a16:creationId xmlns:a16="http://schemas.microsoft.com/office/drawing/2014/main" id="{2DB5ADCD-AC2B-430D-AB9D-95A113394606}"/>
              </a:ext>
            </a:extLst>
          </p:cNvPr>
          <p:cNvSpPr>
            <a:spLocks noGrp="1"/>
          </p:cNvSpPr>
          <p:nvPr/>
        </p:nvSpPr>
        <p:spPr>
          <a:xfrm>
            <a:off x="3429000" y="3794760"/>
            <a:ext cx="594360" cy="594360"/>
          </a:xfrm>
          <a:prstGeom prst="ellipse">
            <a:avLst/>
          </a:prstGeom>
          <a:solidFill>
            <a:srgbClr val="E6F0FB"/>
          </a:solidFill>
        </p:spPr>
        <p:txBody>
          <a:bodyPr/>
          <a:lstStyle/>
          <a:p>
            <a:endParaRPr lang="ko-KR" altLang="en-US"/>
          </a:p>
        </p:txBody>
      </p:sp>
      <p:pic>
        <p:nvPicPr>
          <p:cNvPr id="35" name="Image 1">
            <a:extLst>
              <a:ext uri="{FF2B5EF4-FFF2-40B4-BE49-F238E27FC236}">
                <a16:creationId xmlns:a16="http://schemas.microsoft.com/office/drawing/2014/main" id="{03164A08-9C47-444B-9CE2-147CDCC5BFB8}"/>
              </a:ext>
            </a:extLst>
          </p:cNvPr>
          <p:cNvPicPr>
            <a:picLocks noChangeAspect="1"/>
          </p:cNvPicPr>
          <p:nvPr/>
        </p:nvPicPr>
        <p:blipFill>
          <a:blip r:embed="rId4"/>
          <a:stretch>
            <a:fillRect/>
          </a:stretch>
        </p:blipFill>
        <p:spPr>
          <a:xfrm>
            <a:off x="3559759" y="3925519"/>
            <a:ext cx="332842" cy="332842"/>
          </a:xfrm>
          <a:prstGeom prst="rect">
            <a:avLst/>
          </a:prstGeom>
        </p:spPr>
      </p:pic>
      <p:sp>
        <p:nvSpPr>
          <p:cNvPr id="36" name="Text 32">
            <a:extLst>
              <a:ext uri="{FF2B5EF4-FFF2-40B4-BE49-F238E27FC236}">
                <a16:creationId xmlns:a16="http://schemas.microsoft.com/office/drawing/2014/main" id="{D6DFFD28-C9F8-413F-9AC0-E512971927FA}"/>
              </a:ext>
            </a:extLst>
          </p:cNvPr>
          <p:cNvSpPr>
            <a:spLocks noGrp="1"/>
          </p:cNvSpPr>
          <p:nvPr/>
        </p:nvSpPr>
        <p:spPr>
          <a:xfrm>
            <a:off x="4160520" y="3794760"/>
            <a:ext cx="1645920" cy="274320"/>
          </a:xfrm>
          <a:prstGeom prst="rect">
            <a:avLst/>
          </a:prstGeom>
          <a:noFill/>
        </p:spPr>
        <p:txBody>
          <a:bodyPr wrap="square" lIns="0" tIns="0" rIns="0" bIns="0" anchor="t"/>
          <a:lstStyle>
            <a:defPPr>
              <a:defRPr>
                <a:solidFill>
                  <a:srgbClr val="000000"/>
                </a:solidFill>
              </a:defRPr>
            </a:defPPr>
          </a:lstStyle>
          <a:p>
            <a:pPr marL="0" indent="0">
              <a:buNone/>
            </a:pPr>
            <a:r>
              <a:rPr sz="1150" b="1">
                <a:solidFill>
                  <a:srgbClr val="000000"/>
                </a:solidFill>
                <a:latin typeface="Malgun Gothic"/>
                <a:ea typeface="Malgun Gothic"/>
                <a:cs typeface="Malgun Gothic"/>
              </a:rPr>
              <a:t>CloudWatch</a:t>
            </a:r>
            <a:endParaRPr sz="1150"/>
          </a:p>
        </p:txBody>
      </p:sp>
      <p:sp>
        <p:nvSpPr>
          <p:cNvPr id="37" name="Text 33">
            <a:extLst>
              <a:ext uri="{FF2B5EF4-FFF2-40B4-BE49-F238E27FC236}">
                <a16:creationId xmlns:a16="http://schemas.microsoft.com/office/drawing/2014/main" id="{2B533428-8B5D-4F64-A5A6-C698D8F66C08}"/>
              </a:ext>
            </a:extLst>
          </p:cNvPr>
          <p:cNvSpPr>
            <a:spLocks noGrp="1"/>
          </p:cNvSpPr>
          <p:nvPr/>
        </p:nvSpPr>
        <p:spPr>
          <a:xfrm>
            <a:off x="4160520" y="4069080"/>
            <a:ext cx="1645920" cy="365760"/>
          </a:xfrm>
          <a:prstGeom prst="rect">
            <a:avLst/>
          </a:prstGeom>
          <a:noFill/>
        </p:spPr>
        <p:txBody>
          <a:bodyPr wrap="square" lIns="0" tIns="0" rIns="0" bIns="0" anchor="t"/>
          <a:lstStyle>
            <a:defPPr>
              <a:defRPr sz="938"/>
            </a:defPPr>
          </a:lstStyle>
          <a:p>
            <a:pPr marL="0" indent="0">
              <a:buNone/>
              <a:defRPr sz="938"/>
            </a:pPr>
            <a:r>
              <a:rPr sz="938">
                <a:solidFill>
                  <a:srgbClr val="5E6878"/>
                </a:solidFill>
                <a:latin typeface="Malgun Gothic"/>
                <a:ea typeface="Malgun Gothic"/>
                <a:cs typeface="Malgun Gothic"/>
              </a:rPr>
              <a:t>로그·지표 수집과 이상 확인</a:t>
            </a:r>
            <a:endParaRPr sz="950"/>
          </a:p>
        </p:txBody>
      </p:sp>
      <p:sp>
        <p:nvSpPr>
          <p:cNvPr id="38" name="Shape 34">
            <a:extLst>
              <a:ext uri="{FF2B5EF4-FFF2-40B4-BE49-F238E27FC236}">
                <a16:creationId xmlns:a16="http://schemas.microsoft.com/office/drawing/2014/main" id="{2A89B109-A959-4577-A71F-491E517D4FE0}"/>
              </a:ext>
            </a:extLst>
          </p:cNvPr>
          <p:cNvSpPr>
            <a:spLocks noGrp="1"/>
          </p:cNvSpPr>
          <p:nvPr/>
        </p:nvSpPr>
        <p:spPr>
          <a:xfrm>
            <a:off x="6035040" y="3657600"/>
            <a:ext cx="2560320" cy="868680"/>
          </a:xfrm>
          <a:prstGeom prst="roundRect">
            <a:avLst>
              <a:gd name="adj" fmla="val 10526"/>
            </a:avLst>
          </a:prstGeom>
          <a:solidFill>
            <a:srgbClr val="FFFFFF"/>
          </a:solidFill>
          <a:effectLst>
            <a:outerShdw blurRad="127000" dist="25400" dir="5400000" algn="bl" rotWithShape="0">
              <a:srgbClr val="000000">
                <a:alpha val="10000"/>
              </a:srgbClr>
            </a:outerShdw>
          </a:effectLst>
        </p:spPr>
        <p:txBody>
          <a:bodyPr/>
          <a:lstStyle/>
          <a:p>
            <a:endParaRPr lang="ko-KR" altLang="en-US"/>
          </a:p>
        </p:txBody>
      </p:sp>
      <p:sp>
        <p:nvSpPr>
          <p:cNvPr id="39" name="Shape 35">
            <a:extLst>
              <a:ext uri="{FF2B5EF4-FFF2-40B4-BE49-F238E27FC236}">
                <a16:creationId xmlns:a16="http://schemas.microsoft.com/office/drawing/2014/main" id="{FB1A2CB2-2BCA-4D7D-9BB5-D7C67DC62C31}"/>
              </a:ext>
            </a:extLst>
          </p:cNvPr>
          <p:cNvSpPr>
            <a:spLocks noGrp="1"/>
          </p:cNvSpPr>
          <p:nvPr/>
        </p:nvSpPr>
        <p:spPr>
          <a:xfrm>
            <a:off x="6172200" y="3794760"/>
            <a:ext cx="594360" cy="594360"/>
          </a:xfrm>
          <a:prstGeom prst="ellipse">
            <a:avLst/>
          </a:prstGeom>
          <a:solidFill>
            <a:srgbClr val="E6F0FB"/>
          </a:solidFill>
        </p:spPr>
        <p:txBody>
          <a:bodyPr/>
          <a:lstStyle/>
          <a:p>
            <a:endParaRPr lang="ko-KR" altLang="en-US"/>
          </a:p>
        </p:txBody>
      </p:sp>
      <p:pic>
        <p:nvPicPr>
          <p:cNvPr id="40" name="Image 2">
            <a:extLst>
              <a:ext uri="{FF2B5EF4-FFF2-40B4-BE49-F238E27FC236}">
                <a16:creationId xmlns:a16="http://schemas.microsoft.com/office/drawing/2014/main" id="{30BC0D97-4475-40DE-A14E-5BF3D2B93DA4}"/>
              </a:ext>
            </a:extLst>
          </p:cNvPr>
          <p:cNvPicPr>
            <a:picLocks noChangeAspect="1"/>
          </p:cNvPicPr>
          <p:nvPr/>
        </p:nvPicPr>
        <p:blipFill>
          <a:blip r:embed="rId5"/>
          <a:stretch>
            <a:fillRect/>
          </a:stretch>
        </p:blipFill>
        <p:spPr>
          <a:xfrm>
            <a:off x="6302959" y="3925519"/>
            <a:ext cx="332842" cy="332842"/>
          </a:xfrm>
          <a:prstGeom prst="rect">
            <a:avLst/>
          </a:prstGeom>
        </p:spPr>
      </p:pic>
      <p:sp>
        <p:nvSpPr>
          <p:cNvPr id="41" name="Text 36">
            <a:extLst>
              <a:ext uri="{FF2B5EF4-FFF2-40B4-BE49-F238E27FC236}">
                <a16:creationId xmlns:a16="http://schemas.microsoft.com/office/drawing/2014/main" id="{FC01CB55-10B7-4CA0-8535-38A824B3BDC8}"/>
              </a:ext>
            </a:extLst>
          </p:cNvPr>
          <p:cNvSpPr>
            <a:spLocks noGrp="1"/>
          </p:cNvSpPr>
          <p:nvPr/>
        </p:nvSpPr>
        <p:spPr>
          <a:xfrm>
            <a:off x="6903720" y="3794760"/>
            <a:ext cx="1645920" cy="274320"/>
          </a:xfrm>
          <a:prstGeom prst="rect">
            <a:avLst/>
          </a:prstGeom>
          <a:noFill/>
        </p:spPr>
        <p:txBody>
          <a:bodyPr wrap="square" lIns="0" tIns="0" rIns="0" bIns="0" anchor="t"/>
          <a:lstStyle>
            <a:defPPr>
              <a:defRPr>
                <a:solidFill>
                  <a:srgbClr val="000000"/>
                </a:solidFill>
              </a:defRPr>
            </a:defPPr>
          </a:lstStyle>
          <a:p>
            <a:pPr marL="0" indent="0">
              <a:buNone/>
            </a:pPr>
            <a:r>
              <a:rPr sz="1150" b="1">
                <a:solidFill>
                  <a:srgbClr val="000000"/>
                </a:solidFill>
                <a:latin typeface="Malgun Gothic"/>
                <a:ea typeface="Malgun Gothic"/>
                <a:cs typeface="Malgun Gothic"/>
              </a:rPr>
              <a:t>Discord 봇</a:t>
            </a:r>
            <a:endParaRPr sz="1150"/>
          </a:p>
        </p:txBody>
      </p:sp>
      <p:sp>
        <p:nvSpPr>
          <p:cNvPr id="42" name="Text 37">
            <a:extLst>
              <a:ext uri="{FF2B5EF4-FFF2-40B4-BE49-F238E27FC236}">
                <a16:creationId xmlns:a16="http://schemas.microsoft.com/office/drawing/2014/main" id="{38B4281F-06F0-4A22-90D5-EAFE58074F07}"/>
              </a:ext>
            </a:extLst>
          </p:cNvPr>
          <p:cNvSpPr>
            <a:spLocks noGrp="1"/>
          </p:cNvSpPr>
          <p:nvPr/>
        </p:nvSpPr>
        <p:spPr>
          <a:xfrm>
            <a:off x="6903720" y="4069080"/>
            <a:ext cx="1645920" cy="365760"/>
          </a:xfrm>
          <a:prstGeom prst="rect">
            <a:avLst/>
          </a:prstGeom>
          <a:noFill/>
        </p:spPr>
        <p:txBody>
          <a:bodyPr wrap="square" lIns="0" tIns="0" rIns="0" bIns="0" anchor="t"/>
          <a:lstStyle/>
          <a:p>
            <a:pPr marL="0" indent="0">
              <a:buNone/>
            </a:pPr>
            <a:r>
              <a:rPr sz="950">
                <a:solidFill>
                  <a:srgbClr val="5E6878"/>
                </a:solidFill>
                <a:latin typeface="Malgun Gothic"/>
                <a:ea typeface="Malgun Gothic"/>
                <a:cs typeface="Malgun Gothic"/>
              </a:rPr>
              <a:t>알림 · 채팅으로 배포·롤백·점검</a:t>
            </a:r>
            <a:endParaRPr sz="950"/>
          </a:p>
        </p:txBody>
      </p:sp>
      <p:sp>
        <p:nvSpPr>
          <p:cNvPr id="43" name="Slide Number Placeholder 0">
            <a:extLst>
              <a:ext uri="{FF2B5EF4-FFF2-40B4-BE49-F238E27FC236}">
                <a16:creationId xmlns:a16="http://schemas.microsoft.com/office/drawing/2014/main" id="{79B0253D-0463-47DA-AFB3-932DF2CBD9FE}"/>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0BB18BA8-60F4-C50D-CD9B-1BB87D3E8506}" type="slidenum">
              <a:rPr sz="900" b="1">
                <a:solidFill>
                  <a:srgbClr val="2B7FD4"/>
                </a:solidFill>
                <a:latin typeface="Malgun Gothic"/>
                <a:ea typeface="Malgun Gothic"/>
                <a:cs typeface="Malgun Gothic"/>
              </a:rPr>
              <a:t>21</a:t>
            </a:fld>
            <a:endParaRPr/>
          </a:p>
        </p:txBody>
      </p:sp>
      <p:sp>
        <p:nvSpPr>
          <p:cNvPr id="44" name="edited-배포 직후 검증과 선택형 상시 감시를 구분합">
            <a:extLst>
              <a:ext uri="{FF2B5EF4-FFF2-40B4-BE49-F238E27FC236}">
                <a16:creationId xmlns:a16="http://schemas.microsoft.com/office/drawing/2014/main" id="{255DAB73-4B66-4BD5-B7CC-8FB7BAC5C7EA}"/>
              </a:ext>
            </a:extLst>
          </p:cNvPr>
          <p:cNvSpPr>
            <a:spLocks noGrp="1"/>
          </p:cNvSpPr>
          <p:nvPr/>
        </p:nvSpPr>
        <p:spPr>
          <a:xfrm>
            <a:off x="552450" y="981075"/>
            <a:ext cx="8001000" cy="361950"/>
          </a:xfrm>
          <a:prstGeom prst="rect">
            <a:avLst/>
          </a:prstGeom>
          <a:noFill/>
          <a:ln w="0">
            <a:noFill/>
          </a:ln>
        </p:spPr>
        <p:txBody>
          <a:bodyPr wrap="square" lIns="0" tIns="0" rIns="0" bIns="0" anchor="ctr">
            <a:noAutofit/>
          </a:bodyPr>
          <a:lstStyle>
            <a:defPPr algn="l">
              <a:defRPr sz="1500" b="1">
                <a:solidFill>
                  <a:srgbClr val="000000"/>
                </a:solidFill>
                <a:latin typeface="Malgun Gothic"/>
                <a:ea typeface="Malgun Gothic"/>
                <a:cs typeface="Malgun Gothic"/>
              </a:defRPr>
            </a:defPPr>
          </a:lstStyle>
          <a:p>
            <a:pPr algn="l">
              <a:defRPr sz="1500" b="1">
                <a:solidFill>
                  <a:srgbClr val="000000"/>
                </a:solidFill>
                <a:latin typeface="Malgun Gothic"/>
                <a:ea typeface="Malgun Gothic"/>
                <a:cs typeface="Malgun Gothic"/>
              </a:defRPr>
            </a:pPr>
            <a:r>
              <a:rPr sz="1500" b="1">
                <a:solidFill>
                  <a:srgbClr val="000000"/>
                </a:solidFill>
                <a:latin typeface="Malgun Gothic"/>
                <a:ea typeface="Malgun Gothic"/>
                <a:cs typeface="Malgun Gothic"/>
              </a:rPr>
              <a:t>배포 직후 검증과 선택형 상시 감시를 구분합니다</a:t>
            </a:r>
          </a:p>
        </p:txBody>
      </p:sp>
    </p:spTree>
    <p:extLst>
      <p:ext uri="{BB962C8B-B14F-4D97-AF65-F5344CB8AC3E}">
        <p14:creationId xmlns:p14="http://schemas.microsoft.com/office/powerpoint/2010/main" val="55730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DEDBF50-D6B7-498B-A185-D40CF8A013CD}"/>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a:solidFill>
                  <a:srgbClr val="000000"/>
                </a:solidFill>
                <a:latin typeface="Malgun Gothic"/>
                <a:ea typeface="Malgun Gothic"/>
                <a:cs typeface="Malgun Gothic"/>
              </a:rPr>
              <a:t>|  시연 영상 : 핵심 흐름</a:t>
            </a:r>
            <a:endParaRPr sz="2000">
              <a:solidFill>
                <a:schemeClr val="tx1"/>
              </a:solidFill>
            </a:endParaRPr>
          </a:p>
        </p:txBody>
      </p:sp>
      <p:sp>
        <p:nvSpPr>
          <p:cNvPr id="3" name="Text 0">
            <a:extLst>
              <a:ext uri="{FF2B5EF4-FFF2-40B4-BE49-F238E27FC236}">
                <a16:creationId xmlns:a16="http://schemas.microsoft.com/office/drawing/2014/main" id="{C00C962A-3C5A-4099-AC72-916B3B54A606}"/>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defRPr>
                <a:solidFill>
                  <a:srgbClr val="000000"/>
                </a:solidFill>
              </a:defRPr>
            </a:pPr>
            <a:r>
              <a:rPr sz="1000" b="1">
                <a:solidFill>
                  <a:srgbClr val="000000"/>
                </a:solidFill>
                <a:latin typeface="Malgun Gothic"/>
                <a:ea typeface="Malgun Gothic"/>
                <a:cs typeface="Malgun Gothic"/>
              </a:rPr>
              <a:t>03 데모 시연</a:t>
            </a:r>
            <a:endParaRPr sz="1000"/>
          </a:p>
        </p:txBody>
      </p:sp>
      <p:sp>
        <p:nvSpPr>
          <p:cNvPr id="4" name="Shape 2">
            <a:extLst>
              <a:ext uri="{FF2B5EF4-FFF2-40B4-BE49-F238E27FC236}">
                <a16:creationId xmlns:a16="http://schemas.microsoft.com/office/drawing/2014/main" id="{EA3ADE7B-F51B-4BB2-A3A8-8460D93AAA62}"/>
              </a:ext>
            </a:extLst>
          </p:cNvPr>
          <p:cNvSpPr>
            <a:spLocks noGrp="1"/>
          </p:cNvSpPr>
          <p:nvPr/>
        </p:nvSpPr>
        <p:spPr>
          <a:xfrm>
            <a:off x="411480" y="960120"/>
            <a:ext cx="4206240" cy="960120"/>
          </a:xfrm>
          <a:prstGeom prst="roundRect">
            <a:avLst>
              <a:gd name="adj" fmla="val 11429"/>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5" name="Text 3">
            <a:extLst>
              <a:ext uri="{FF2B5EF4-FFF2-40B4-BE49-F238E27FC236}">
                <a16:creationId xmlns:a16="http://schemas.microsoft.com/office/drawing/2014/main" id="{FABA53E6-0760-41F2-AF31-A3C61E9FD8F6}"/>
              </a:ext>
            </a:extLst>
          </p:cNvPr>
          <p:cNvSpPr>
            <a:spLocks noGrp="1"/>
          </p:cNvSpPr>
          <p:nvPr/>
        </p:nvSpPr>
        <p:spPr>
          <a:xfrm>
            <a:off x="594360" y="960120"/>
            <a:ext cx="731520" cy="960120"/>
          </a:xfrm>
          <a:prstGeom prst="rect">
            <a:avLst/>
          </a:prstGeom>
          <a:noFill/>
        </p:spPr>
        <p:txBody>
          <a:bodyPr wrap="square" lIns="0" tIns="0" rIns="0" bIns="0" anchor="ctr"/>
          <a:lstStyle/>
          <a:p>
            <a:pPr marL="0" indent="0">
              <a:buNone/>
            </a:pPr>
            <a:r>
              <a:rPr sz="2600" b="1">
                <a:solidFill>
                  <a:srgbClr val="2B7FD4"/>
                </a:solidFill>
                <a:latin typeface="Malgun Gothic"/>
                <a:ea typeface="Malgun Gothic"/>
                <a:cs typeface="Malgun Gothic"/>
              </a:rPr>
              <a:t>01</a:t>
            </a:r>
            <a:endParaRPr sz="2600"/>
          </a:p>
        </p:txBody>
      </p:sp>
      <p:sp>
        <p:nvSpPr>
          <p:cNvPr id="6" name="Text 4">
            <a:extLst>
              <a:ext uri="{FF2B5EF4-FFF2-40B4-BE49-F238E27FC236}">
                <a16:creationId xmlns:a16="http://schemas.microsoft.com/office/drawing/2014/main" id="{435C3363-888C-4107-A4E7-2E3FB92D841B}"/>
              </a:ext>
            </a:extLst>
          </p:cNvPr>
          <p:cNvSpPr>
            <a:spLocks noGrp="1"/>
          </p:cNvSpPr>
          <p:nvPr/>
        </p:nvSpPr>
        <p:spPr>
          <a:xfrm>
            <a:off x="1371600" y="1124712"/>
            <a:ext cx="3108960" cy="292608"/>
          </a:xfrm>
          <a:prstGeom prst="rect">
            <a:avLst/>
          </a:prstGeom>
          <a:noFill/>
        </p:spPr>
        <p:txBody>
          <a:bodyPr wrap="square" lIns="0" tIns="0" rIns="0" bIns="0" anchor="t"/>
          <a:lstStyle>
            <a:defPPr>
              <a:defRPr sz="1200" b="1">
                <a:solidFill>
                  <a:srgbClr val="000000"/>
                </a:solidFill>
              </a:defRPr>
            </a:defPPr>
          </a:lstStyle>
          <a:p>
            <a:pPr marL="0" indent="0">
              <a:buNone/>
              <a:defRPr sz="1200" b="1">
                <a:solidFill>
                  <a:srgbClr val="000000"/>
                </a:solidFill>
              </a:defRPr>
            </a:pPr>
            <a:r>
              <a:rPr sz="1200" b="1">
                <a:solidFill>
                  <a:srgbClr val="000000"/>
                </a:solidFill>
                <a:latin typeface="Malgun Gothic"/>
                <a:ea typeface="Malgun Gothic"/>
                <a:cs typeface="Malgun Gothic"/>
              </a:rPr>
              <a:t>멀티 에이전트 개발 및 설계 선택</a:t>
            </a:r>
            <a:endParaRPr sz="1300"/>
          </a:p>
        </p:txBody>
      </p:sp>
      <p:sp>
        <p:nvSpPr>
          <p:cNvPr id="7" name="Text 5">
            <a:extLst>
              <a:ext uri="{FF2B5EF4-FFF2-40B4-BE49-F238E27FC236}">
                <a16:creationId xmlns:a16="http://schemas.microsoft.com/office/drawing/2014/main" id="{A41A4EAE-B5EF-4A28-A876-634F0CAB9B28}"/>
              </a:ext>
            </a:extLst>
          </p:cNvPr>
          <p:cNvSpPr>
            <a:spLocks noGrp="1"/>
          </p:cNvSpPr>
          <p:nvPr/>
        </p:nvSpPr>
        <p:spPr>
          <a:xfrm>
            <a:off x="1371600" y="1435608"/>
            <a:ext cx="3154680" cy="365760"/>
          </a:xfrm>
          <a:prstGeom prst="rect">
            <a:avLst/>
          </a:prstGeom>
          <a:noFill/>
        </p:spPr>
        <p:txBody>
          <a:bodyPr wrap="square" lIns="0" tIns="0" rIns="0" bIns="0" anchor="t"/>
          <a:lstStyle/>
          <a:p>
            <a:pPr marL="0" indent="0">
              <a:buNone/>
            </a:pPr>
            <a:r>
              <a:rPr sz="1000">
                <a:solidFill>
                  <a:srgbClr val="5E6878"/>
                </a:solidFill>
                <a:latin typeface="Malgun Gothic"/>
                <a:ea typeface="Malgun Gothic"/>
                <a:cs typeface="Malgun Gothic"/>
              </a:rPr>
              <a:t>설계 카드 선택 · 역할 분담 · 병렬 생성</a:t>
            </a:r>
            <a:endParaRPr sz="1000"/>
          </a:p>
        </p:txBody>
      </p:sp>
      <p:sp>
        <p:nvSpPr>
          <p:cNvPr id="8" name="Shape 6">
            <a:extLst>
              <a:ext uri="{FF2B5EF4-FFF2-40B4-BE49-F238E27FC236}">
                <a16:creationId xmlns:a16="http://schemas.microsoft.com/office/drawing/2014/main" id="{A2AD5D02-F4B7-4830-80F1-90A255C14F0B}"/>
              </a:ext>
            </a:extLst>
          </p:cNvPr>
          <p:cNvSpPr>
            <a:spLocks noGrp="1"/>
          </p:cNvSpPr>
          <p:nvPr/>
        </p:nvSpPr>
        <p:spPr>
          <a:xfrm>
            <a:off x="411480" y="2103120"/>
            <a:ext cx="4206240" cy="960120"/>
          </a:xfrm>
          <a:prstGeom prst="roundRect">
            <a:avLst>
              <a:gd name="adj" fmla="val 11429"/>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9" name="Text 7">
            <a:extLst>
              <a:ext uri="{FF2B5EF4-FFF2-40B4-BE49-F238E27FC236}">
                <a16:creationId xmlns:a16="http://schemas.microsoft.com/office/drawing/2014/main" id="{3D886CC9-56DA-44DF-A418-C0FEF69E8445}"/>
              </a:ext>
            </a:extLst>
          </p:cNvPr>
          <p:cNvSpPr>
            <a:spLocks noGrp="1"/>
          </p:cNvSpPr>
          <p:nvPr/>
        </p:nvSpPr>
        <p:spPr>
          <a:xfrm>
            <a:off x="594360" y="2103120"/>
            <a:ext cx="731520" cy="960120"/>
          </a:xfrm>
          <a:prstGeom prst="rect">
            <a:avLst/>
          </a:prstGeom>
          <a:noFill/>
        </p:spPr>
        <p:txBody>
          <a:bodyPr wrap="square" lIns="0" tIns="0" rIns="0" bIns="0" anchor="ctr"/>
          <a:lstStyle/>
          <a:p>
            <a:pPr marL="0" indent="0">
              <a:buNone/>
            </a:pPr>
            <a:r>
              <a:rPr sz="2600" b="1">
                <a:solidFill>
                  <a:srgbClr val="2B7FD4"/>
                </a:solidFill>
                <a:latin typeface="Malgun Gothic"/>
                <a:ea typeface="Malgun Gothic"/>
                <a:cs typeface="Malgun Gothic"/>
              </a:rPr>
              <a:t>02</a:t>
            </a:r>
            <a:endParaRPr sz="2600"/>
          </a:p>
        </p:txBody>
      </p:sp>
      <p:sp>
        <p:nvSpPr>
          <p:cNvPr id="10" name="Text 8">
            <a:extLst>
              <a:ext uri="{FF2B5EF4-FFF2-40B4-BE49-F238E27FC236}">
                <a16:creationId xmlns:a16="http://schemas.microsoft.com/office/drawing/2014/main" id="{1FCE4BCF-FC34-4229-9141-6E0EBFE7C319}"/>
              </a:ext>
            </a:extLst>
          </p:cNvPr>
          <p:cNvSpPr>
            <a:spLocks noGrp="1"/>
          </p:cNvSpPr>
          <p:nvPr/>
        </p:nvSpPr>
        <p:spPr>
          <a:xfrm>
            <a:off x="1371600" y="2267712"/>
            <a:ext cx="3108960" cy="292608"/>
          </a:xfrm>
          <a:prstGeom prst="rect">
            <a:avLst/>
          </a:prstGeom>
          <a:noFill/>
        </p:spPr>
        <p:txBody>
          <a:bodyPr wrap="square" lIns="0" tIns="0" rIns="0" bIns="0" anchor="t"/>
          <a:lstStyle>
            <a:defPPr>
              <a:defRPr>
                <a:solidFill>
                  <a:srgbClr val="000000"/>
                </a:solidFill>
              </a:defRPr>
            </a:defPPr>
          </a:lstStyle>
          <a:p>
            <a:pPr marL="0" indent="0">
              <a:buNone/>
            </a:pPr>
            <a:r>
              <a:rPr sz="1300" b="1">
                <a:solidFill>
                  <a:srgbClr val="000000"/>
                </a:solidFill>
                <a:latin typeface="Malgun Gothic"/>
                <a:ea typeface="Malgun Gothic"/>
                <a:cs typeface="Malgun Gothic"/>
              </a:rPr>
              <a:t>빌드와 보안 검사</a:t>
            </a:r>
            <a:endParaRPr sz="1300"/>
          </a:p>
        </p:txBody>
      </p:sp>
      <p:sp>
        <p:nvSpPr>
          <p:cNvPr id="11" name="Text 9">
            <a:extLst>
              <a:ext uri="{FF2B5EF4-FFF2-40B4-BE49-F238E27FC236}">
                <a16:creationId xmlns:a16="http://schemas.microsoft.com/office/drawing/2014/main" id="{93FF307F-1E7F-4979-9043-11D673CE5350}"/>
              </a:ext>
            </a:extLst>
          </p:cNvPr>
          <p:cNvSpPr>
            <a:spLocks noGrp="1"/>
          </p:cNvSpPr>
          <p:nvPr/>
        </p:nvSpPr>
        <p:spPr>
          <a:xfrm>
            <a:off x="1371600" y="2578608"/>
            <a:ext cx="3154680" cy="365760"/>
          </a:xfrm>
          <a:prstGeom prst="rect">
            <a:avLst/>
          </a:prstGeom>
          <a:noFill/>
        </p:spPr>
        <p:txBody>
          <a:bodyPr wrap="square" lIns="0" tIns="0" rIns="0" bIns="0" anchor="t"/>
          <a:lstStyle/>
          <a:p>
            <a:pPr marL="0" indent="0">
              <a:buNone/>
            </a:pPr>
            <a:r>
              <a:rPr sz="1000">
                <a:solidFill>
                  <a:srgbClr val="5E6878"/>
                </a:solidFill>
                <a:latin typeface="Malgun Gothic"/>
                <a:ea typeface="Malgun Gothic"/>
                <a:cs typeface="Malgun Gothic"/>
              </a:rPr>
              <a:t>보안 검사 · 문제 수정 · 재검사</a:t>
            </a:r>
            <a:endParaRPr sz="1000"/>
          </a:p>
        </p:txBody>
      </p:sp>
      <p:sp>
        <p:nvSpPr>
          <p:cNvPr id="12" name="Shape 10">
            <a:extLst>
              <a:ext uri="{FF2B5EF4-FFF2-40B4-BE49-F238E27FC236}">
                <a16:creationId xmlns:a16="http://schemas.microsoft.com/office/drawing/2014/main" id="{9523208E-E60F-41AC-850B-CCD03914BCDA}"/>
              </a:ext>
            </a:extLst>
          </p:cNvPr>
          <p:cNvSpPr>
            <a:spLocks noGrp="1"/>
          </p:cNvSpPr>
          <p:nvPr/>
        </p:nvSpPr>
        <p:spPr>
          <a:xfrm>
            <a:off x="411480" y="3246120"/>
            <a:ext cx="4206240" cy="960120"/>
          </a:xfrm>
          <a:prstGeom prst="roundRect">
            <a:avLst>
              <a:gd name="adj" fmla="val 11429"/>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13" name="Text 11">
            <a:extLst>
              <a:ext uri="{FF2B5EF4-FFF2-40B4-BE49-F238E27FC236}">
                <a16:creationId xmlns:a16="http://schemas.microsoft.com/office/drawing/2014/main" id="{24CDC55C-CF8F-4FFB-ADC2-3199997FA979}"/>
              </a:ext>
            </a:extLst>
          </p:cNvPr>
          <p:cNvSpPr>
            <a:spLocks noGrp="1"/>
          </p:cNvSpPr>
          <p:nvPr/>
        </p:nvSpPr>
        <p:spPr>
          <a:xfrm>
            <a:off x="594360" y="3246120"/>
            <a:ext cx="731520" cy="960120"/>
          </a:xfrm>
          <a:prstGeom prst="rect">
            <a:avLst/>
          </a:prstGeom>
          <a:noFill/>
        </p:spPr>
        <p:txBody>
          <a:bodyPr wrap="square" lIns="0" tIns="0" rIns="0" bIns="0" anchor="ctr"/>
          <a:lstStyle/>
          <a:p>
            <a:pPr marL="0" indent="0">
              <a:buNone/>
            </a:pPr>
            <a:r>
              <a:rPr sz="2600" b="1">
                <a:solidFill>
                  <a:srgbClr val="2B7FD4"/>
                </a:solidFill>
                <a:latin typeface="Malgun Gothic"/>
                <a:ea typeface="Malgun Gothic"/>
                <a:cs typeface="Malgun Gothic"/>
              </a:rPr>
              <a:t>03</a:t>
            </a:r>
            <a:endParaRPr sz="2600"/>
          </a:p>
        </p:txBody>
      </p:sp>
      <p:sp>
        <p:nvSpPr>
          <p:cNvPr id="14" name="Text 12">
            <a:extLst>
              <a:ext uri="{FF2B5EF4-FFF2-40B4-BE49-F238E27FC236}">
                <a16:creationId xmlns:a16="http://schemas.microsoft.com/office/drawing/2014/main" id="{014F99F4-C185-4329-85D5-4ADA0B111110}"/>
              </a:ext>
            </a:extLst>
          </p:cNvPr>
          <p:cNvSpPr>
            <a:spLocks noGrp="1"/>
          </p:cNvSpPr>
          <p:nvPr/>
        </p:nvSpPr>
        <p:spPr>
          <a:xfrm>
            <a:off x="1371600" y="3410712"/>
            <a:ext cx="3108960" cy="292608"/>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1300" b="1">
                <a:solidFill>
                  <a:srgbClr val="000000"/>
                </a:solidFill>
                <a:latin typeface="Malgun Gothic"/>
                <a:ea typeface="Malgun Gothic"/>
                <a:cs typeface="Malgun Gothic"/>
              </a:rPr>
              <a:t>배포 및 검증</a:t>
            </a:r>
            <a:endParaRPr sz="1300"/>
          </a:p>
        </p:txBody>
      </p:sp>
      <p:sp>
        <p:nvSpPr>
          <p:cNvPr id="15" name="Text 13">
            <a:extLst>
              <a:ext uri="{FF2B5EF4-FFF2-40B4-BE49-F238E27FC236}">
                <a16:creationId xmlns:a16="http://schemas.microsoft.com/office/drawing/2014/main" id="{F937C284-03B8-4401-8515-3454D78749AC}"/>
              </a:ext>
            </a:extLst>
          </p:cNvPr>
          <p:cNvSpPr>
            <a:spLocks noGrp="1"/>
          </p:cNvSpPr>
          <p:nvPr/>
        </p:nvSpPr>
        <p:spPr>
          <a:xfrm>
            <a:off x="1371600" y="3721608"/>
            <a:ext cx="3154680" cy="365760"/>
          </a:xfrm>
          <a:prstGeom prst="rect">
            <a:avLst/>
          </a:prstGeom>
          <a:noFill/>
        </p:spPr>
        <p:txBody>
          <a:bodyPr wrap="square" lIns="0" tIns="0" rIns="0" bIns="0" anchor="t"/>
          <a:lstStyle/>
          <a:p>
            <a:pPr marL="0" indent="0">
              <a:buNone/>
            </a:pPr>
            <a:r>
              <a:rPr sz="1000">
                <a:solidFill>
                  <a:srgbClr val="5E6878"/>
                </a:solidFill>
                <a:latin typeface="Malgun Gothic"/>
                <a:ea typeface="Malgun Gothic"/>
                <a:cs typeface="Malgun Gothic"/>
              </a:rPr>
              <a:t>배포 승인 · Health Check · 앱 동작</a:t>
            </a:r>
            <a:endParaRPr sz="1000"/>
          </a:p>
        </p:txBody>
      </p:sp>
      <p:pic>
        <p:nvPicPr>
          <p:cNvPr id="16" name="Image 0">
            <a:extLst>
              <a:ext uri="{FF2B5EF4-FFF2-40B4-BE49-F238E27FC236}">
                <a16:creationId xmlns:a16="http://schemas.microsoft.com/office/drawing/2014/main" id="{2EC1EDF2-0925-4CBD-90FA-58729BF51F24}"/>
              </a:ext>
            </a:extLst>
          </p:cNvPr>
          <p:cNvPicPr>
            <a:picLocks noChangeAspect="1"/>
          </p:cNvPicPr>
          <p:nvPr/>
        </p:nvPicPr>
        <p:blipFill>
          <a:blip r:embed="rId3"/>
          <a:stretch>
            <a:fillRect/>
          </a:stretch>
        </p:blipFill>
        <p:spPr>
          <a:xfrm>
            <a:off x="4892040" y="914400"/>
            <a:ext cx="3886200" cy="2428875"/>
          </a:xfrm>
          <a:prstGeom prst="rect">
            <a:avLst/>
          </a:prstGeom>
        </p:spPr>
      </p:pic>
      <p:sp>
        <p:nvSpPr>
          <p:cNvPr id="25" name="Slide Number Placeholder 0">
            <a:extLst>
              <a:ext uri="{FF2B5EF4-FFF2-40B4-BE49-F238E27FC236}">
                <a16:creationId xmlns:a16="http://schemas.microsoft.com/office/drawing/2014/main" id="{B30F47DB-C536-4213-9CCA-031DC9EEFDF5}"/>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r>
              <a:rPr sz="900" b="1" dirty="0">
                <a:solidFill>
                  <a:srgbClr val="2B7FD4"/>
                </a:solidFill>
                <a:latin typeface="Malgun Gothic"/>
                <a:ea typeface="Malgun Gothic"/>
                <a:cs typeface="Malgun Gothic"/>
              </a:rPr>
              <a:t>2</a:t>
            </a:r>
            <a:r>
              <a:rPr lang="en-US" altLang="ko-KR" sz="900" b="1" dirty="0">
                <a:solidFill>
                  <a:srgbClr val="2B7FD4"/>
                </a:solidFill>
                <a:latin typeface="Malgun Gothic"/>
                <a:ea typeface="Malgun Gothic"/>
                <a:cs typeface="Malgun Gothic"/>
              </a:rPr>
              <a:t>2</a:t>
            </a:r>
            <a:endParaRPr b="1" dirty="0"/>
          </a:p>
        </p:txBody>
      </p:sp>
    </p:spTree>
    <p:extLst>
      <p:ext uri="{BB962C8B-B14F-4D97-AF65-F5344CB8AC3E}">
        <p14:creationId xmlns:p14="http://schemas.microsoft.com/office/powerpoint/2010/main" val="134419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92D86F-A16E-8A87-A38D-76992C9D8C5F}"/>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a:solidFill>
                  <a:srgbClr val="000000"/>
                </a:solidFill>
                <a:latin typeface="Malgun Gothic"/>
                <a:ea typeface="Malgun Gothic"/>
                <a:cs typeface="Malgun Gothic"/>
              </a:rPr>
              <a:t>|  시연 영상</a:t>
            </a:r>
            <a:endParaRPr sz="2000">
              <a:solidFill>
                <a:schemeClr val="tx1"/>
              </a:solidFill>
            </a:endParaRPr>
          </a:p>
        </p:txBody>
      </p:sp>
      <p:sp>
        <p:nvSpPr>
          <p:cNvPr id="3" name="Text 0">
            <a:extLst>
              <a:ext uri="{FF2B5EF4-FFF2-40B4-BE49-F238E27FC236}">
                <a16:creationId xmlns:a16="http://schemas.microsoft.com/office/drawing/2014/main" id="{1302D4A1-6618-68D9-2AA8-44EF8C542C41}"/>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defRPr>
                <a:solidFill>
                  <a:srgbClr val="000000"/>
                </a:solidFill>
              </a:defRPr>
            </a:pPr>
            <a:r>
              <a:rPr sz="1000" b="1">
                <a:solidFill>
                  <a:srgbClr val="000000"/>
                </a:solidFill>
                <a:latin typeface="Malgun Gothic"/>
                <a:ea typeface="Malgun Gothic"/>
                <a:cs typeface="Malgun Gothic"/>
              </a:rPr>
              <a:t>03 데모 시연</a:t>
            </a:r>
            <a:endParaRPr sz="1000"/>
          </a:p>
        </p:txBody>
      </p:sp>
      <p:sp>
        <p:nvSpPr>
          <p:cNvPr id="25" name="Slide Number Placeholder 0">
            <a:extLst>
              <a:ext uri="{FF2B5EF4-FFF2-40B4-BE49-F238E27FC236}">
                <a16:creationId xmlns:a16="http://schemas.microsoft.com/office/drawing/2014/main" id="{1D2E726F-549B-F52F-2313-DE3995548676}"/>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r>
              <a:rPr sz="900" b="1" dirty="0">
                <a:solidFill>
                  <a:srgbClr val="2B7FD4"/>
                </a:solidFill>
                <a:latin typeface="Malgun Gothic"/>
                <a:ea typeface="Malgun Gothic"/>
                <a:cs typeface="Malgun Gothic"/>
              </a:rPr>
              <a:t>2</a:t>
            </a:r>
            <a:r>
              <a:rPr lang="en-US" altLang="ko-KR" sz="900" b="1" dirty="0">
                <a:solidFill>
                  <a:srgbClr val="2B7FD4"/>
                </a:solidFill>
                <a:latin typeface="Malgun Gothic"/>
                <a:ea typeface="Malgun Gothic"/>
                <a:cs typeface="Malgun Gothic"/>
              </a:rPr>
              <a:t>3</a:t>
            </a:r>
            <a:endParaRPr b="1" dirty="0"/>
          </a:p>
        </p:txBody>
      </p:sp>
      <p:sp>
        <p:nvSpPr>
          <p:cNvPr id="5" name="TextBox 4">
            <a:extLst>
              <a:ext uri="{FF2B5EF4-FFF2-40B4-BE49-F238E27FC236}">
                <a16:creationId xmlns:a16="http://schemas.microsoft.com/office/drawing/2014/main" id="{97A8D1DB-03F4-F1FF-8145-332058E97D88}"/>
              </a:ext>
            </a:extLst>
          </p:cNvPr>
          <p:cNvSpPr txBox="1"/>
          <p:nvPr/>
        </p:nvSpPr>
        <p:spPr>
          <a:xfrm>
            <a:off x="201014" y="4702802"/>
            <a:ext cx="3465463" cy="369332"/>
          </a:xfrm>
          <a:prstGeom prst="rect">
            <a:avLst/>
          </a:prstGeom>
          <a:noFill/>
        </p:spPr>
        <p:txBody>
          <a:bodyPr wrap="square">
            <a:spAutoFit/>
          </a:bodyPr>
          <a:lstStyle/>
          <a:p>
            <a:r>
              <a:rPr lang="en" altLang="ko-KR" dirty="0"/>
              <a:t>https://</a:t>
            </a:r>
            <a:r>
              <a:rPr lang="en" altLang="ko-KR" dirty="0" err="1"/>
              <a:t>youtu.be</a:t>
            </a:r>
            <a:r>
              <a:rPr lang="en" altLang="ko-KR" dirty="0"/>
              <a:t>/8W2SarV1orU</a:t>
            </a:r>
            <a:endParaRPr lang="ko-KR" altLang="en-US" dirty="0"/>
          </a:p>
        </p:txBody>
      </p:sp>
      <p:pic>
        <p:nvPicPr>
          <p:cNvPr id="6" name="ReCoder 시연영상_v3">
            <a:hlinkClick r:id="" action="ppaction://media"/>
            <a:extLst>
              <a:ext uri="{FF2B5EF4-FFF2-40B4-BE49-F238E27FC236}">
                <a16:creationId xmlns:a16="http://schemas.microsoft.com/office/drawing/2014/main" id="{98276E30-AE48-137F-92EC-5186A6D5B45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41356" y="688694"/>
            <a:ext cx="7261287" cy="4084474"/>
          </a:xfrm>
          <a:prstGeom prst="rect">
            <a:avLst/>
          </a:prstGeom>
        </p:spPr>
      </p:pic>
    </p:spTree>
    <p:extLst>
      <p:ext uri="{BB962C8B-B14F-4D97-AF65-F5344CB8AC3E}">
        <p14:creationId xmlns:p14="http://schemas.microsoft.com/office/powerpoint/2010/main" val="246488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04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0B64A9D-C91D-4157-A805-3EB03E99FD08}"/>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defRPr>
                <a:solidFill>
                  <a:srgbClr val="000000"/>
                </a:solidFill>
              </a:defRPr>
            </a:defPPr>
          </a:lstStyle>
          <a:p>
            <a:pPr marL="0" indent="0" algn="l">
              <a:buNone/>
            </a:pPr>
            <a:r>
              <a:rPr sz="2000" b="1">
                <a:solidFill>
                  <a:srgbClr val="000000"/>
                </a:solidFill>
                <a:latin typeface="Malgun Gothic"/>
                <a:ea typeface="Malgun Gothic"/>
                <a:cs typeface="Malgun Gothic"/>
              </a:rPr>
              <a:t>|  기대 효과</a:t>
            </a:r>
            <a:endParaRPr sz="2000">
              <a:solidFill>
                <a:schemeClr val="tx1"/>
              </a:solidFill>
            </a:endParaRPr>
          </a:p>
        </p:txBody>
      </p:sp>
      <p:sp>
        <p:nvSpPr>
          <p:cNvPr id="3" name="Text 0">
            <a:extLst>
              <a:ext uri="{FF2B5EF4-FFF2-40B4-BE49-F238E27FC236}">
                <a16:creationId xmlns:a16="http://schemas.microsoft.com/office/drawing/2014/main" id="{C68BC047-F1E7-4610-9C55-98F903D3BEEA}"/>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04 기대 효과</a:t>
            </a:r>
            <a:endParaRPr sz="1000"/>
          </a:p>
        </p:txBody>
      </p:sp>
      <p:sp>
        <p:nvSpPr>
          <p:cNvPr id="4" name="Text 2">
            <a:extLst>
              <a:ext uri="{FF2B5EF4-FFF2-40B4-BE49-F238E27FC236}">
                <a16:creationId xmlns:a16="http://schemas.microsoft.com/office/drawing/2014/main" id="{73C41E9A-07CD-4A0C-8CD0-60A4802A4BE0}"/>
              </a:ext>
            </a:extLst>
          </p:cNvPr>
          <p:cNvSpPr>
            <a:spLocks noGrp="1"/>
          </p:cNvSpPr>
          <p:nvPr/>
        </p:nvSpPr>
        <p:spPr>
          <a:xfrm>
            <a:off x="411480" y="868680"/>
            <a:ext cx="8229600" cy="411480"/>
          </a:xfrm>
          <a:prstGeom prst="rect">
            <a:avLst/>
          </a:prstGeom>
          <a:noFill/>
        </p:spPr>
        <p:txBody>
          <a:bodyPr wrap="square" lIns="0" tIns="0" rIns="0" bIns="0" anchor="t"/>
          <a:lstStyle>
            <a:defPPr>
              <a:defRPr>
                <a:solidFill>
                  <a:srgbClr val="000000"/>
                </a:solidFill>
              </a:defRPr>
            </a:defPPr>
          </a:lstStyle>
          <a:p>
            <a:pPr marL="0" indent="0">
              <a:buNone/>
            </a:pPr>
            <a:r>
              <a:rPr sz="1900" b="1">
                <a:solidFill>
                  <a:srgbClr val="000000"/>
                </a:solidFill>
                <a:latin typeface="Malgun Gothic"/>
                <a:ea typeface="Malgun Gothic"/>
                <a:cs typeface="Malgun Gothic"/>
              </a:rPr>
              <a:t>AI 시대 개발자의 핵심 역량은 </a:t>
            </a:r>
            <a:r>
              <a:rPr sz="1900" b="1" u="sng">
                <a:solidFill>
                  <a:srgbClr val="000000"/>
                </a:solidFill>
                <a:latin typeface="Malgun Gothic"/>
                <a:ea typeface="Malgun Gothic"/>
                <a:cs typeface="Malgun Gothic"/>
              </a:rPr>
              <a:t>'AI 결과물 검증 능력'</a:t>
            </a:r>
            <a:endParaRPr sz="1900"/>
          </a:p>
        </p:txBody>
      </p:sp>
      <p:sp>
        <p:nvSpPr>
          <p:cNvPr id="5" name="Text 3">
            <a:extLst>
              <a:ext uri="{FF2B5EF4-FFF2-40B4-BE49-F238E27FC236}">
                <a16:creationId xmlns:a16="http://schemas.microsoft.com/office/drawing/2014/main" id="{4948A56C-1F69-4640-B54B-6DC604AA4717}"/>
              </a:ext>
            </a:extLst>
          </p:cNvPr>
          <p:cNvSpPr>
            <a:spLocks noGrp="1"/>
          </p:cNvSpPr>
          <p:nvPr/>
        </p:nvSpPr>
        <p:spPr>
          <a:xfrm>
            <a:off x="411480" y="1298448"/>
            <a:ext cx="8229600" cy="256032"/>
          </a:xfrm>
          <a:prstGeom prst="rect">
            <a:avLst/>
          </a:prstGeom>
          <a:noFill/>
        </p:spPr>
        <p:txBody>
          <a:bodyPr wrap="square" lIns="0" tIns="0" rIns="0" bIns="0" anchor="t"/>
          <a:lstStyle/>
          <a:p>
            <a:pPr marL="0" indent="0">
              <a:buNone/>
            </a:pPr>
            <a:r>
              <a:rPr sz="900">
                <a:solidFill>
                  <a:srgbClr val="98A2B0"/>
                </a:solidFill>
                <a:latin typeface="Malgun Gothic"/>
                <a:ea typeface="Malgun Gothic"/>
                <a:cs typeface="Malgun Gothic"/>
              </a:rPr>
              <a:t>문제 정의 · 시스템 설계 · AI 결과물 검증 능력  —  소프트웨어정책연구소(SPRi) 연구보고서 RE-192, 2025.04</a:t>
            </a:r>
            <a:endParaRPr sz="900"/>
          </a:p>
        </p:txBody>
      </p:sp>
      <p:sp>
        <p:nvSpPr>
          <p:cNvPr id="6" name="Shape 4">
            <a:extLst>
              <a:ext uri="{FF2B5EF4-FFF2-40B4-BE49-F238E27FC236}">
                <a16:creationId xmlns:a16="http://schemas.microsoft.com/office/drawing/2014/main" id="{01FEC564-56FB-4C6C-8A20-40692AA284CD}"/>
              </a:ext>
            </a:extLst>
          </p:cNvPr>
          <p:cNvSpPr>
            <a:spLocks noGrp="1"/>
          </p:cNvSpPr>
          <p:nvPr/>
        </p:nvSpPr>
        <p:spPr>
          <a:xfrm>
            <a:off x="411480" y="1828800"/>
            <a:ext cx="2670048" cy="2743200"/>
          </a:xfrm>
          <a:prstGeom prst="roundRect">
            <a:avLst>
              <a:gd name="adj" fmla="val 4110"/>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7" name="Shape 5">
            <a:extLst>
              <a:ext uri="{FF2B5EF4-FFF2-40B4-BE49-F238E27FC236}">
                <a16:creationId xmlns:a16="http://schemas.microsoft.com/office/drawing/2014/main" id="{9F0320F6-FE1B-4C57-8923-65723D5B7AB3}"/>
              </a:ext>
            </a:extLst>
          </p:cNvPr>
          <p:cNvSpPr>
            <a:spLocks noGrp="1"/>
          </p:cNvSpPr>
          <p:nvPr/>
        </p:nvSpPr>
        <p:spPr>
          <a:xfrm>
            <a:off x="640080" y="2057400"/>
            <a:ext cx="731520" cy="731520"/>
          </a:xfrm>
          <a:prstGeom prst="ellipse">
            <a:avLst/>
          </a:prstGeom>
          <a:solidFill>
            <a:srgbClr val="E6F0FB"/>
          </a:solidFill>
        </p:spPr>
        <p:txBody>
          <a:bodyPr/>
          <a:lstStyle/>
          <a:p>
            <a:endParaRPr/>
          </a:p>
        </p:txBody>
      </p:sp>
      <p:pic>
        <p:nvPicPr>
          <p:cNvPr id="8" name="Image 0">
            <a:extLst>
              <a:ext uri="{FF2B5EF4-FFF2-40B4-BE49-F238E27FC236}">
                <a16:creationId xmlns:a16="http://schemas.microsoft.com/office/drawing/2014/main" id="{18E7A65F-4D4F-4341-AAFF-187088315091}"/>
              </a:ext>
            </a:extLst>
          </p:cNvPr>
          <p:cNvPicPr>
            <a:picLocks noChangeAspect="1"/>
          </p:cNvPicPr>
          <p:nvPr/>
        </p:nvPicPr>
        <p:blipFill>
          <a:blip r:embed="rId3"/>
          <a:stretch>
            <a:fillRect/>
          </a:stretch>
        </p:blipFill>
        <p:spPr>
          <a:xfrm>
            <a:off x="801014" y="2218334"/>
            <a:ext cx="409651" cy="409651"/>
          </a:xfrm>
          <a:prstGeom prst="rect">
            <a:avLst/>
          </a:prstGeom>
        </p:spPr>
      </p:pic>
      <p:sp>
        <p:nvSpPr>
          <p:cNvPr id="9" name="Text 6">
            <a:extLst>
              <a:ext uri="{FF2B5EF4-FFF2-40B4-BE49-F238E27FC236}">
                <a16:creationId xmlns:a16="http://schemas.microsoft.com/office/drawing/2014/main" id="{AC1A1394-32E7-4060-B359-54B6B513711C}"/>
              </a:ext>
            </a:extLst>
          </p:cNvPr>
          <p:cNvSpPr>
            <a:spLocks noGrp="1"/>
          </p:cNvSpPr>
          <p:nvPr/>
        </p:nvSpPr>
        <p:spPr>
          <a:xfrm>
            <a:off x="640080" y="2926080"/>
            <a:ext cx="2286000" cy="320040"/>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1350" b="1">
                <a:solidFill>
                  <a:srgbClr val="000000"/>
                </a:solidFill>
                <a:latin typeface="Malgun Gothic"/>
                <a:ea typeface="Malgun Gothic"/>
                <a:cs typeface="Malgun Gothic"/>
              </a:rPr>
              <a:t>배포 진입 장벽 완화</a:t>
            </a:r>
            <a:endParaRPr sz="1350"/>
          </a:p>
        </p:txBody>
      </p:sp>
      <p:sp>
        <p:nvSpPr>
          <p:cNvPr id="10" name="Text 7">
            <a:extLst>
              <a:ext uri="{FF2B5EF4-FFF2-40B4-BE49-F238E27FC236}">
                <a16:creationId xmlns:a16="http://schemas.microsoft.com/office/drawing/2014/main" id="{310B2995-3310-4D9C-BF12-1AF4CB064DD3}"/>
              </a:ext>
            </a:extLst>
          </p:cNvPr>
          <p:cNvSpPr>
            <a:spLocks noGrp="1"/>
          </p:cNvSpPr>
          <p:nvPr/>
        </p:nvSpPr>
        <p:spPr>
          <a:xfrm>
            <a:off x="640080" y="3291840"/>
            <a:ext cx="2240280" cy="685800"/>
          </a:xfrm>
          <a:prstGeom prst="rect">
            <a:avLst/>
          </a:prstGeom>
          <a:noFill/>
        </p:spPr>
        <p:txBody>
          <a:bodyPr wrap="square" lIns="0" tIns="0" rIns="0" bIns="0" anchor="t"/>
          <a:lstStyle/>
          <a:p>
            <a:pPr marL="0" indent="0">
              <a:buNone/>
            </a:pPr>
            <a:r>
              <a:rPr sz="1000">
                <a:solidFill>
                  <a:srgbClr val="444444"/>
                </a:solidFill>
                <a:latin typeface="Malgun Gothic"/>
                <a:ea typeface="Malgun Gothic"/>
                <a:cs typeface="Malgun Gothic"/>
              </a:rPr>
              <a:t>설계 선택부터 빌드·배포까지</a:t>
            </a:r>
            <a:endParaRPr sz="1000"/>
          </a:p>
          <a:p>
            <a:pPr marL="0" indent="0">
              <a:buNone/>
            </a:pPr>
            <a:r>
              <a:rPr sz="1000">
                <a:solidFill>
                  <a:srgbClr val="444444"/>
                </a:solidFill>
                <a:latin typeface="Malgun Gothic"/>
                <a:ea typeface="Malgun Gothic"/>
                <a:cs typeface="Malgun Gothic"/>
              </a:rPr>
              <a:t>한 흐름으로 안내해</a:t>
            </a:r>
            <a:endParaRPr sz="1000"/>
          </a:p>
          <a:p>
            <a:pPr marL="0" indent="0">
              <a:buNone/>
            </a:pPr>
            <a:r>
              <a:rPr sz="1000">
                <a:solidFill>
                  <a:srgbClr val="444444"/>
                </a:solidFill>
                <a:latin typeface="Malgun Gothic"/>
                <a:ea typeface="Malgun Gothic"/>
                <a:cs typeface="Malgun Gothic"/>
              </a:rPr>
              <a:t>초기 설정 부담을 줄임</a:t>
            </a:r>
            <a:endParaRPr sz="1000"/>
          </a:p>
        </p:txBody>
      </p:sp>
      <p:sp>
        <p:nvSpPr>
          <p:cNvPr id="11" name="Shape 8">
            <a:extLst>
              <a:ext uri="{FF2B5EF4-FFF2-40B4-BE49-F238E27FC236}">
                <a16:creationId xmlns:a16="http://schemas.microsoft.com/office/drawing/2014/main" id="{F74F5907-DEA5-4EDE-8805-888FE808D723}"/>
              </a:ext>
            </a:extLst>
          </p:cNvPr>
          <p:cNvSpPr>
            <a:spLocks noGrp="1"/>
          </p:cNvSpPr>
          <p:nvPr/>
        </p:nvSpPr>
        <p:spPr>
          <a:xfrm>
            <a:off x="640080" y="4041648"/>
            <a:ext cx="2212848" cy="347472"/>
          </a:xfrm>
          <a:prstGeom prst="roundRect">
            <a:avLst>
              <a:gd name="adj" fmla="val 50000"/>
            </a:avLst>
          </a:prstGeom>
          <a:solidFill>
            <a:srgbClr val="E6F0FB"/>
          </a:solidFill>
        </p:spPr>
        <p:txBody>
          <a:bodyPr/>
          <a:lstStyle/>
          <a:p>
            <a:endParaRPr/>
          </a:p>
        </p:txBody>
      </p:sp>
      <p:sp>
        <p:nvSpPr>
          <p:cNvPr id="12" name="Text 9">
            <a:extLst>
              <a:ext uri="{FF2B5EF4-FFF2-40B4-BE49-F238E27FC236}">
                <a16:creationId xmlns:a16="http://schemas.microsoft.com/office/drawing/2014/main" id="{2FD776AF-AB68-4B5E-A1BF-61BAF7A931B3}"/>
              </a:ext>
            </a:extLst>
          </p:cNvPr>
          <p:cNvSpPr>
            <a:spLocks noGrp="1"/>
          </p:cNvSpPr>
          <p:nvPr/>
        </p:nvSpPr>
        <p:spPr>
          <a:xfrm>
            <a:off x="640080" y="4041648"/>
            <a:ext cx="2212848" cy="347472"/>
          </a:xfrm>
          <a:prstGeom prst="rect">
            <a:avLst/>
          </a:prstGeom>
          <a:noFill/>
        </p:spPr>
        <p:txBody>
          <a:bodyPr wrap="square" lIns="0" tIns="0" rIns="0" bIns="0" anchor="ctr"/>
          <a:lstStyle>
            <a:defPPr>
              <a:defRPr>
                <a:solidFill>
                  <a:srgbClr val="000000"/>
                </a:solidFill>
              </a:defRPr>
            </a:defPPr>
          </a:lstStyle>
          <a:p>
            <a:pPr marL="0" indent="0" algn="ctr">
              <a:buNone/>
            </a:pPr>
            <a:r>
              <a:rPr sz="1000" b="1">
                <a:solidFill>
                  <a:srgbClr val="000000"/>
                </a:solidFill>
                <a:latin typeface="Malgun Gothic"/>
                <a:ea typeface="Malgun Gothic"/>
                <a:cs typeface="Malgun Gothic"/>
              </a:rPr>
              <a:t>설정과 도구 전환 부담 완화</a:t>
            </a:r>
            <a:endParaRPr sz="1000"/>
          </a:p>
        </p:txBody>
      </p:sp>
      <p:sp>
        <p:nvSpPr>
          <p:cNvPr id="13" name="Shape 10">
            <a:extLst>
              <a:ext uri="{FF2B5EF4-FFF2-40B4-BE49-F238E27FC236}">
                <a16:creationId xmlns:a16="http://schemas.microsoft.com/office/drawing/2014/main" id="{B731FBED-2098-4807-8F8A-0C4732837C47}"/>
              </a:ext>
            </a:extLst>
          </p:cNvPr>
          <p:cNvSpPr>
            <a:spLocks noGrp="1"/>
          </p:cNvSpPr>
          <p:nvPr/>
        </p:nvSpPr>
        <p:spPr>
          <a:xfrm>
            <a:off x="3227832" y="1828800"/>
            <a:ext cx="2670048" cy="2743200"/>
          </a:xfrm>
          <a:prstGeom prst="roundRect">
            <a:avLst>
              <a:gd name="adj" fmla="val 4110"/>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14" name="Shape 11">
            <a:extLst>
              <a:ext uri="{FF2B5EF4-FFF2-40B4-BE49-F238E27FC236}">
                <a16:creationId xmlns:a16="http://schemas.microsoft.com/office/drawing/2014/main" id="{228FD908-96BE-46BC-AC01-BE9BD31C4B76}"/>
              </a:ext>
            </a:extLst>
          </p:cNvPr>
          <p:cNvSpPr>
            <a:spLocks noGrp="1"/>
          </p:cNvSpPr>
          <p:nvPr/>
        </p:nvSpPr>
        <p:spPr>
          <a:xfrm>
            <a:off x="3456432" y="2057400"/>
            <a:ext cx="731520" cy="731520"/>
          </a:xfrm>
          <a:prstGeom prst="ellipse">
            <a:avLst/>
          </a:prstGeom>
          <a:solidFill>
            <a:srgbClr val="E6F0FB"/>
          </a:solidFill>
        </p:spPr>
        <p:txBody>
          <a:bodyPr/>
          <a:lstStyle/>
          <a:p>
            <a:endParaRPr/>
          </a:p>
        </p:txBody>
      </p:sp>
      <p:pic>
        <p:nvPicPr>
          <p:cNvPr id="15" name="Image 1">
            <a:extLst>
              <a:ext uri="{FF2B5EF4-FFF2-40B4-BE49-F238E27FC236}">
                <a16:creationId xmlns:a16="http://schemas.microsoft.com/office/drawing/2014/main" id="{6D847F97-6A4F-40E3-883D-B369E639C273}"/>
              </a:ext>
            </a:extLst>
          </p:cNvPr>
          <p:cNvPicPr>
            <a:picLocks noChangeAspect="1"/>
          </p:cNvPicPr>
          <p:nvPr/>
        </p:nvPicPr>
        <p:blipFill>
          <a:blip r:embed="rId4"/>
          <a:stretch>
            <a:fillRect/>
          </a:stretch>
        </p:blipFill>
        <p:spPr>
          <a:xfrm>
            <a:off x="3617366" y="2218334"/>
            <a:ext cx="409651" cy="409651"/>
          </a:xfrm>
          <a:prstGeom prst="rect">
            <a:avLst/>
          </a:prstGeom>
        </p:spPr>
      </p:pic>
      <p:sp>
        <p:nvSpPr>
          <p:cNvPr id="16" name="Text 12">
            <a:extLst>
              <a:ext uri="{FF2B5EF4-FFF2-40B4-BE49-F238E27FC236}">
                <a16:creationId xmlns:a16="http://schemas.microsoft.com/office/drawing/2014/main" id="{44AAB18E-D8DE-4592-B70C-83AC52BC16A0}"/>
              </a:ext>
            </a:extLst>
          </p:cNvPr>
          <p:cNvSpPr>
            <a:spLocks noGrp="1"/>
          </p:cNvSpPr>
          <p:nvPr/>
        </p:nvSpPr>
        <p:spPr>
          <a:xfrm>
            <a:off x="3456432" y="2926080"/>
            <a:ext cx="2286000" cy="320040"/>
          </a:xfrm>
          <a:prstGeom prst="rect">
            <a:avLst/>
          </a:prstGeom>
          <a:noFill/>
        </p:spPr>
        <p:txBody>
          <a:bodyPr wrap="square" lIns="0" tIns="0" rIns="0" bIns="0" anchor="t"/>
          <a:lstStyle>
            <a:defPPr>
              <a:defRPr>
                <a:solidFill>
                  <a:srgbClr val="000000"/>
                </a:solidFill>
              </a:defRPr>
            </a:defPPr>
          </a:lstStyle>
          <a:p>
            <a:pPr marL="0" indent="0">
              <a:buNone/>
              <a:defRPr>
                <a:solidFill>
                  <a:srgbClr val="000000"/>
                </a:solidFill>
              </a:defRPr>
            </a:pPr>
            <a:r>
              <a:rPr sz="1350" b="1">
                <a:solidFill>
                  <a:srgbClr val="000000"/>
                </a:solidFill>
                <a:latin typeface="Malgun Gothic"/>
                <a:ea typeface="Malgun Gothic"/>
                <a:cs typeface="Malgun Gothic"/>
              </a:rPr>
              <a:t>보안 점검 누락 감소</a:t>
            </a:r>
            <a:endParaRPr sz="1350"/>
          </a:p>
        </p:txBody>
      </p:sp>
      <p:sp>
        <p:nvSpPr>
          <p:cNvPr id="17" name="Text 13">
            <a:extLst>
              <a:ext uri="{FF2B5EF4-FFF2-40B4-BE49-F238E27FC236}">
                <a16:creationId xmlns:a16="http://schemas.microsoft.com/office/drawing/2014/main" id="{19D3100A-14C9-45DF-9939-43D4415DFBEE}"/>
              </a:ext>
            </a:extLst>
          </p:cNvPr>
          <p:cNvSpPr>
            <a:spLocks noGrp="1"/>
          </p:cNvSpPr>
          <p:nvPr/>
        </p:nvSpPr>
        <p:spPr>
          <a:xfrm>
            <a:off x="3456432" y="3291840"/>
            <a:ext cx="2240280" cy="685800"/>
          </a:xfrm>
          <a:prstGeom prst="rect">
            <a:avLst/>
          </a:prstGeom>
          <a:noFill/>
        </p:spPr>
        <p:txBody>
          <a:bodyPr wrap="square" lIns="0" tIns="0" rIns="0" bIns="0" anchor="t"/>
          <a:lstStyle/>
          <a:p>
            <a:pPr marL="0" indent="0">
              <a:buNone/>
            </a:pPr>
            <a:r>
              <a:rPr sz="1000">
                <a:solidFill>
                  <a:srgbClr val="444444"/>
                </a:solidFill>
                <a:latin typeface="Malgun Gothic"/>
                <a:ea typeface="Malgun Gothic"/>
                <a:cs typeface="Malgun Gothic"/>
              </a:rPr>
              <a:t>배포 전 검사를 같은 흐름에 넣고</a:t>
            </a:r>
            <a:endParaRPr sz="1000"/>
          </a:p>
          <a:p>
            <a:pPr marL="0" indent="0">
              <a:buNone/>
            </a:pPr>
            <a:r>
              <a:rPr sz="1000">
                <a:solidFill>
                  <a:srgbClr val="444444"/>
                </a:solidFill>
                <a:latin typeface="Malgun Gothic"/>
                <a:ea typeface="Malgun Gothic"/>
                <a:cs typeface="Malgun Gothic"/>
              </a:rPr>
              <a:t>문제 수정 후 재검사해</a:t>
            </a:r>
            <a:endParaRPr sz="1000"/>
          </a:p>
          <a:p>
            <a:pPr marL="0" indent="0">
              <a:buNone/>
            </a:pPr>
            <a:r>
              <a:rPr sz="1000">
                <a:solidFill>
                  <a:srgbClr val="444444"/>
                </a:solidFill>
                <a:latin typeface="Malgun Gothic"/>
                <a:ea typeface="Malgun Gothic"/>
                <a:cs typeface="Malgun Gothic"/>
              </a:rPr>
              <a:t>반복 작업의 누락을 줄임</a:t>
            </a:r>
            <a:endParaRPr sz="1000"/>
          </a:p>
        </p:txBody>
      </p:sp>
      <p:sp>
        <p:nvSpPr>
          <p:cNvPr id="18" name="Shape 14">
            <a:extLst>
              <a:ext uri="{FF2B5EF4-FFF2-40B4-BE49-F238E27FC236}">
                <a16:creationId xmlns:a16="http://schemas.microsoft.com/office/drawing/2014/main" id="{01AD51D4-D7D7-46C8-B1CB-BC4F7EE426DA}"/>
              </a:ext>
            </a:extLst>
          </p:cNvPr>
          <p:cNvSpPr>
            <a:spLocks noGrp="1"/>
          </p:cNvSpPr>
          <p:nvPr/>
        </p:nvSpPr>
        <p:spPr>
          <a:xfrm>
            <a:off x="3456432" y="4041648"/>
            <a:ext cx="2212848" cy="347472"/>
          </a:xfrm>
          <a:prstGeom prst="roundRect">
            <a:avLst>
              <a:gd name="adj" fmla="val 50000"/>
            </a:avLst>
          </a:prstGeom>
          <a:solidFill>
            <a:srgbClr val="E6F0FB"/>
          </a:solidFill>
        </p:spPr>
        <p:txBody>
          <a:bodyPr/>
          <a:lstStyle/>
          <a:p>
            <a:endParaRPr/>
          </a:p>
        </p:txBody>
      </p:sp>
      <p:sp>
        <p:nvSpPr>
          <p:cNvPr id="19" name="Text 15">
            <a:extLst>
              <a:ext uri="{FF2B5EF4-FFF2-40B4-BE49-F238E27FC236}">
                <a16:creationId xmlns:a16="http://schemas.microsoft.com/office/drawing/2014/main" id="{1FF85D3A-99E0-42E9-9B9E-BD48D69392F2}"/>
              </a:ext>
            </a:extLst>
          </p:cNvPr>
          <p:cNvSpPr>
            <a:spLocks noGrp="1"/>
          </p:cNvSpPr>
          <p:nvPr/>
        </p:nvSpPr>
        <p:spPr>
          <a:xfrm>
            <a:off x="3456432" y="4041648"/>
            <a:ext cx="2212848" cy="347472"/>
          </a:xfrm>
          <a:prstGeom prst="rect">
            <a:avLst/>
          </a:prstGeom>
          <a:noFill/>
        </p:spPr>
        <p:txBody>
          <a:bodyPr wrap="square" lIns="0" tIns="0" rIns="0" bIns="0" anchor="ctr"/>
          <a:lstStyle>
            <a:defPPr>
              <a:defRPr>
                <a:solidFill>
                  <a:srgbClr val="000000"/>
                </a:solidFill>
              </a:defRPr>
            </a:defPPr>
          </a:lstStyle>
          <a:p>
            <a:pPr marL="0" indent="0" algn="ctr">
              <a:buNone/>
            </a:pPr>
            <a:r>
              <a:rPr sz="1000" b="1">
                <a:solidFill>
                  <a:srgbClr val="000000"/>
                </a:solidFill>
                <a:latin typeface="Malgun Gothic"/>
                <a:ea typeface="Malgun Gothic"/>
                <a:cs typeface="Malgun Gothic"/>
              </a:rPr>
              <a:t>검사와 재검증의 일상화</a:t>
            </a:r>
            <a:endParaRPr sz="1000"/>
          </a:p>
        </p:txBody>
      </p:sp>
      <p:sp>
        <p:nvSpPr>
          <p:cNvPr id="20" name="Shape 16">
            <a:extLst>
              <a:ext uri="{FF2B5EF4-FFF2-40B4-BE49-F238E27FC236}">
                <a16:creationId xmlns:a16="http://schemas.microsoft.com/office/drawing/2014/main" id="{0853C310-DDDA-4EF1-89BD-F1FB15DC0B9B}"/>
              </a:ext>
            </a:extLst>
          </p:cNvPr>
          <p:cNvSpPr>
            <a:spLocks noGrp="1"/>
          </p:cNvSpPr>
          <p:nvPr/>
        </p:nvSpPr>
        <p:spPr>
          <a:xfrm>
            <a:off x="6044184" y="1828800"/>
            <a:ext cx="2670048" cy="2743200"/>
          </a:xfrm>
          <a:prstGeom prst="roundRect">
            <a:avLst>
              <a:gd name="adj" fmla="val 4110"/>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21" name="Shape 17">
            <a:extLst>
              <a:ext uri="{FF2B5EF4-FFF2-40B4-BE49-F238E27FC236}">
                <a16:creationId xmlns:a16="http://schemas.microsoft.com/office/drawing/2014/main" id="{39BBDCBA-5656-4F07-998B-1DE1F263DED9}"/>
              </a:ext>
            </a:extLst>
          </p:cNvPr>
          <p:cNvSpPr>
            <a:spLocks noGrp="1"/>
          </p:cNvSpPr>
          <p:nvPr/>
        </p:nvSpPr>
        <p:spPr>
          <a:xfrm>
            <a:off x="6272784" y="2057400"/>
            <a:ext cx="731520" cy="731520"/>
          </a:xfrm>
          <a:prstGeom prst="ellipse">
            <a:avLst/>
          </a:prstGeom>
          <a:solidFill>
            <a:srgbClr val="E6F0FB"/>
          </a:solidFill>
        </p:spPr>
        <p:txBody>
          <a:bodyPr/>
          <a:lstStyle/>
          <a:p>
            <a:endParaRPr/>
          </a:p>
        </p:txBody>
      </p:sp>
      <p:pic>
        <p:nvPicPr>
          <p:cNvPr id="22" name="Image 2">
            <a:extLst>
              <a:ext uri="{FF2B5EF4-FFF2-40B4-BE49-F238E27FC236}">
                <a16:creationId xmlns:a16="http://schemas.microsoft.com/office/drawing/2014/main" id="{4D571489-6257-4127-A2EE-D2FBC0F685F0}"/>
              </a:ext>
            </a:extLst>
          </p:cNvPr>
          <p:cNvPicPr>
            <a:picLocks noChangeAspect="1"/>
          </p:cNvPicPr>
          <p:nvPr/>
        </p:nvPicPr>
        <p:blipFill>
          <a:blip r:embed="rId5"/>
          <a:stretch>
            <a:fillRect/>
          </a:stretch>
        </p:blipFill>
        <p:spPr>
          <a:xfrm>
            <a:off x="6433718" y="2218334"/>
            <a:ext cx="409651" cy="409651"/>
          </a:xfrm>
          <a:prstGeom prst="rect">
            <a:avLst/>
          </a:prstGeom>
        </p:spPr>
      </p:pic>
      <p:sp>
        <p:nvSpPr>
          <p:cNvPr id="23" name="Text 18">
            <a:extLst>
              <a:ext uri="{FF2B5EF4-FFF2-40B4-BE49-F238E27FC236}">
                <a16:creationId xmlns:a16="http://schemas.microsoft.com/office/drawing/2014/main" id="{BF6FE106-D74A-430A-B5A4-252637E01EEF}"/>
              </a:ext>
            </a:extLst>
          </p:cNvPr>
          <p:cNvSpPr>
            <a:spLocks noGrp="1"/>
          </p:cNvSpPr>
          <p:nvPr/>
        </p:nvSpPr>
        <p:spPr>
          <a:xfrm>
            <a:off x="6272784" y="2926080"/>
            <a:ext cx="2286000" cy="320040"/>
          </a:xfrm>
          <a:prstGeom prst="rect">
            <a:avLst/>
          </a:prstGeom>
          <a:noFill/>
        </p:spPr>
        <p:txBody>
          <a:bodyPr wrap="square" lIns="0" tIns="0" rIns="0" bIns="0" anchor="t"/>
          <a:lstStyle>
            <a:defPPr>
              <a:defRPr sz="1275">
                <a:solidFill>
                  <a:srgbClr val="000000"/>
                </a:solidFill>
              </a:defRPr>
            </a:defPPr>
          </a:lstStyle>
          <a:p>
            <a:pPr marL="0" indent="0">
              <a:buNone/>
              <a:defRPr sz="1275">
                <a:solidFill>
                  <a:srgbClr val="000000"/>
                </a:solidFill>
              </a:defRPr>
            </a:pPr>
            <a:r>
              <a:rPr sz="1275" b="1">
                <a:solidFill>
                  <a:srgbClr val="000000"/>
                </a:solidFill>
                <a:latin typeface="Malgun Gothic"/>
                <a:ea typeface="Malgun Gothic"/>
                <a:cs typeface="Malgun Gothic"/>
              </a:rPr>
              <a:t>AI 결과 검증 역량 강화</a:t>
            </a:r>
            <a:endParaRPr sz="1350"/>
          </a:p>
        </p:txBody>
      </p:sp>
      <p:sp>
        <p:nvSpPr>
          <p:cNvPr id="24" name="Text 19">
            <a:extLst>
              <a:ext uri="{FF2B5EF4-FFF2-40B4-BE49-F238E27FC236}">
                <a16:creationId xmlns:a16="http://schemas.microsoft.com/office/drawing/2014/main" id="{D78FA138-1282-4D74-A3C6-ADFD3798E15E}"/>
              </a:ext>
            </a:extLst>
          </p:cNvPr>
          <p:cNvSpPr>
            <a:spLocks noGrp="1"/>
          </p:cNvSpPr>
          <p:nvPr/>
        </p:nvSpPr>
        <p:spPr>
          <a:xfrm>
            <a:off x="6272784" y="3291840"/>
            <a:ext cx="2240280" cy="685800"/>
          </a:xfrm>
          <a:prstGeom prst="rect">
            <a:avLst/>
          </a:prstGeom>
          <a:noFill/>
        </p:spPr>
        <p:txBody>
          <a:bodyPr wrap="square" lIns="0" tIns="0" rIns="0" bIns="0" anchor="t"/>
          <a:lstStyle/>
          <a:p>
            <a:pPr marL="0" indent="0">
              <a:buNone/>
            </a:pPr>
            <a:r>
              <a:rPr sz="1000">
                <a:solidFill>
                  <a:srgbClr val="444444"/>
                </a:solidFill>
                <a:latin typeface="Malgun Gothic"/>
                <a:ea typeface="Malgun Gothic"/>
                <a:cs typeface="Malgun Gothic"/>
              </a:rPr>
              <a:t>설계 근거를 ADR로 남기고</a:t>
            </a:r>
            <a:endParaRPr sz="1000"/>
          </a:p>
          <a:p>
            <a:pPr marL="0" indent="0">
              <a:buNone/>
            </a:pPr>
            <a:r>
              <a:rPr sz="1000">
                <a:solidFill>
                  <a:srgbClr val="444444"/>
                </a:solidFill>
                <a:latin typeface="Malgun Gothic"/>
                <a:ea typeface="Malgun Gothic"/>
                <a:cs typeface="Malgun Gothic"/>
              </a:rPr>
              <a:t>diff·검사 결과를 확인하며</a:t>
            </a:r>
            <a:endParaRPr sz="1000"/>
          </a:p>
          <a:p>
            <a:pPr marL="0" indent="0">
              <a:buNone/>
            </a:pPr>
            <a:r>
              <a:rPr sz="1000">
                <a:solidFill>
                  <a:srgbClr val="444444"/>
                </a:solidFill>
                <a:latin typeface="Malgun Gothic"/>
                <a:ea typeface="Malgun Gothic"/>
                <a:cs typeface="Malgun Gothic"/>
              </a:rPr>
              <a:t>AI 산출물을 검토하는 경험 제공</a:t>
            </a:r>
            <a:endParaRPr sz="1000"/>
          </a:p>
        </p:txBody>
      </p:sp>
      <p:sp>
        <p:nvSpPr>
          <p:cNvPr id="25" name="Shape 20">
            <a:extLst>
              <a:ext uri="{FF2B5EF4-FFF2-40B4-BE49-F238E27FC236}">
                <a16:creationId xmlns:a16="http://schemas.microsoft.com/office/drawing/2014/main" id="{55139DF6-078F-4669-9CB3-7050FDD35D5E}"/>
              </a:ext>
            </a:extLst>
          </p:cNvPr>
          <p:cNvSpPr>
            <a:spLocks noGrp="1"/>
          </p:cNvSpPr>
          <p:nvPr/>
        </p:nvSpPr>
        <p:spPr>
          <a:xfrm>
            <a:off x="6272784" y="4041648"/>
            <a:ext cx="2212848" cy="347472"/>
          </a:xfrm>
          <a:prstGeom prst="roundRect">
            <a:avLst>
              <a:gd name="adj" fmla="val 50000"/>
            </a:avLst>
          </a:prstGeom>
          <a:solidFill>
            <a:srgbClr val="E6F0FB"/>
          </a:solidFill>
        </p:spPr>
        <p:txBody>
          <a:bodyPr/>
          <a:lstStyle/>
          <a:p>
            <a:endParaRPr/>
          </a:p>
        </p:txBody>
      </p:sp>
      <p:sp>
        <p:nvSpPr>
          <p:cNvPr id="26" name="Text 21">
            <a:extLst>
              <a:ext uri="{FF2B5EF4-FFF2-40B4-BE49-F238E27FC236}">
                <a16:creationId xmlns:a16="http://schemas.microsoft.com/office/drawing/2014/main" id="{DC8D6CB4-1761-4340-84AE-31622CA3D3E4}"/>
              </a:ext>
            </a:extLst>
          </p:cNvPr>
          <p:cNvSpPr>
            <a:spLocks noGrp="1"/>
          </p:cNvSpPr>
          <p:nvPr/>
        </p:nvSpPr>
        <p:spPr>
          <a:xfrm>
            <a:off x="6272784" y="4041648"/>
            <a:ext cx="2212848" cy="347472"/>
          </a:xfrm>
          <a:prstGeom prst="rect">
            <a:avLst/>
          </a:prstGeom>
          <a:noFill/>
        </p:spPr>
        <p:txBody>
          <a:bodyPr wrap="square" lIns="0" tIns="0" rIns="0" bIns="0" anchor="ctr"/>
          <a:lstStyle>
            <a:defPPr>
              <a:defRPr>
                <a:solidFill>
                  <a:srgbClr val="000000"/>
                </a:solidFill>
              </a:defRPr>
            </a:defPPr>
          </a:lstStyle>
          <a:p>
            <a:pPr marL="0" indent="0" algn="ctr">
              <a:buNone/>
            </a:pPr>
            <a:r>
              <a:rPr sz="1000" b="1">
                <a:solidFill>
                  <a:srgbClr val="000000"/>
                </a:solidFill>
                <a:latin typeface="Malgun Gothic"/>
                <a:ea typeface="Malgun Gothic"/>
                <a:cs typeface="Malgun Gothic"/>
              </a:rPr>
              <a:t>설계 판단과 검증 경험 축적</a:t>
            </a:r>
            <a:endParaRPr sz="1000"/>
          </a:p>
        </p:txBody>
      </p:sp>
      <p:sp>
        <p:nvSpPr>
          <p:cNvPr id="27" name="Slide Number Placeholder 0">
            <a:extLst>
              <a:ext uri="{FF2B5EF4-FFF2-40B4-BE49-F238E27FC236}">
                <a16:creationId xmlns:a16="http://schemas.microsoft.com/office/drawing/2014/main" id="{DEAA1A25-CC4B-4BEA-8559-44C8B3DCCBBA}"/>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F3AE1AE4-D79E-94D6-E825-3FC6C21A77D2}" type="slidenum">
              <a:rPr sz="900" b="1">
                <a:solidFill>
                  <a:srgbClr val="2B7FD4"/>
                </a:solidFill>
                <a:latin typeface="Malgun Gothic"/>
                <a:ea typeface="Malgun Gothic"/>
                <a:cs typeface="Malgun Gothic"/>
              </a:rPr>
              <a:t>24</a:t>
            </a:fld>
            <a:endParaRPr/>
          </a:p>
        </p:txBody>
      </p:sp>
    </p:spTree>
    <p:extLst>
      <p:ext uri="{BB962C8B-B14F-4D97-AF65-F5344CB8AC3E}">
        <p14:creationId xmlns:p14="http://schemas.microsoft.com/office/powerpoint/2010/main" val="1098523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014431F-5ED9-4382-9DBB-55ECA0EAE44A}"/>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lgn="l">
              <a:defRPr sz="2000" b="1">
                <a:solidFill>
                  <a:srgbClr val="000000"/>
                </a:solidFill>
                <a:latin typeface="Malgun Gothic"/>
                <a:ea typeface="Malgun Gothic"/>
                <a:cs typeface="Malgun Gothic"/>
              </a:defRPr>
            </a:defPPr>
          </a:lstStyle>
          <a:p>
            <a:pPr marL="0" indent="0" algn="l">
              <a:buNone/>
              <a:defRPr sz="2000" b="1">
                <a:solidFill>
                  <a:srgbClr val="000000"/>
                </a:solidFill>
                <a:latin typeface="Malgun Gothic"/>
                <a:ea typeface="Malgun Gothic"/>
                <a:cs typeface="Malgun Gothic"/>
              </a:defRPr>
            </a:pP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확장</a:t>
            </a:r>
            <a:r>
              <a:rPr sz="2000" b="1" dirty="0">
                <a:solidFill>
                  <a:srgbClr val="000000"/>
                </a:solidFill>
                <a:latin typeface="Malgun Gothic"/>
                <a:ea typeface="Malgun Gothic"/>
                <a:cs typeface="Malgun Gothic"/>
              </a:rPr>
              <a:t> </a:t>
            </a:r>
            <a:r>
              <a:rPr sz="2000" b="1" dirty="0" err="1">
                <a:solidFill>
                  <a:srgbClr val="000000"/>
                </a:solidFill>
                <a:latin typeface="Malgun Gothic"/>
                <a:ea typeface="Malgun Gothic"/>
                <a:cs typeface="Malgun Gothic"/>
              </a:rPr>
              <a:t>방향</a:t>
            </a:r>
            <a:endParaRPr sz="2000" dirty="0">
              <a:solidFill>
                <a:schemeClr val="tx1"/>
              </a:solidFill>
            </a:endParaRPr>
          </a:p>
        </p:txBody>
      </p:sp>
      <p:sp>
        <p:nvSpPr>
          <p:cNvPr id="3" name="Text 0">
            <a:extLst>
              <a:ext uri="{FF2B5EF4-FFF2-40B4-BE49-F238E27FC236}">
                <a16:creationId xmlns:a16="http://schemas.microsoft.com/office/drawing/2014/main" id="{29D9CF30-A107-4A8D-ADD3-E9C2484D1747}"/>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04 기대 효과</a:t>
            </a:r>
            <a:endParaRPr sz="1000"/>
          </a:p>
        </p:txBody>
      </p:sp>
      <p:sp>
        <p:nvSpPr>
          <p:cNvPr id="34" name="Panel"/>
          <p:cNvSpPr/>
          <p:nvPr/>
        </p:nvSpPr>
        <p:spPr>
          <a:xfrm>
            <a:off x="320040" y="1143000"/>
            <a:ext cx="8503920" cy="3474720"/>
          </a:xfrm>
          <a:prstGeom prst="roundRect">
            <a:avLst>
              <a:gd name="adj" fmla="val 3000"/>
            </a:avLst>
          </a:prstGeom>
          <a:solidFill>
            <a:srgbClr val="FFFFFF">
              <a:alpha val="90000"/>
            </a:srgbClr>
          </a:solidFill>
          <a:ln>
            <a:noFill/>
          </a:ln>
          <a:effectLst>
            <a:outerShdw blurRad="127000" dist="25400" dir="5400000" algn="bl" rotWithShape="0">
              <a:srgbClr val="000000">
                <a:alpha val="10000"/>
              </a:srgbClr>
            </a:outerShdw>
          </a:effectLst>
        </p:spPr>
        <p:txBody>
          <a:bodyPr rtlCol="0" anchor="ctr"/>
          <a:lstStyle/>
          <a:p>
            <a:pPr algn="ctr"/>
            <a:endParaRPr/>
          </a:p>
        </p:txBody>
      </p:sp>
      <p:sp>
        <p:nvSpPr>
          <p:cNvPr id="35" name="Head Limit"/>
          <p:cNvSpPr txBox="1"/>
          <p:nvPr/>
        </p:nvSpPr>
        <p:spPr>
          <a:xfrm>
            <a:off x="640080" y="1325880"/>
            <a:ext cx="2743200" cy="153888"/>
          </a:xfrm>
          <a:prstGeom prst="rect">
            <a:avLst/>
          </a:prstGeom>
          <a:noFill/>
        </p:spPr>
        <p:txBody>
          <a:bodyPr wrap="square" lIns="0" tIns="0" rIns="0" bIns="0" anchor="t">
            <a:spAutoFit/>
          </a:bodyPr>
          <a:lstStyle/>
          <a:p>
            <a:pPr algn="l"/>
            <a:r>
              <a:rPr lang="ko-KR" altLang="en-US" sz="1000" b="1" dirty="0">
                <a:solidFill>
                  <a:srgbClr val="6B7685"/>
                </a:solidFill>
                <a:latin typeface="Malgun Gothic"/>
                <a:ea typeface="Malgun Gothic"/>
                <a:cs typeface="Malgun Gothic"/>
              </a:rPr>
              <a:t>현재</a:t>
            </a:r>
            <a:endParaRPr sz="1000" b="1" dirty="0">
              <a:solidFill>
                <a:srgbClr val="6B7685"/>
              </a:solidFill>
              <a:latin typeface="Malgun Gothic"/>
              <a:ea typeface="Malgun Gothic"/>
              <a:cs typeface="Malgun Gothic"/>
            </a:endParaRPr>
          </a:p>
        </p:txBody>
      </p:sp>
      <p:sp>
        <p:nvSpPr>
          <p:cNvPr id="36" name="Head Number"/>
          <p:cNvSpPr txBox="1"/>
          <p:nvPr/>
        </p:nvSpPr>
        <p:spPr>
          <a:xfrm>
            <a:off x="3767328" y="1325880"/>
            <a:ext cx="1828800" cy="219456"/>
          </a:xfrm>
          <a:prstGeom prst="rect">
            <a:avLst/>
          </a:prstGeom>
          <a:noFill/>
        </p:spPr>
        <p:txBody>
          <a:bodyPr wrap="square" lIns="0" tIns="0" rIns="0" bIns="0" anchor="t">
            <a:spAutoFit/>
          </a:bodyPr>
          <a:lstStyle/>
          <a:p>
            <a:pPr algn="l"/>
            <a:r>
              <a:rPr sz="1000" b="1">
                <a:solidFill>
                  <a:srgbClr val="6B7685"/>
                </a:solidFill>
                <a:latin typeface="Malgun Gothic"/>
                <a:ea typeface="Malgun Gothic"/>
                <a:cs typeface="Malgun Gothic"/>
              </a:rPr>
              <a:t>검증 근거</a:t>
            </a:r>
          </a:p>
        </p:txBody>
      </p:sp>
      <p:sp>
        <p:nvSpPr>
          <p:cNvPr id="37" name="Head Plan"/>
          <p:cNvSpPr txBox="1"/>
          <p:nvPr/>
        </p:nvSpPr>
        <p:spPr>
          <a:xfrm>
            <a:off x="5760720" y="1325880"/>
            <a:ext cx="2834640" cy="219456"/>
          </a:xfrm>
          <a:prstGeom prst="rect">
            <a:avLst/>
          </a:prstGeom>
          <a:noFill/>
        </p:spPr>
        <p:txBody>
          <a:bodyPr wrap="square" lIns="0" tIns="0" rIns="0" bIns="0" anchor="t">
            <a:spAutoFit/>
          </a:bodyPr>
          <a:lstStyle/>
          <a:p>
            <a:pPr algn="l"/>
            <a:r>
              <a:rPr sz="1000" b="1">
                <a:solidFill>
                  <a:srgbClr val="6B7685"/>
                </a:solidFill>
                <a:latin typeface="Malgun Gothic"/>
                <a:ea typeface="Malgun Gothic"/>
                <a:cs typeface="Malgun Gothic"/>
              </a:rPr>
              <a:t>확장 방향</a:t>
            </a:r>
          </a:p>
        </p:txBody>
      </p:sp>
      <p:cxnSp>
        <p:nvCxnSpPr>
          <p:cNvPr id="38" name="Head Rule"/>
          <p:cNvCxnSpPr/>
          <p:nvPr/>
        </p:nvCxnSpPr>
        <p:spPr>
          <a:xfrm>
            <a:off x="640080" y="1645920"/>
            <a:ext cx="7863840" cy="0"/>
          </a:xfrm>
          <a:prstGeom prst="line">
            <a:avLst/>
          </a:prstGeom>
          <a:ln w="12700">
            <a:solidFill>
              <a:srgbClr val="C9D1DC"/>
            </a:solidFill>
          </a:ln>
        </p:spPr>
      </p:cxnSp>
      <p:sp>
        <p:nvSpPr>
          <p:cNvPr id="39" name="Row 01 Index"/>
          <p:cNvSpPr txBox="1"/>
          <p:nvPr/>
        </p:nvSpPr>
        <p:spPr>
          <a:xfrm>
            <a:off x="640080" y="1645920"/>
            <a:ext cx="365760" cy="987552"/>
          </a:xfrm>
          <a:prstGeom prst="rect">
            <a:avLst/>
          </a:prstGeom>
          <a:noFill/>
        </p:spPr>
        <p:txBody>
          <a:bodyPr wrap="square" lIns="0" tIns="0" rIns="0" bIns="0" anchor="ctr">
            <a:spAutoFit/>
          </a:bodyPr>
          <a:lstStyle/>
          <a:p>
            <a:pPr algn="l"/>
            <a:r>
              <a:rPr sz="1200" b="1">
                <a:solidFill>
                  <a:srgbClr val="2B7FD4"/>
                </a:solidFill>
                <a:latin typeface="Malgun Gothic"/>
                <a:ea typeface="Malgun Gothic"/>
                <a:cs typeface="Malgun Gothic"/>
              </a:rPr>
              <a:t>01</a:t>
            </a:r>
          </a:p>
        </p:txBody>
      </p:sp>
      <p:sp>
        <p:nvSpPr>
          <p:cNvPr id="40" name="Row 01 Limit"/>
          <p:cNvSpPr txBox="1"/>
          <p:nvPr/>
        </p:nvSpPr>
        <p:spPr>
          <a:xfrm>
            <a:off x="1051560" y="1645920"/>
            <a:ext cx="2651760" cy="987552"/>
          </a:xfrm>
          <a:prstGeom prst="rect">
            <a:avLst/>
          </a:prstGeom>
          <a:noFill/>
        </p:spPr>
        <p:txBody>
          <a:bodyPr wrap="square" lIns="0" tIns="0" rIns="0" bIns="0" anchor="ctr">
            <a:spAutoFit/>
          </a:bodyPr>
          <a:lstStyle/>
          <a:p>
            <a:pPr algn="l"/>
            <a:r>
              <a:rPr sz="1350" b="1">
                <a:solidFill>
                  <a:srgbClr val="111827"/>
                </a:solidFill>
                <a:latin typeface="Malgun Gothic"/>
                <a:ea typeface="Malgun Gothic"/>
                <a:cs typeface="Malgun Gothic"/>
              </a:rPr>
              <a:t>로직 오류는 자동 검사 밖</a:t>
            </a:r>
          </a:p>
        </p:txBody>
      </p:sp>
      <p:sp>
        <p:nvSpPr>
          <p:cNvPr id="41" name="Row 01 Number"/>
          <p:cNvSpPr txBox="1"/>
          <p:nvPr/>
        </p:nvSpPr>
        <p:spPr>
          <a:xfrm>
            <a:off x="3767328" y="1645920"/>
            <a:ext cx="1920240" cy="987552"/>
          </a:xfrm>
          <a:prstGeom prst="rect">
            <a:avLst/>
          </a:prstGeom>
          <a:noFill/>
        </p:spPr>
        <p:txBody>
          <a:bodyPr wrap="square" lIns="0" tIns="0" rIns="0" bIns="0" anchor="ctr">
            <a:spAutoFit/>
          </a:bodyPr>
          <a:lstStyle/>
          <a:p>
            <a:pPr algn="l"/>
            <a:r>
              <a:rPr sz="2400" b="1">
                <a:solidFill>
                  <a:srgbClr val="111827"/>
                </a:solidFill>
                <a:latin typeface="Malgun Gothic"/>
                <a:ea typeface="Malgun Gothic"/>
                <a:cs typeface="Malgun Gothic"/>
              </a:rPr>
              <a:t>6건</a:t>
            </a:r>
          </a:p>
          <a:p>
            <a:pPr algn="l">
              <a:spcBef>
                <a:spcPts val="100"/>
              </a:spcBef>
            </a:pPr>
            <a:r>
              <a:rPr sz="950" b="0">
                <a:solidFill>
                  <a:srgbClr val="6B7685"/>
                </a:solidFill>
                <a:latin typeface="Malgun Gothic"/>
                <a:ea typeface="Malgun Gothic"/>
                <a:cs typeface="Malgun Gothic"/>
              </a:rPr>
              <a:t>로직 오류 대조군으로 확인</a:t>
            </a:r>
          </a:p>
        </p:txBody>
      </p:sp>
      <p:sp>
        <p:nvSpPr>
          <p:cNvPr id="42" name="Row 01 Plan"/>
          <p:cNvSpPr txBox="1"/>
          <p:nvPr/>
        </p:nvSpPr>
        <p:spPr>
          <a:xfrm>
            <a:off x="5760720" y="1645920"/>
            <a:ext cx="2788920" cy="987552"/>
          </a:xfrm>
          <a:prstGeom prst="rect">
            <a:avLst/>
          </a:prstGeom>
          <a:noFill/>
        </p:spPr>
        <p:txBody>
          <a:bodyPr wrap="square" lIns="0" tIns="0" rIns="0" bIns="0" anchor="ctr">
            <a:spAutoFit/>
          </a:bodyPr>
          <a:lstStyle/>
          <a:p>
            <a:pPr marL="146304" indent="-146304" algn="l">
              <a:buFont typeface="Malgun Gothic"/>
              <a:buChar char="–"/>
            </a:pPr>
            <a:r>
              <a:rPr sz="1100" b="0">
                <a:solidFill>
                  <a:srgbClr val="374151"/>
                </a:solidFill>
                <a:latin typeface="Malgun Gothic"/>
                <a:ea typeface="Malgun Gothic"/>
                <a:cs typeface="Malgun Gothic"/>
              </a:rPr>
              <a:t>기능 테스트 시나리오 자동 생성</a:t>
            </a:r>
          </a:p>
          <a:p>
            <a:pPr marL="146304" indent="-146304" algn="l">
              <a:spcBef>
                <a:spcPts val="500"/>
              </a:spcBef>
              <a:buFont typeface="Malgun Gothic"/>
              <a:buChar char="–"/>
            </a:pPr>
            <a:r>
              <a:rPr sz="1100" b="0">
                <a:solidFill>
                  <a:srgbClr val="374151"/>
                </a:solidFill>
                <a:latin typeface="Malgun Gothic"/>
                <a:ea typeface="Malgun Gothic"/>
                <a:cs typeface="Malgun Gothic"/>
              </a:rPr>
              <a:t>역할별 접근 테스트로 인가 점검</a:t>
            </a:r>
          </a:p>
        </p:txBody>
      </p:sp>
      <p:cxnSp>
        <p:nvCxnSpPr>
          <p:cNvPr id="43" name="Row Rule 1"/>
          <p:cNvCxnSpPr/>
          <p:nvPr/>
        </p:nvCxnSpPr>
        <p:spPr>
          <a:xfrm>
            <a:off x="640080" y="2633472"/>
            <a:ext cx="7863840" cy="0"/>
          </a:xfrm>
          <a:prstGeom prst="line">
            <a:avLst/>
          </a:prstGeom>
          <a:ln w="9525">
            <a:solidFill>
              <a:srgbClr val="E3E8EF"/>
            </a:solidFill>
          </a:ln>
        </p:spPr>
      </p:cxnSp>
      <p:sp>
        <p:nvSpPr>
          <p:cNvPr id="44" name="Row 02 Index"/>
          <p:cNvSpPr txBox="1"/>
          <p:nvPr/>
        </p:nvSpPr>
        <p:spPr>
          <a:xfrm>
            <a:off x="640080" y="2633472"/>
            <a:ext cx="365760" cy="987552"/>
          </a:xfrm>
          <a:prstGeom prst="rect">
            <a:avLst/>
          </a:prstGeom>
          <a:noFill/>
        </p:spPr>
        <p:txBody>
          <a:bodyPr wrap="square" lIns="0" tIns="0" rIns="0" bIns="0" anchor="ctr">
            <a:spAutoFit/>
          </a:bodyPr>
          <a:lstStyle/>
          <a:p>
            <a:pPr algn="l"/>
            <a:r>
              <a:rPr sz="1200" b="1">
                <a:solidFill>
                  <a:srgbClr val="2B7FD4"/>
                </a:solidFill>
                <a:latin typeface="Malgun Gothic"/>
                <a:ea typeface="Malgun Gothic"/>
                <a:cs typeface="Malgun Gothic"/>
              </a:rPr>
              <a:t>02</a:t>
            </a:r>
          </a:p>
        </p:txBody>
      </p:sp>
      <p:sp>
        <p:nvSpPr>
          <p:cNvPr id="45" name="Row 02 Limit"/>
          <p:cNvSpPr txBox="1"/>
          <p:nvPr/>
        </p:nvSpPr>
        <p:spPr>
          <a:xfrm>
            <a:off x="1051560" y="2633472"/>
            <a:ext cx="2651760" cy="987552"/>
          </a:xfrm>
          <a:prstGeom prst="rect">
            <a:avLst/>
          </a:prstGeom>
          <a:noFill/>
        </p:spPr>
        <p:txBody>
          <a:bodyPr wrap="square" lIns="0" tIns="0" rIns="0" bIns="0" anchor="ctr">
            <a:spAutoFit/>
          </a:bodyPr>
          <a:lstStyle/>
          <a:p>
            <a:pPr algn="l"/>
            <a:r>
              <a:rPr sz="1350" b="1">
                <a:solidFill>
                  <a:srgbClr val="111827"/>
                </a:solidFill>
                <a:latin typeface="Malgun Gothic"/>
                <a:ea typeface="Malgun Gothic"/>
                <a:cs typeface="Malgun Gothic"/>
              </a:rPr>
              <a:t>문서 기반 복구 우위 미확인</a:t>
            </a:r>
          </a:p>
        </p:txBody>
      </p:sp>
      <p:sp>
        <p:nvSpPr>
          <p:cNvPr id="46" name="Row 02 Number"/>
          <p:cNvSpPr txBox="1"/>
          <p:nvPr/>
        </p:nvSpPr>
        <p:spPr>
          <a:xfrm>
            <a:off x="3767328" y="2633472"/>
            <a:ext cx="1920240" cy="987552"/>
          </a:xfrm>
          <a:prstGeom prst="rect">
            <a:avLst/>
          </a:prstGeom>
          <a:noFill/>
        </p:spPr>
        <p:txBody>
          <a:bodyPr wrap="square" lIns="0" tIns="0" rIns="0" bIns="0" anchor="ctr">
            <a:spAutoFit/>
          </a:bodyPr>
          <a:lstStyle/>
          <a:p>
            <a:pPr algn="l"/>
            <a:r>
              <a:rPr sz="2400" b="1">
                <a:solidFill>
                  <a:srgbClr val="111827"/>
                </a:solidFill>
                <a:latin typeface="Malgun Gothic"/>
                <a:ea typeface="Malgun Gothic"/>
                <a:cs typeface="Malgun Gothic"/>
              </a:rPr>
              <a:t>144회</a:t>
            </a:r>
          </a:p>
          <a:p>
            <a:pPr algn="l">
              <a:spcBef>
                <a:spcPts val="100"/>
              </a:spcBef>
            </a:pPr>
            <a:r>
              <a:rPr sz="950" b="0">
                <a:solidFill>
                  <a:srgbClr val="6B7685"/>
                </a:solidFill>
                <a:latin typeface="Malgun Gothic"/>
                <a:ea typeface="Malgun Gothic"/>
                <a:cs typeface="Malgun Gothic"/>
              </a:rPr>
              <a:t>36개 과제 × 4조건 비교 평가</a:t>
            </a:r>
          </a:p>
          <a:p>
            <a:pPr algn="l">
              <a:spcBef>
                <a:spcPts val="100"/>
              </a:spcBef>
            </a:pPr>
            <a:r>
              <a:rPr sz="950" b="0">
                <a:solidFill>
                  <a:srgbClr val="6B7685"/>
                </a:solidFill>
                <a:latin typeface="Malgun Gothic"/>
                <a:ea typeface="Malgun Gothic"/>
                <a:cs typeface="Malgun Gothic"/>
              </a:rPr>
              <a:t>문서 기반 해결률 65.6%</a:t>
            </a:r>
          </a:p>
        </p:txBody>
      </p:sp>
      <p:sp>
        <p:nvSpPr>
          <p:cNvPr id="47" name="Row 02 Plan"/>
          <p:cNvSpPr txBox="1"/>
          <p:nvPr/>
        </p:nvSpPr>
        <p:spPr>
          <a:xfrm>
            <a:off x="5760720" y="2633472"/>
            <a:ext cx="2788920" cy="987552"/>
          </a:xfrm>
          <a:prstGeom prst="rect">
            <a:avLst/>
          </a:prstGeom>
          <a:noFill/>
        </p:spPr>
        <p:txBody>
          <a:bodyPr wrap="square" lIns="0" tIns="0" rIns="0" bIns="0" anchor="ctr">
            <a:spAutoFit/>
          </a:bodyPr>
          <a:lstStyle/>
          <a:p>
            <a:pPr marL="146304" indent="-146304" algn="l">
              <a:buFont typeface="Malgun Gothic"/>
              <a:buChar char="–"/>
            </a:pPr>
            <a:r>
              <a:rPr sz="1100" b="0">
                <a:solidFill>
                  <a:srgbClr val="374151"/>
                </a:solidFill>
                <a:latin typeface="Malgun Gothic"/>
                <a:ea typeface="Malgun Gothic"/>
                <a:cs typeface="Malgun Gothic"/>
              </a:rPr>
              <a:t>오류 유형별로 복구 경로 분리</a:t>
            </a:r>
          </a:p>
          <a:p>
            <a:pPr marL="146304" indent="-146304" algn="l">
              <a:spcBef>
                <a:spcPts val="500"/>
              </a:spcBef>
              <a:buFont typeface="Malgun Gothic"/>
              <a:buChar char="–"/>
            </a:pPr>
            <a:r>
              <a:rPr sz="1100" b="0">
                <a:solidFill>
                  <a:srgbClr val="374151"/>
                </a:solidFill>
                <a:latin typeface="Malgun Gothic"/>
                <a:ea typeface="Malgun Gothic"/>
                <a:cs typeface="Malgun Gothic"/>
              </a:rPr>
              <a:t>별도 검증 집합으로 반복 측정</a:t>
            </a:r>
          </a:p>
        </p:txBody>
      </p:sp>
      <p:cxnSp>
        <p:nvCxnSpPr>
          <p:cNvPr id="48" name="Row Rule 2"/>
          <p:cNvCxnSpPr/>
          <p:nvPr/>
        </p:nvCxnSpPr>
        <p:spPr>
          <a:xfrm>
            <a:off x="640080" y="3621024"/>
            <a:ext cx="7863840" cy="0"/>
          </a:xfrm>
          <a:prstGeom prst="line">
            <a:avLst/>
          </a:prstGeom>
          <a:ln w="9525">
            <a:solidFill>
              <a:srgbClr val="E3E8EF"/>
            </a:solidFill>
          </a:ln>
        </p:spPr>
      </p:cxnSp>
      <p:sp>
        <p:nvSpPr>
          <p:cNvPr id="49" name="Row 03 Index"/>
          <p:cNvSpPr txBox="1"/>
          <p:nvPr/>
        </p:nvSpPr>
        <p:spPr>
          <a:xfrm>
            <a:off x="640080" y="3621024"/>
            <a:ext cx="365760" cy="987552"/>
          </a:xfrm>
          <a:prstGeom prst="rect">
            <a:avLst/>
          </a:prstGeom>
          <a:noFill/>
        </p:spPr>
        <p:txBody>
          <a:bodyPr wrap="square" lIns="0" tIns="0" rIns="0" bIns="0" anchor="ctr">
            <a:spAutoFit/>
          </a:bodyPr>
          <a:lstStyle/>
          <a:p>
            <a:pPr algn="l"/>
            <a:r>
              <a:rPr sz="1200" b="1">
                <a:solidFill>
                  <a:srgbClr val="2B7FD4"/>
                </a:solidFill>
                <a:latin typeface="Malgun Gothic"/>
                <a:ea typeface="Malgun Gothic"/>
                <a:cs typeface="Malgun Gothic"/>
              </a:rPr>
              <a:t>03</a:t>
            </a:r>
          </a:p>
        </p:txBody>
      </p:sp>
      <p:sp>
        <p:nvSpPr>
          <p:cNvPr id="50" name="Row 03 Limit"/>
          <p:cNvSpPr txBox="1"/>
          <p:nvPr/>
        </p:nvSpPr>
        <p:spPr>
          <a:xfrm>
            <a:off x="1051560" y="3621024"/>
            <a:ext cx="2651760" cy="987552"/>
          </a:xfrm>
          <a:prstGeom prst="rect">
            <a:avLst/>
          </a:prstGeom>
          <a:noFill/>
        </p:spPr>
        <p:txBody>
          <a:bodyPr wrap="square" lIns="0" tIns="0" rIns="0" bIns="0" anchor="ctr">
            <a:spAutoFit/>
          </a:bodyPr>
          <a:lstStyle/>
          <a:p>
            <a:pPr algn="l"/>
            <a:r>
              <a:rPr sz="1350" b="1">
                <a:solidFill>
                  <a:srgbClr val="111827"/>
                </a:solidFill>
                <a:latin typeface="Malgun Gothic"/>
                <a:ea typeface="Malgun Gothic"/>
                <a:cs typeface="Malgun Gothic"/>
              </a:rPr>
              <a:t>상시 감시는 선택 구성</a:t>
            </a:r>
          </a:p>
        </p:txBody>
      </p:sp>
      <p:sp>
        <p:nvSpPr>
          <p:cNvPr id="51" name="Row 03 Number"/>
          <p:cNvSpPr txBox="1"/>
          <p:nvPr/>
        </p:nvSpPr>
        <p:spPr>
          <a:xfrm>
            <a:off x="3767328" y="3621024"/>
            <a:ext cx="1920240" cy="987552"/>
          </a:xfrm>
          <a:prstGeom prst="rect">
            <a:avLst/>
          </a:prstGeom>
          <a:noFill/>
        </p:spPr>
        <p:txBody>
          <a:bodyPr wrap="square" lIns="0" tIns="0" rIns="0" bIns="0" anchor="ctr">
            <a:spAutoFit/>
          </a:bodyPr>
          <a:lstStyle/>
          <a:p>
            <a:pPr algn="l"/>
            <a:r>
              <a:rPr sz="2400" b="1">
                <a:solidFill>
                  <a:srgbClr val="111827"/>
                </a:solidFill>
                <a:latin typeface="Malgun Gothic"/>
                <a:ea typeface="Malgun Gothic"/>
                <a:cs typeface="Malgun Gothic"/>
              </a:rPr>
              <a:t>5분</a:t>
            </a:r>
          </a:p>
          <a:p>
            <a:pPr algn="l">
              <a:spcBef>
                <a:spcPts val="100"/>
              </a:spcBef>
            </a:pPr>
            <a:r>
              <a:rPr sz="950" b="0">
                <a:solidFill>
                  <a:srgbClr val="6B7685"/>
                </a:solidFill>
                <a:latin typeface="Malgun Gothic"/>
                <a:ea typeface="Malgun Gothic"/>
                <a:cs typeface="Malgun Gothic"/>
              </a:rPr>
              <a:t>배포 직후 기본 감시</a:t>
            </a:r>
          </a:p>
        </p:txBody>
      </p:sp>
      <p:sp>
        <p:nvSpPr>
          <p:cNvPr id="52" name="Row 03 Plan"/>
          <p:cNvSpPr txBox="1"/>
          <p:nvPr/>
        </p:nvSpPr>
        <p:spPr>
          <a:xfrm>
            <a:off x="5760720" y="3621024"/>
            <a:ext cx="2788920" cy="987552"/>
          </a:xfrm>
          <a:prstGeom prst="rect">
            <a:avLst/>
          </a:prstGeom>
          <a:noFill/>
        </p:spPr>
        <p:txBody>
          <a:bodyPr wrap="square" lIns="0" tIns="0" rIns="0" bIns="0" anchor="ctr">
            <a:spAutoFit/>
          </a:bodyPr>
          <a:lstStyle/>
          <a:p>
            <a:pPr marL="146304" indent="-146304" algn="l">
              <a:buFont typeface="Malgun Gothic"/>
              <a:buChar char="–"/>
            </a:pPr>
            <a:r>
              <a:rPr sz="1100" b="0">
                <a:solidFill>
                  <a:srgbClr val="374151"/>
                </a:solidFill>
                <a:latin typeface="Malgun Gothic"/>
                <a:ea typeface="Malgun Gothic"/>
                <a:cs typeface="Malgun Gothic"/>
              </a:rPr>
              <a:t>CloudWatch → Discord 상시 알림</a:t>
            </a:r>
          </a:p>
          <a:p>
            <a:pPr marL="146304" indent="-146304" algn="l">
              <a:spcBef>
                <a:spcPts val="500"/>
              </a:spcBef>
              <a:buFont typeface="Malgun Gothic"/>
              <a:buChar char="–"/>
            </a:pPr>
            <a:r>
              <a:rPr sz="1100" b="0">
                <a:solidFill>
                  <a:srgbClr val="374151"/>
                </a:solidFill>
                <a:latin typeface="Malgun Gothic"/>
                <a:ea typeface="Malgun Gothic"/>
                <a:cs typeface="Malgun Gothic"/>
              </a:rPr>
              <a:t>장애 주입으로 롤백 점검</a:t>
            </a:r>
          </a:p>
        </p:txBody>
      </p:sp>
      <p:sp>
        <p:nvSpPr>
          <p:cNvPr id="53" name="Source"/>
          <p:cNvSpPr txBox="1"/>
          <p:nvPr/>
        </p:nvSpPr>
        <p:spPr>
          <a:xfrm>
            <a:off x="411480" y="4727448"/>
            <a:ext cx="7772400" cy="201168"/>
          </a:xfrm>
          <a:prstGeom prst="rect">
            <a:avLst/>
          </a:prstGeom>
          <a:noFill/>
        </p:spPr>
        <p:txBody>
          <a:bodyPr wrap="square" lIns="0" tIns="0" rIns="0" bIns="0" anchor="t">
            <a:spAutoFit/>
          </a:bodyPr>
          <a:lstStyle/>
          <a:p>
            <a:pPr algn="l"/>
            <a:r>
              <a:rPr sz="750" b="0">
                <a:solidFill>
                  <a:srgbClr val="8A96A6"/>
                </a:solidFill>
                <a:latin typeface="Malgun Gothic"/>
                <a:ea typeface="Malgun Gothic"/>
                <a:cs typeface="Malgun Gothic"/>
              </a:rPr>
              <a:t>근거 · 2026.10.03 RAG 복구 실험 (36개 합성 과제 × 4조건, develop b3c30fd6) · 감시 기본값 core/cv/monitor.py</a:t>
            </a:r>
          </a:p>
        </p:txBody>
      </p:sp>
      <p:sp>
        <p:nvSpPr>
          <p:cNvPr id="32" name="Slide Number Placeholder 0">
            <a:extLst>
              <a:ext uri="{FF2B5EF4-FFF2-40B4-BE49-F238E27FC236}">
                <a16:creationId xmlns:a16="http://schemas.microsoft.com/office/drawing/2014/main" id="{2986B5C9-8D2A-4F45-881D-619A0A046B2A}"/>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02F15020-66A7-620A-7B7A-C05C4312DEAE}" type="slidenum">
              <a:rPr sz="900" b="1">
                <a:solidFill>
                  <a:srgbClr val="2B7FD4"/>
                </a:solidFill>
                <a:latin typeface="Malgun Gothic"/>
                <a:ea typeface="Malgun Gothic"/>
                <a:cs typeface="Malgun Gothic"/>
              </a:rPr>
              <a:t>25</a:t>
            </a:fld>
            <a:endParaRPr/>
          </a:p>
        </p:txBody>
      </p:sp>
    </p:spTree>
    <p:extLst>
      <p:ext uri="{BB962C8B-B14F-4D97-AF65-F5344CB8AC3E}">
        <p14:creationId xmlns:p14="http://schemas.microsoft.com/office/powerpoint/2010/main" val="2464814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B9E9834-CDE1-4E15-A165-17F35D76DF94}"/>
              </a:ext>
            </a:extLst>
          </p:cNvPr>
          <p:cNvSpPr>
            <a:spLocks noGrp="1"/>
          </p:cNvSpPr>
          <p:nvPr>
            <p:ph type="title" idx="100" hasCustomPrompt="1"/>
          </p:nvPr>
        </p:nvSpPr>
        <p:spPr>
          <a:xfrm>
            <a:off x="320040" y="182880"/>
            <a:ext cx="6035040" cy="457200"/>
          </a:xfrm>
          <a:prstGeom prst="rect">
            <a:avLst/>
          </a:prstGeom>
          <a:noFill/>
        </p:spPr>
        <p:txBody>
          <a:bodyPr wrap="square" lIns="0" tIns="0" rIns="0" bIns="0" anchor="ctr"/>
          <a:lstStyle>
            <a:defPPr>
              <a:defRPr>
                <a:solidFill>
                  <a:srgbClr val="000000"/>
                </a:solidFill>
              </a:defRPr>
            </a:defPPr>
          </a:lstStyle>
          <a:p>
            <a:pPr marL="0" indent="0" algn="l">
              <a:buNone/>
            </a:pPr>
            <a:r>
              <a:rPr sz="2000" b="1">
                <a:solidFill>
                  <a:srgbClr val="000000"/>
                </a:solidFill>
                <a:latin typeface="Malgun Gothic"/>
                <a:ea typeface="Malgun Gothic"/>
                <a:cs typeface="Malgun Gothic"/>
              </a:rPr>
              <a:t>|  팀 구성</a:t>
            </a:r>
            <a:endParaRPr sz="2000">
              <a:solidFill>
                <a:schemeClr val="tx1"/>
              </a:solidFill>
            </a:endParaRPr>
          </a:p>
        </p:txBody>
      </p:sp>
      <p:sp>
        <p:nvSpPr>
          <p:cNvPr id="3" name="Text 0">
            <a:extLst>
              <a:ext uri="{FF2B5EF4-FFF2-40B4-BE49-F238E27FC236}">
                <a16:creationId xmlns:a16="http://schemas.microsoft.com/office/drawing/2014/main" id="{9297A245-5A79-4B57-9A4F-BE76B680971C}"/>
              </a:ext>
            </a:extLst>
          </p:cNvPr>
          <p:cNvSpPr>
            <a:spLocks noGrp="1"/>
          </p:cNvSpPr>
          <p:nvPr>
            <p:ph type="body" idx="101" hasCustomPrompt="1"/>
          </p:nvPr>
        </p:nvSpPr>
        <p:spPr>
          <a:xfrm>
            <a:off x="6355080" y="228600"/>
            <a:ext cx="2468880" cy="365760"/>
          </a:xfrm>
          <a:prstGeom prst="rect">
            <a:avLst/>
          </a:prstGeom>
          <a:noFill/>
        </p:spPr>
        <p:txBody>
          <a:bodyPr wrap="square" lIns="0" tIns="0" rIns="0" bIns="0" anchor="ctr"/>
          <a:lstStyle>
            <a:defPPr>
              <a:defRPr>
                <a:solidFill>
                  <a:srgbClr val="000000"/>
                </a:solidFill>
              </a:defRPr>
            </a:defPPr>
          </a:lstStyle>
          <a:p>
            <a:pPr marL="0" indent="0" algn="r">
              <a:buNone/>
            </a:pPr>
            <a:r>
              <a:rPr sz="1000" b="1">
                <a:solidFill>
                  <a:srgbClr val="000000"/>
                </a:solidFill>
                <a:latin typeface="Malgun Gothic"/>
                <a:ea typeface="Malgun Gothic"/>
                <a:cs typeface="Malgun Gothic"/>
              </a:rPr>
              <a:t>05 팀 소개</a:t>
            </a:r>
            <a:endParaRPr sz="1000"/>
          </a:p>
        </p:txBody>
      </p:sp>
      <p:sp>
        <p:nvSpPr>
          <p:cNvPr id="4" name="Text 2">
            <a:extLst>
              <a:ext uri="{FF2B5EF4-FFF2-40B4-BE49-F238E27FC236}">
                <a16:creationId xmlns:a16="http://schemas.microsoft.com/office/drawing/2014/main" id="{B2A45A72-79A2-4448-815D-0FC6DA8A31ED}"/>
              </a:ext>
            </a:extLst>
          </p:cNvPr>
          <p:cNvSpPr>
            <a:spLocks noGrp="1"/>
          </p:cNvSpPr>
          <p:nvPr/>
        </p:nvSpPr>
        <p:spPr>
          <a:xfrm>
            <a:off x="411480" y="822960"/>
            <a:ext cx="3200400" cy="365760"/>
          </a:xfrm>
          <a:prstGeom prst="rect">
            <a:avLst/>
          </a:prstGeom>
          <a:noFill/>
        </p:spPr>
        <p:txBody>
          <a:bodyPr wrap="square" lIns="0" tIns="0" rIns="0" bIns="0" anchor="t"/>
          <a:lstStyle>
            <a:defPPr>
              <a:defRPr>
                <a:solidFill>
                  <a:srgbClr val="000000"/>
                </a:solidFill>
              </a:defRPr>
            </a:defPPr>
          </a:lstStyle>
          <a:p>
            <a:pPr marL="0" indent="0">
              <a:buNone/>
            </a:pPr>
            <a:r>
              <a:rPr sz="1700" b="1">
                <a:solidFill>
                  <a:srgbClr val="000000"/>
                </a:solidFill>
                <a:latin typeface="Malgun Gothic"/>
                <a:ea typeface="Malgun Gothic"/>
                <a:cs typeface="Malgun Gothic"/>
              </a:rPr>
              <a:t>Team Chain</a:t>
            </a:r>
            <a:endParaRPr sz="1700"/>
          </a:p>
        </p:txBody>
      </p:sp>
      <p:sp>
        <p:nvSpPr>
          <p:cNvPr id="5" name="Text 3">
            <a:extLst>
              <a:ext uri="{FF2B5EF4-FFF2-40B4-BE49-F238E27FC236}">
                <a16:creationId xmlns:a16="http://schemas.microsoft.com/office/drawing/2014/main" id="{249B7799-2C6C-4DB1-9183-C50D24D4E65B}"/>
              </a:ext>
            </a:extLst>
          </p:cNvPr>
          <p:cNvSpPr>
            <a:spLocks noGrp="1"/>
          </p:cNvSpPr>
          <p:nvPr/>
        </p:nvSpPr>
        <p:spPr>
          <a:xfrm>
            <a:off x="411480" y="1188720"/>
            <a:ext cx="3200400" cy="502920"/>
          </a:xfrm>
          <a:prstGeom prst="rect">
            <a:avLst/>
          </a:prstGeom>
          <a:noFill/>
        </p:spPr>
        <p:txBody>
          <a:bodyPr wrap="square" lIns="0" tIns="0" rIns="0" bIns="0" anchor="t"/>
          <a:lstStyle/>
          <a:p>
            <a:pPr marL="0" indent="0">
              <a:buNone/>
            </a:pPr>
            <a:r>
              <a:rPr sz="1150" i="1">
                <a:solidFill>
                  <a:srgbClr val="444444"/>
                </a:solidFill>
                <a:latin typeface="Malgun Gothic"/>
                <a:ea typeface="Malgun Gothic"/>
                <a:cs typeface="Malgun Gothic"/>
              </a:rPr>
              <a:t>From Prompt to Production.</a:t>
            </a:r>
            <a:endParaRPr sz="1150"/>
          </a:p>
          <a:p>
            <a:pPr marL="0" indent="0">
              <a:buNone/>
            </a:pPr>
            <a:r>
              <a:rPr sz="1150" i="1">
                <a:solidFill>
                  <a:srgbClr val="444444"/>
                </a:solidFill>
                <a:latin typeface="Malgun Gothic"/>
                <a:ea typeface="Malgun Gothic"/>
                <a:cs typeface="Malgun Gothic"/>
              </a:rPr>
              <a:t>만드는 속도만큼, 안전하게.</a:t>
            </a:r>
            <a:endParaRPr sz="1150"/>
          </a:p>
        </p:txBody>
      </p:sp>
      <p:pic>
        <p:nvPicPr>
          <p:cNvPr id="6" name="Image 0">
            <a:extLst>
              <a:ext uri="{FF2B5EF4-FFF2-40B4-BE49-F238E27FC236}">
                <a16:creationId xmlns:a16="http://schemas.microsoft.com/office/drawing/2014/main" id="{79ACB713-F7B8-4919-A8B3-C430BB35FE59}"/>
              </a:ext>
            </a:extLst>
          </p:cNvPr>
          <p:cNvPicPr>
            <a:picLocks noChangeAspect="1"/>
          </p:cNvPicPr>
          <p:nvPr/>
        </p:nvPicPr>
        <p:blipFill>
          <a:blip r:embed="rId3"/>
          <a:srcRect/>
          <a:stretch/>
        </p:blipFill>
        <p:spPr>
          <a:xfrm>
            <a:off x="411480" y="1874520"/>
            <a:ext cx="1463040" cy="1828800"/>
          </a:xfrm>
          <a:prstGeom prst="rect">
            <a:avLst/>
          </a:prstGeom>
        </p:spPr>
      </p:pic>
      <p:sp>
        <p:nvSpPr>
          <p:cNvPr id="7" name="Text 4">
            <a:extLst>
              <a:ext uri="{FF2B5EF4-FFF2-40B4-BE49-F238E27FC236}">
                <a16:creationId xmlns:a16="http://schemas.microsoft.com/office/drawing/2014/main" id="{2CC24E86-6802-47B9-B903-0294645EFC29}"/>
              </a:ext>
            </a:extLst>
          </p:cNvPr>
          <p:cNvSpPr>
            <a:spLocks noGrp="1"/>
          </p:cNvSpPr>
          <p:nvPr/>
        </p:nvSpPr>
        <p:spPr>
          <a:xfrm>
            <a:off x="411480" y="3767328"/>
            <a:ext cx="685800" cy="274320"/>
          </a:xfrm>
          <a:prstGeom prst="rect">
            <a:avLst/>
          </a:prstGeom>
          <a:noFill/>
        </p:spPr>
        <p:txBody>
          <a:bodyPr wrap="square" lIns="0" tIns="0" rIns="0" bIns="0" anchor="t"/>
          <a:lstStyle>
            <a:defPPr>
              <a:defRPr>
                <a:solidFill>
                  <a:srgbClr val="000000"/>
                </a:solidFill>
              </a:defRPr>
            </a:defPPr>
          </a:lstStyle>
          <a:p>
            <a:pPr marL="0" indent="0">
              <a:buNone/>
            </a:pPr>
            <a:r>
              <a:rPr sz="1200" b="1">
                <a:solidFill>
                  <a:srgbClr val="000000"/>
                </a:solidFill>
                <a:latin typeface="Malgun Gothic"/>
                <a:ea typeface="Malgun Gothic"/>
                <a:cs typeface="Malgun Gothic"/>
              </a:rPr>
              <a:t>이동규</a:t>
            </a:r>
            <a:endParaRPr sz="1200"/>
          </a:p>
        </p:txBody>
      </p:sp>
      <p:sp>
        <p:nvSpPr>
          <p:cNvPr id="8" name="Text 5">
            <a:extLst>
              <a:ext uri="{FF2B5EF4-FFF2-40B4-BE49-F238E27FC236}">
                <a16:creationId xmlns:a16="http://schemas.microsoft.com/office/drawing/2014/main" id="{8E9F7425-4EE5-4E22-98D3-7B1327285FD8}"/>
              </a:ext>
            </a:extLst>
          </p:cNvPr>
          <p:cNvSpPr>
            <a:spLocks noGrp="1"/>
          </p:cNvSpPr>
          <p:nvPr/>
        </p:nvSpPr>
        <p:spPr>
          <a:xfrm>
            <a:off x="1005840" y="3785616"/>
            <a:ext cx="1005840" cy="274320"/>
          </a:xfrm>
          <a:prstGeom prst="rect">
            <a:avLst/>
          </a:prstGeom>
          <a:noFill/>
        </p:spPr>
        <p:txBody>
          <a:bodyPr wrap="square" lIns="0" tIns="0" rIns="0" bIns="0" anchor="t"/>
          <a:lstStyle>
            <a:defPPr>
              <a:defRPr>
                <a:solidFill>
                  <a:srgbClr val="000000"/>
                </a:solidFill>
              </a:defRPr>
            </a:defPPr>
          </a:lstStyle>
          <a:p>
            <a:pPr marL="0" indent="0">
              <a:buNone/>
            </a:pPr>
            <a:r>
              <a:rPr sz="900" b="1">
                <a:solidFill>
                  <a:srgbClr val="000000"/>
                </a:solidFill>
                <a:latin typeface="Malgun Gothic"/>
                <a:ea typeface="Malgun Gothic"/>
                <a:cs typeface="Malgun Gothic"/>
              </a:rPr>
              <a:t>Back-end · Infra</a:t>
            </a:r>
            <a:endParaRPr sz="900"/>
          </a:p>
        </p:txBody>
      </p:sp>
      <p:sp>
        <p:nvSpPr>
          <p:cNvPr id="9" name="Text 6">
            <a:extLst>
              <a:ext uri="{FF2B5EF4-FFF2-40B4-BE49-F238E27FC236}">
                <a16:creationId xmlns:a16="http://schemas.microsoft.com/office/drawing/2014/main" id="{428354C7-9EFD-45B8-8050-A26245B881CB}"/>
              </a:ext>
            </a:extLst>
          </p:cNvPr>
          <p:cNvSpPr>
            <a:spLocks noGrp="1"/>
          </p:cNvSpPr>
          <p:nvPr/>
        </p:nvSpPr>
        <p:spPr>
          <a:xfrm>
            <a:off x="411480" y="4069080"/>
            <a:ext cx="1600200" cy="274320"/>
          </a:xfrm>
          <a:prstGeom prst="rect">
            <a:avLst/>
          </a:prstGeom>
          <a:noFill/>
        </p:spPr>
        <p:txBody>
          <a:bodyPr wrap="square" lIns="0" tIns="0" rIns="0" bIns="0" anchor="t"/>
          <a:lstStyle/>
          <a:p>
            <a:pPr marL="0" indent="0">
              <a:buNone/>
            </a:pPr>
            <a:r>
              <a:rPr sz="850">
                <a:solidFill>
                  <a:srgbClr val="5E6878"/>
                </a:solidFill>
                <a:latin typeface="Malgun Gothic"/>
                <a:ea typeface="Malgun Gothic"/>
                <a:cs typeface="Malgun Gothic"/>
              </a:rPr>
              <a:t>Core · 배포 · 보안 파이프라인</a:t>
            </a:r>
            <a:endParaRPr sz="850"/>
          </a:p>
        </p:txBody>
      </p:sp>
      <p:pic>
        <p:nvPicPr>
          <p:cNvPr id="10" name="Image 1">
            <a:extLst>
              <a:ext uri="{FF2B5EF4-FFF2-40B4-BE49-F238E27FC236}">
                <a16:creationId xmlns:a16="http://schemas.microsoft.com/office/drawing/2014/main" id="{8189A819-DB04-41C1-8020-ADDAED71ED1C}"/>
              </a:ext>
            </a:extLst>
          </p:cNvPr>
          <p:cNvPicPr>
            <a:picLocks noChangeAspect="1"/>
          </p:cNvPicPr>
          <p:nvPr/>
        </p:nvPicPr>
        <p:blipFill>
          <a:blip r:embed="rId4"/>
          <a:srcRect/>
          <a:stretch/>
        </p:blipFill>
        <p:spPr>
          <a:xfrm>
            <a:off x="2103120" y="1874520"/>
            <a:ext cx="1463040" cy="1828800"/>
          </a:xfrm>
          <a:prstGeom prst="rect">
            <a:avLst/>
          </a:prstGeom>
        </p:spPr>
      </p:pic>
      <p:sp>
        <p:nvSpPr>
          <p:cNvPr id="11" name="Text 7">
            <a:extLst>
              <a:ext uri="{FF2B5EF4-FFF2-40B4-BE49-F238E27FC236}">
                <a16:creationId xmlns:a16="http://schemas.microsoft.com/office/drawing/2014/main" id="{1EC9AB79-F206-4B73-93A6-7494407D2E69}"/>
              </a:ext>
            </a:extLst>
          </p:cNvPr>
          <p:cNvSpPr>
            <a:spLocks noGrp="1"/>
          </p:cNvSpPr>
          <p:nvPr/>
        </p:nvSpPr>
        <p:spPr>
          <a:xfrm>
            <a:off x="2103120" y="3767328"/>
            <a:ext cx="685800" cy="274320"/>
          </a:xfrm>
          <a:prstGeom prst="rect">
            <a:avLst/>
          </a:prstGeom>
          <a:noFill/>
        </p:spPr>
        <p:txBody>
          <a:bodyPr wrap="square" lIns="0" tIns="0" rIns="0" bIns="0" anchor="t"/>
          <a:lstStyle>
            <a:defPPr>
              <a:defRPr>
                <a:solidFill>
                  <a:srgbClr val="000000"/>
                </a:solidFill>
              </a:defRPr>
            </a:defPPr>
          </a:lstStyle>
          <a:p>
            <a:pPr marL="0" indent="0">
              <a:buNone/>
            </a:pPr>
            <a:r>
              <a:rPr sz="1200" b="1">
                <a:solidFill>
                  <a:srgbClr val="000000"/>
                </a:solidFill>
                <a:latin typeface="Malgun Gothic"/>
                <a:ea typeface="Malgun Gothic"/>
                <a:cs typeface="Malgun Gothic"/>
              </a:rPr>
              <a:t>윤세빈</a:t>
            </a:r>
            <a:endParaRPr sz="1200"/>
          </a:p>
        </p:txBody>
      </p:sp>
      <p:sp>
        <p:nvSpPr>
          <p:cNvPr id="12" name="Text 8">
            <a:extLst>
              <a:ext uri="{FF2B5EF4-FFF2-40B4-BE49-F238E27FC236}">
                <a16:creationId xmlns:a16="http://schemas.microsoft.com/office/drawing/2014/main" id="{AD6C225E-FD0F-4F61-91AC-26EE9EC0F8CC}"/>
              </a:ext>
            </a:extLst>
          </p:cNvPr>
          <p:cNvSpPr>
            <a:spLocks noGrp="1"/>
          </p:cNvSpPr>
          <p:nvPr/>
        </p:nvSpPr>
        <p:spPr>
          <a:xfrm>
            <a:off x="2697480" y="3785616"/>
            <a:ext cx="1005840" cy="274320"/>
          </a:xfrm>
          <a:prstGeom prst="rect">
            <a:avLst/>
          </a:prstGeom>
          <a:noFill/>
        </p:spPr>
        <p:txBody>
          <a:bodyPr wrap="square" lIns="0" tIns="0" rIns="0" bIns="0" anchor="t"/>
          <a:lstStyle>
            <a:defPPr>
              <a:defRPr>
                <a:solidFill>
                  <a:srgbClr val="000000"/>
                </a:solidFill>
              </a:defRPr>
            </a:defPPr>
          </a:lstStyle>
          <a:p>
            <a:pPr marL="0" indent="0">
              <a:buNone/>
            </a:pPr>
            <a:r>
              <a:rPr sz="900" b="1">
                <a:solidFill>
                  <a:srgbClr val="000000"/>
                </a:solidFill>
                <a:latin typeface="Malgun Gothic"/>
                <a:ea typeface="Malgun Gothic"/>
                <a:cs typeface="Malgun Gothic"/>
              </a:rPr>
              <a:t>AI · Front-end</a:t>
            </a:r>
            <a:endParaRPr sz="900"/>
          </a:p>
        </p:txBody>
      </p:sp>
      <p:sp>
        <p:nvSpPr>
          <p:cNvPr id="13" name="Text 9">
            <a:extLst>
              <a:ext uri="{FF2B5EF4-FFF2-40B4-BE49-F238E27FC236}">
                <a16:creationId xmlns:a16="http://schemas.microsoft.com/office/drawing/2014/main" id="{9C577B39-B004-4AC9-B7B0-694756FCBD06}"/>
              </a:ext>
            </a:extLst>
          </p:cNvPr>
          <p:cNvSpPr>
            <a:spLocks noGrp="1"/>
          </p:cNvSpPr>
          <p:nvPr/>
        </p:nvSpPr>
        <p:spPr>
          <a:xfrm>
            <a:off x="2103120" y="4069080"/>
            <a:ext cx="1600200" cy="274320"/>
          </a:xfrm>
          <a:prstGeom prst="rect">
            <a:avLst/>
          </a:prstGeom>
          <a:noFill/>
        </p:spPr>
        <p:txBody>
          <a:bodyPr wrap="square" lIns="0" tIns="0" rIns="0" bIns="0" anchor="t"/>
          <a:lstStyle/>
          <a:p>
            <a:pPr marL="0" indent="0">
              <a:buNone/>
            </a:pPr>
            <a:r>
              <a:rPr sz="850">
                <a:solidFill>
                  <a:srgbClr val="5E6878"/>
                </a:solidFill>
                <a:latin typeface="Malgun Gothic"/>
                <a:ea typeface="Malgun Gothic"/>
                <a:cs typeface="Malgun Gothic"/>
              </a:rPr>
              <a:t>VS Code 확장 · 코드 분석</a:t>
            </a:r>
            <a:endParaRPr sz="850"/>
          </a:p>
        </p:txBody>
      </p:sp>
      <p:sp>
        <p:nvSpPr>
          <p:cNvPr id="14" name="Text 10">
            <a:extLst>
              <a:ext uri="{FF2B5EF4-FFF2-40B4-BE49-F238E27FC236}">
                <a16:creationId xmlns:a16="http://schemas.microsoft.com/office/drawing/2014/main" id="{83CD43F8-415F-4C60-8601-C92B56476041}"/>
              </a:ext>
            </a:extLst>
          </p:cNvPr>
          <p:cNvSpPr>
            <a:spLocks noGrp="1"/>
          </p:cNvSpPr>
          <p:nvPr/>
        </p:nvSpPr>
        <p:spPr>
          <a:xfrm>
            <a:off x="411480" y="4480560"/>
            <a:ext cx="3291840" cy="228600"/>
          </a:xfrm>
          <a:prstGeom prst="rect">
            <a:avLst/>
          </a:prstGeom>
          <a:noFill/>
        </p:spPr>
        <p:txBody>
          <a:bodyPr wrap="square" lIns="0" tIns="0" rIns="0" bIns="0" anchor="t"/>
          <a:lstStyle/>
          <a:p>
            <a:pPr marL="0" indent="0">
              <a:buNone/>
            </a:pPr>
            <a:r>
              <a:rPr sz="900">
                <a:solidFill>
                  <a:srgbClr val="5E6878"/>
                </a:solidFill>
                <a:latin typeface="Malgun Gothic"/>
                <a:ea typeface="Malgun Gothic"/>
                <a:cs typeface="Malgun Gothic"/>
              </a:rPr>
              <a:t>지도교수  이희진  |  컴퓨터소프트웨어공학과</a:t>
            </a:r>
            <a:endParaRPr sz="900"/>
          </a:p>
        </p:txBody>
      </p:sp>
      <p:sp>
        <p:nvSpPr>
          <p:cNvPr id="15" name="Shape 11">
            <a:extLst>
              <a:ext uri="{FF2B5EF4-FFF2-40B4-BE49-F238E27FC236}">
                <a16:creationId xmlns:a16="http://schemas.microsoft.com/office/drawing/2014/main" id="{F7DE3A4D-F197-409F-8902-6E5D3A92EE90}"/>
              </a:ext>
            </a:extLst>
          </p:cNvPr>
          <p:cNvSpPr>
            <a:spLocks noGrp="1"/>
          </p:cNvSpPr>
          <p:nvPr/>
        </p:nvSpPr>
        <p:spPr>
          <a:xfrm>
            <a:off x="3931920" y="868680"/>
            <a:ext cx="4846320" cy="3840480"/>
          </a:xfrm>
          <a:prstGeom prst="roundRect">
            <a:avLst>
              <a:gd name="adj" fmla="val 2857"/>
            </a:avLst>
          </a:prstGeom>
          <a:solidFill>
            <a:srgbClr val="FFFFFF"/>
          </a:solidFill>
          <a:effectLst>
            <a:outerShdw blurRad="127000" dist="25400" dir="5400000" algn="bl" rotWithShape="0">
              <a:srgbClr val="000000">
                <a:alpha val="10000"/>
              </a:srgbClr>
            </a:outerShdw>
          </a:effectLst>
        </p:spPr>
        <p:txBody>
          <a:bodyPr/>
          <a:lstStyle/>
          <a:p>
            <a:endParaRPr/>
          </a:p>
        </p:txBody>
      </p:sp>
      <p:sp>
        <p:nvSpPr>
          <p:cNvPr id="16" name="Text 12">
            <a:extLst>
              <a:ext uri="{FF2B5EF4-FFF2-40B4-BE49-F238E27FC236}">
                <a16:creationId xmlns:a16="http://schemas.microsoft.com/office/drawing/2014/main" id="{4FA15E5B-11D5-418F-9524-A598E5C81BA4}"/>
              </a:ext>
            </a:extLst>
          </p:cNvPr>
          <p:cNvSpPr>
            <a:spLocks noGrp="1"/>
          </p:cNvSpPr>
          <p:nvPr/>
        </p:nvSpPr>
        <p:spPr>
          <a:xfrm>
            <a:off x="4160520" y="1005840"/>
            <a:ext cx="2743200" cy="320040"/>
          </a:xfrm>
          <a:prstGeom prst="rect">
            <a:avLst/>
          </a:prstGeom>
          <a:noFill/>
        </p:spPr>
        <p:txBody>
          <a:bodyPr wrap="square" lIns="0" tIns="0" rIns="0" bIns="0" anchor="t"/>
          <a:lstStyle>
            <a:defPPr>
              <a:defRPr>
                <a:solidFill>
                  <a:srgbClr val="000000"/>
                </a:solidFill>
              </a:defRPr>
            </a:defPPr>
          </a:lstStyle>
          <a:p>
            <a:pPr marL="0" indent="0">
              <a:buNone/>
            </a:pPr>
            <a:r>
              <a:rPr sz="1300" b="1">
                <a:solidFill>
                  <a:srgbClr val="000000"/>
                </a:solidFill>
                <a:latin typeface="Malgun Gothic"/>
                <a:ea typeface="Malgun Gothic"/>
                <a:cs typeface="Malgun Gothic"/>
              </a:rPr>
              <a:t>개발 환경</a:t>
            </a:r>
            <a:endParaRPr sz="1300"/>
          </a:p>
        </p:txBody>
      </p:sp>
      <p:sp>
        <p:nvSpPr>
          <p:cNvPr id="17" name="Text 13">
            <a:extLst>
              <a:ext uri="{FF2B5EF4-FFF2-40B4-BE49-F238E27FC236}">
                <a16:creationId xmlns:a16="http://schemas.microsoft.com/office/drawing/2014/main" id="{FBFF67FF-3CD3-444A-9599-54BEE0669BFE}"/>
              </a:ext>
            </a:extLst>
          </p:cNvPr>
          <p:cNvSpPr>
            <a:spLocks noGrp="1"/>
          </p:cNvSpPr>
          <p:nvPr/>
        </p:nvSpPr>
        <p:spPr>
          <a:xfrm>
            <a:off x="4160520" y="1463040"/>
            <a:ext cx="1280160" cy="274320"/>
          </a:xfrm>
          <a:prstGeom prst="rect">
            <a:avLst/>
          </a:prstGeom>
          <a:noFill/>
        </p:spPr>
        <p:txBody>
          <a:bodyPr wrap="square" lIns="0" tIns="0" rIns="0" bIns="0" anchor="ctr"/>
          <a:lstStyle>
            <a:defPPr>
              <a:defRPr>
                <a:solidFill>
                  <a:srgbClr val="000000"/>
                </a:solidFill>
              </a:defRPr>
            </a:defPPr>
          </a:lstStyle>
          <a:p>
            <a:pPr marL="0" indent="0">
              <a:buNone/>
              <a:defRPr>
                <a:solidFill>
                  <a:srgbClr val="000000"/>
                </a:solidFill>
              </a:defRPr>
            </a:pPr>
            <a:r>
              <a:rPr sz="950" b="1">
                <a:solidFill>
                  <a:srgbClr val="000000"/>
                </a:solidFill>
                <a:latin typeface="Malgun Gothic"/>
                <a:ea typeface="Malgun Gothic"/>
                <a:cs typeface="Malgun Gothic"/>
              </a:rPr>
              <a:t>언어·앱</a:t>
            </a:r>
            <a:endParaRPr sz="950"/>
          </a:p>
        </p:txBody>
      </p:sp>
      <p:sp>
        <p:nvSpPr>
          <p:cNvPr id="18" name="Shape 14">
            <a:extLst>
              <a:ext uri="{FF2B5EF4-FFF2-40B4-BE49-F238E27FC236}">
                <a16:creationId xmlns:a16="http://schemas.microsoft.com/office/drawing/2014/main" id="{7FF51F72-C807-4A40-8DB1-843F912D239A}"/>
              </a:ext>
            </a:extLst>
          </p:cNvPr>
          <p:cNvSpPr>
            <a:spLocks noGrp="1"/>
          </p:cNvSpPr>
          <p:nvPr/>
        </p:nvSpPr>
        <p:spPr>
          <a:xfrm>
            <a:off x="5440680" y="1463040"/>
            <a:ext cx="138988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19" name="Text 15">
            <a:extLst>
              <a:ext uri="{FF2B5EF4-FFF2-40B4-BE49-F238E27FC236}">
                <a16:creationId xmlns:a16="http://schemas.microsoft.com/office/drawing/2014/main" id="{25F4DE68-8D99-473F-815F-5ACCA08700ED}"/>
              </a:ext>
            </a:extLst>
          </p:cNvPr>
          <p:cNvSpPr>
            <a:spLocks noGrp="1"/>
          </p:cNvSpPr>
          <p:nvPr/>
        </p:nvSpPr>
        <p:spPr>
          <a:xfrm>
            <a:off x="5440680" y="1463040"/>
            <a:ext cx="138988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Python (FastAPI)</a:t>
            </a:r>
            <a:endParaRPr sz="850"/>
          </a:p>
        </p:txBody>
      </p:sp>
      <p:sp>
        <p:nvSpPr>
          <p:cNvPr id="20" name="Shape 16">
            <a:extLst>
              <a:ext uri="{FF2B5EF4-FFF2-40B4-BE49-F238E27FC236}">
                <a16:creationId xmlns:a16="http://schemas.microsoft.com/office/drawing/2014/main" id="{69471142-59DD-4D33-B641-9EE8A0BC5A20}"/>
              </a:ext>
            </a:extLst>
          </p:cNvPr>
          <p:cNvSpPr>
            <a:spLocks noGrp="1"/>
          </p:cNvSpPr>
          <p:nvPr/>
        </p:nvSpPr>
        <p:spPr>
          <a:xfrm>
            <a:off x="6903720" y="1463040"/>
            <a:ext cx="97840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21" name="Text 17">
            <a:extLst>
              <a:ext uri="{FF2B5EF4-FFF2-40B4-BE49-F238E27FC236}">
                <a16:creationId xmlns:a16="http://schemas.microsoft.com/office/drawing/2014/main" id="{33114C1C-9FAC-4566-9186-82B16B275C77}"/>
              </a:ext>
            </a:extLst>
          </p:cNvPr>
          <p:cNvSpPr>
            <a:spLocks noGrp="1"/>
          </p:cNvSpPr>
          <p:nvPr/>
        </p:nvSpPr>
        <p:spPr>
          <a:xfrm>
            <a:off x="6903720" y="1463040"/>
            <a:ext cx="97840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TypeScript</a:t>
            </a:r>
            <a:endParaRPr sz="850"/>
          </a:p>
        </p:txBody>
      </p:sp>
      <p:sp>
        <p:nvSpPr>
          <p:cNvPr id="22" name="Shape 18">
            <a:extLst>
              <a:ext uri="{FF2B5EF4-FFF2-40B4-BE49-F238E27FC236}">
                <a16:creationId xmlns:a16="http://schemas.microsoft.com/office/drawing/2014/main" id="{779A7EDB-78C1-4AF4-B856-45FF93DC7F8A}"/>
              </a:ext>
            </a:extLst>
          </p:cNvPr>
          <p:cNvSpPr>
            <a:spLocks noGrp="1"/>
          </p:cNvSpPr>
          <p:nvPr/>
        </p:nvSpPr>
        <p:spPr>
          <a:xfrm>
            <a:off x="7955280" y="1463040"/>
            <a:ext cx="63550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23" name="Text 19">
            <a:extLst>
              <a:ext uri="{FF2B5EF4-FFF2-40B4-BE49-F238E27FC236}">
                <a16:creationId xmlns:a16="http://schemas.microsoft.com/office/drawing/2014/main" id="{17FF5561-87C0-496B-8797-55CA727BA2BB}"/>
              </a:ext>
            </a:extLst>
          </p:cNvPr>
          <p:cNvSpPr>
            <a:spLocks noGrp="1"/>
          </p:cNvSpPr>
          <p:nvPr/>
        </p:nvSpPr>
        <p:spPr>
          <a:xfrm>
            <a:off x="7955280" y="1463040"/>
            <a:ext cx="63550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React</a:t>
            </a:r>
            <a:endParaRPr sz="850"/>
          </a:p>
        </p:txBody>
      </p:sp>
      <p:sp>
        <p:nvSpPr>
          <p:cNvPr id="24" name="Shape 20">
            <a:extLst>
              <a:ext uri="{FF2B5EF4-FFF2-40B4-BE49-F238E27FC236}">
                <a16:creationId xmlns:a16="http://schemas.microsoft.com/office/drawing/2014/main" id="{76176FF9-1382-4C5C-9643-14228488949E}"/>
              </a:ext>
            </a:extLst>
          </p:cNvPr>
          <p:cNvSpPr>
            <a:spLocks noGrp="1"/>
          </p:cNvSpPr>
          <p:nvPr/>
        </p:nvSpPr>
        <p:spPr>
          <a:xfrm>
            <a:off x="5440680" y="1792224"/>
            <a:ext cx="104698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25" name="Text 21">
            <a:extLst>
              <a:ext uri="{FF2B5EF4-FFF2-40B4-BE49-F238E27FC236}">
                <a16:creationId xmlns:a16="http://schemas.microsoft.com/office/drawing/2014/main" id="{8682309D-EA19-437C-9F29-76D03B3F6B0D}"/>
              </a:ext>
            </a:extLst>
          </p:cNvPr>
          <p:cNvSpPr>
            <a:spLocks noGrp="1"/>
          </p:cNvSpPr>
          <p:nvPr/>
        </p:nvSpPr>
        <p:spPr>
          <a:xfrm>
            <a:off x="5440680" y="1792224"/>
            <a:ext cx="104698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VS Code API</a:t>
            </a:r>
            <a:endParaRPr sz="850"/>
          </a:p>
        </p:txBody>
      </p:sp>
      <p:sp>
        <p:nvSpPr>
          <p:cNvPr id="26" name="Text 22">
            <a:extLst>
              <a:ext uri="{FF2B5EF4-FFF2-40B4-BE49-F238E27FC236}">
                <a16:creationId xmlns:a16="http://schemas.microsoft.com/office/drawing/2014/main" id="{CB718B6C-4DFE-4B7A-A6D8-FDA555F4BCD9}"/>
              </a:ext>
            </a:extLst>
          </p:cNvPr>
          <p:cNvSpPr>
            <a:spLocks noGrp="1"/>
          </p:cNvSpPr>
          <p:nvPr/>
        </p:nvSpPr>
        <p:spPr>
          <a:xfrm>
            <a:off x="4160520" y="2240280"/>
            <a:ext cx="1280160" cy="274320"/>
          </a:xfrm>
          <a:prstGeom prst="rect">
            <a:avLst/>
          </a:prstGeom>
          <a:noFill/>
        </p:spPr>
        <p:txBody>
          <a:bodyPr wrap="square" lIns="0" tIns="0" rIns="0" bIns="0" anchor="ctr"/>
          <a:lstStyle>
            <a:defPPr>
              <a:defRPr>
                <a:solidFill>
                  <a:srgbClr val="000000"/>
                </a:solidFill>
              </a:defRPr>
            </a:defPPr>
          </a:lstStyle>
          <a:p>
            <a:pPr marL="0" indent="0">
              <a:buNone/>
              <a:defRPr>
                <a:solidFill>
                  <a:srgbClr val="000000"/>
                </a:solidFill>
              </a:defRPr>
            </a:pPr>
            <a:r>
              <a:rPr sz="950" b="1">
                <a:solidFill>
                  <a:srgbClr val="000000"/>
                </a:solidFill>
                <a:latin typeface="Malgun Gothic"/>
                <a:ea typeface="Malgun Gothic"/>
                <a:cs typeface="Malgun Gothic"/>
              </a:rPr>
              <a:t>인프라·배포</a:t>
            </a:r>
            <a:endParaRPr sz="950"/>
          </a:p>
        </p:txBody>
      </p:sp>
      <p:sp>
        <p:nvSpPr>
          <p:cNvPr id="27" name="Shape 23">
            <a:extLst>
              <a:ext uri="{FF2B5EF4-FFF2-40B4-BE49-F238E27FC236}">
                <a16:creationId xmlns:a16="http://schemas.microsoft.com/office/drawing/2014/main" id="{CCAFD73B-EF19-4069-9855-124418B3F516}"/>
              </a:ext>
            </a:extLst>
          </p:cNvPr>
          <p:cNvSpPr>
            <a:spLocks noGrp="1"/>
          </p:cNvSpPr>
          <p:nvPr/>
        </p:nvSpPr>
        <p:spPr>
          <a:xfrm>
            <a:off x="5440680" y="2240280"/>
            <a:ext cx="70408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28" name="Text 24">
            <a:extLst>
              <a:ext uri="{FF2B5EF4-FFF2-40B4-BE49-F238E27FC236}">
                <a16:creationId xmlns:a16="http://schemas.microsoft.com/office/drawing/2014/main" id="{4C7C8ADD-4585-440B-B4D0-968D5F08D662}"/>
              </a:ext>
            </a:extLst>
          </p:cNvPr>
          <p:cNvSpPr>
            <a:spLocks noGrp="1"/>
          </p:cNvSpPr>
          <p:nvPr/>
        </p:nvSpPr>
        <p:spPr>
          <a:xfrm>
            <a:off x="5440680" y="2240280"/>
            <a:ext cx="70408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Docker</a:t>
            </a:r>
            <a:endParaRPr sz="850"/>
          </a:p>
        </p:txBody>
      </p:sp>
      <p:sp>
        <p:nvSpPr>
          <p:cNvPr id="29" name="Shape 25">
            <a:extLst>
              <a:ext uri="{FF2B5EF4-FFF2-40B4-BE49-F238E27FC236}">
                <a16:creationId xmlns:a16="http://schemas.microsoft.com/office/drawing/2014/main" id="{6AA6454A-B7DF-4DEF-AF1B-894A01D66692}"/>
              </a:ext>
            </a:extLst>
          </p:cNvPr>
          <p:cNvSpPr>
            <a:spLocks noGrp="1"/>
          </p:cNvSpPr>
          <p:nvPr/>
        </p:nvSpPr>
        <p:spPr>
          <a:xfrm>
            <a:off x="6217920" y="2240280"/>
            <a:ext cx="104698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30" name="Text 26">
            <a:extLst>
              <a:ext uri="{FF2B5EF4-FFF2-40B4-BE49-F238E27FC236}">
                <a16:creationId xmlns:a16="http://schemas.microsoft.com/office/drawing/2014/main" id="{80841AD0-10B8-49FD-8510-BCB0A86758AD}"/>
              </a:ext>
            </a:extLst>
          </p:cNvPr>
          <p:cNvSpPr>
            <a:spLocks noGrp="1"/>
          </p:cNvSpPr>
          <p:nvPr/>
        </p:nvSpPr>
        <p:spPr>
          <a:xfrm>
            <a:off x="6217920" y="2240280"/>
            <a:ext cx="104698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AWS Bedrock</a:t>
            </a:r>
            <a:endParaRPr sz="850"/>
          </a:p>
        </p:txBody>
      </p:sp>
      <p:sp>
        <p:nvSpPr>
          <p:cNvPr id="31" name="Shape 27">
            <a:extLst>
              <a:ext uri="{FF2B5EF4-FFF2-40B4-BE49-F238E27FC236}">
                <a16:creationId xmlns:a16="http://schemas.microsoft.com/office/drawing/2014/main" id="{2EA1D4BD-0396-4016-B669-3023F73991A0}"/>
              </a:ext>
            </a:extLst>
          </p:cNvPr>
          <p:cNvSpPr>
            <a:spLocks noGrp="1"/>
          </p:cNvSpPr>
          <p:nvPr/>
        </p:nvSpPr>
        <p:spPr>
          <a:xfrm>
            <a:off x="7338060" y="2240280"/>
            <a:ext cx="90982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32" name="Text 28">
            <a:extLst>
              <a:ext uri="{FF2B5EF4-FFF2-40B4-BE49-F238E27FC236}">
                <a16:creationId xmlns:a16="http://schemas.microsoft.com/office/drawing/2014/main" id="{7419925B-F53D-4026-A8A9-D135F695470F}"/>
              </a:ext>
            </a:extLst>
          </p:cNvPr>
          <p:cNvSpPr>
            <a:spLocks noGrp="1"/>
          </p:cNvSpPr>
          <p:nvPr/>
        </p:nvSpPr>
        <p:spPr>
          <a:xfrm>
            <a:off x="7338060" y="2240280"/>
            <a:ext cx="90982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ECR · ECS</a:t>
            </a:r>
            <a:endParaRPr sz="850"/>
          </a:p>
        </p:txBody>
      </p:sp>
      <p:sp>
        <p:nvSpPr>
          <p:cNvPr id="33" name="Shape 29">
            <a:extLst>
              <a:ext uri="{FF2B5EF4-FFF2-40B4-BE49-F238E27FC236}">
                <a16:creationId xmlns:a16="http://schemas.microsoft.com/office/drawing/2014/main" id="{2B2C966F-8830-486B-B1F1-56715132930D}"/>
              </a:ext>
            </a:extLst>
          </p:cNvPr>
          <p:cNvSpPr>
            <a:spLocks noGrp="1"/>
          </p:cNvSpPr>
          <p:nvPr/>
        </p:nvSpPr>
        <p:spPr>
          <a:xfrm>
            <a:off x="5440680" y="2569464"/>
            <a:ext cx="84124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34" name="Text 30">
            <a:extLst>
              <a:ext uri="{FF2B5EF4-FFF2-40B4-BE49-F238E27FC236}">
                <a16:creationId xmlns:a16="http://schemas.microsoft.com/office/drawing/2014/main" id="{5180E881-AC34-4499-A1E7-256BAF660DF0}"/>
              </a:ext>
            </a:extLst>
          </p:cNvPr>
          <p:cNvSpPr>
            <a:spLocks noGrp="1"/>
          </p:cNvSpPr>
          <p:nvPr/>
        </p:nvSpPr>
        <p:spPr>
          <a:xfrm>
            <a:off x="5440680" y="2569464"/>
            <a:ext cx="84124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S3 · EC2</a:t>
            </a:r>
            <a:endParaRPr sz="850"/>
          </a:p>
        </p:txBody>
      </p:sp>
      <p:sp>
        <p:nvSpPr>
          <p:cNvPr id="35" name="Shape 31">
            <a:extLst>
              <a:ext uri="{FF2B5EF4-FFF2-40B4-BE49-F238E27FC236}">
                <a16:creationId xmlns:a16="http://schemas.microsoft.com/office/drawing/2014/main" id="{02D555B5-FCE0-4793-9444-1847B933ED97}"/>
              </a:ext>
            </a:extLst>
          </p:cNvPr>
          <p:cNvSpPr>
            <a:spLocks noGrp="1"/>
          </p:cNvSpPr>
          <p:nvPr/>
        </p:nvSpPr>
        <p:spPr>
          <a:xfrm>
            <a:off x="6355080" y="2569464"/>
            <a:ext cx="125272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36" name="Text 32">
            <a:extLst>
              <a:ext uri="{FF2B5EF4-FFF2-40B4-BE49-F238E27FC236}">
                <a16:creationId xmlns:a16="http://schemas.microsoft.com/office/drawing/2014/main" id="{60F35CF3-663A-4FE5-A71F-C9706BA85241}"/>
              </a:ext>
            </a:extLst>
          </p:cNvPr>
          <p:cNvSpPr>
            <a:spLocks noGrp="1"/>
          </p:cNvSpPr>
          <p:nvPr/>
        </p:nvSpPr>
        <p:spPr>
          <a:xfrm>
            <a:off x="6355080" y="2569464"/>
            <a:ext cx="125272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GitHub Actions</a:t>
            </a:r>
            <a:endParaRPr sz="850"/>
          </a:p>
        </p:txBody>
      </p:sp>
      <p:sp>
        <p:nvSpPr>
          <p:cNvPr id="37" name="Text 33">
            <a:extLst>
              <a:ext uri="{FF2B5EF4-FFF2-40B4-BE49-F238E27FC236}">
                <a16:creationId xmlns:a16="http://schemas.microsoft.com/office/drawing/2014/main" id="{4E94F062-BEB6-4ECD-85F8-48E402E3AF6F}"/>
              </a:ext>
            </a:extLst>
          </p:cNvPr>
          <p:cNvSpPr>
            <a:spLocks noGrp="1"/>
          </p:cNvSpPr>
          <p:nvPr/>
        </p:nvSpPr>
        <p:spPr>
          <a:xfrm>
            <a:off x="4160520" y="3017520"/>
            <a:ext cx="1280160" cy="274320"/>
          </a:xfrm>
          <a:prstGeom prst="rect">
            <a:avLst/>
          </a:prstGeom>
          <a:noFill/>
        </p:spPr>
        <p:txBody>
          <a:bodyPr wrap="square" lIns="0" tIns="0" rIns="0" bIns="0" anchor="ctr"/>
          <a:lstStyle>
            <a:defPPr>
              <a:defRPr>
                <a:solidFill>
                  <a:srgbClr val="000000"/>
                </a:solidFill>
              </a:defRPr>
            </a:defPPr>
          </a:lstStyle>
          <a:p>
            <a:pPr marL="0" indent="0">
              <a:buNone/>
              <a:defRPr>
                <a:solidFill>
                  <a:srgbClr val="000000"/>
                </a:solidFill>
              </a:defRPr>
            </a:pPr>
            <a:r>
              <a:rPr sz="950" b="1">
                <a:solidFill>
                  <a:srgbClr val="000000"/>
                </a:solidFill>
                <a:latin typeface="Malgun Gothic"/>
                <a:ea typeface="Malgun Gothic"/>
                <a:cs typeface="Malgun Gothic"/>
              </a:rPr>
              <a:t>보안</a:t>
            </a:r>
            <a:endParaRPr sz="950"/>
          </a:p>
        </p:txBody>
      </p:sp>
      <p:sp>
        <p:nvSpPr>
          <p:cNvPr id="38" name="Shape 34">
            <a:extLst>
              <a:ext uri="{FF2B5EF4-FFF2-40B4-BE49-F238E27FC236}">
                <a16:creationId xmlns:a16="http://schemas.microsoft.com/office/drawing/2014/main" id="{D2EEC3C1-A5DB-40BF-993B-A4B496138C1D}"/>
              </a:ext>
            </a:extLst>
          </p:cNvPr>
          <p:cNvSpPr>
            <a:spLocks noGrp="1"/>
          </p:cNvSpPr>
          <p:nvPr/>
        </p:nvSpPr>
        <p:spPr>
          <a:xfrm>
            <a:off x="5440680" y="3017520"/>
            <a:ext cx="97840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39" name="Text 35">
            <a:extLst>
              <a:ext uri="{FF2B5EF4-FFF2-40B4-BE49-F238E27FC236}">
                <a16:creationId xmlns:a16="http://schemas.microsoft.com/office/drawing/2014/main" id="{41152A41-F5C6-402E-B8D9-DB7864A1D097}"/>
              </a:ext>
            </a:extLst>
          </p:cNvPr>
          <p:cNvSpPr>
            <a:spLocks noGrp="1"/>
          </p:cNvSpPr>
          <p:nvPr/>
        </p:nvSpPr>
        <p:spPr>
          <a:xfrm>
            <a:off x="5440680" y="3017520"/>
            <a:ext cx="97840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OPA (Rego)</a:t>
            </a:r>
            <a:endParaRPr sz="850"/>
          </a:p>
        </p:txBody>
      </p:sp>
      <p:sp>
        <p:nvSpPr>
          <p:cNvPr id="40" name="Shape 36">
            <a:extLst>
              <a:ext uri="{FF2B5EF4-FFF2-40B4-BE49-F238E27FC236}">
                <a16:creationId xmlns:a16="http://schemas.microsoft.com/office/drawing/2014/main" id="{4F2A33DA-6626-4E72-BDF9-FBCBDBA5384C}"/>
              </a:ext>
            </a:extLst>
          </p:cNvPr>
          <p:cNvSpPr>
            <a:spLocks noGrp="1"/>
          </p:cNvSpPr>
          <p:nvPr/>
        </p:nvSpPr>
        <p:spPr>
          <a:xfrm>
            <a:off x="6492240" y="3017520"/>
            <a:ext cx="63550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41" name="Text 37">
            <a:extLst>
              <a:ext uri="{FF2B5EF4-FFF2-40B4-BE49-F238E27FC236}">
                <a16:creationId xmlns:a16="http://schemas.microsoft.com/office/drawing/2014/main" id="{36EDF153-0E2C-452D-AA53-128982078443}"/>
              </a:ext>
            </a:extLst>
          </p:cNvPr>
          <p:cNvSpPr>
            <a:spLocks noGrp="1"/>
          </p:cNvSpPr>
          <p:nvPr/>
        </p:nvSpPr>
        <p:spPr>
          <a:xfrm>
            <a:off x="6492240" y="3017520"/>
            <a:ext cx="63550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Trivy</a:t>
            </a:r>
            <a:endParaRPr sz="850"/>
          </a:p>
        </p:txBody>
      </p:sp>
      <p:sp>
        <p:nvSpPr>
          <p:cNvPr id="42" name="Shape 38">
            <a:extLst>
              <a:ext uri="{FF2B5EF4-FFF2-40B4-BE49-F238E27FC236}">
                <a16:creationId xmlns:a16="http://schemas.microsoft.com/office/drawing/2014/main" id="{F8E4840E-275F-460D-99D3-880081BF1369}"/>
              </a:ext>
            </a:extLst>
          </p:cNvPr>
          <p:cNvSpPr>
            <a:spLocks noGrp="1"/>
          </p:cNvSpPr>
          <p:nvPr/>
        </p:nvSpPr>
        <p:spPr>
          <a:xfrm>
            <a:off x="7200900" y="3017520"/>
            <a:ext cx="84124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43" name="Text 39">
            <a:extLst>
              <a:ext uri="{FF2B5EF4-FFF2-40B4-BE49-F238E27FC236}">
                <a16:creationId xmlns:a16="http://schemas.microsoft.com/office/drawing/2014/main" id="{E7453D20-5399-4D6E-AC8B-F3D7687FF48B}"/>
              </a:ext>
            </a:extLst>
          </p:cNvPr>
          <p:cNvSpPr>
            <a:spLocks noGrp="1"/>
          </p:cNvSpPr>
          <p:nvPr/>
        </p:nvSpPr>
        <p:spPr>
          <a:xfrm>
            <a:off x="7200900" y="3017520"/>
            <a:ext cx="84124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Hadolint</a:t>
            </a:r>
            <a:endParaRPr sz="850"/>
          </a:p>
        </p:txBody>
      </p:sp>
      <p:sp>
        <p:nvSpPr>
          <p:cNvPr id="44" name="Shape 40">
            <a:extLst>
              <a:ext uri="{FF2B5EF4-FFF2-40B4-BE49-F238E27FC236}">
                <a16:creationId xmlns:a16="http://schemas.microsoft.com/office/drawing/2014/main" id="{2064E50F-9B12-4466-8033-F9A00075A326}"/>
              </a:ext>
            </a:extLst>
          </p:cNvPr>
          <p:cNvSpPr>
            <a:spLocks noGrp="1"/>
          </p:cNvSpPr>
          <p:nvPr/>
        </p:nvSpPr>
        <p:spPr>
          <a:xfrm>
            <a:off x="5440680" y="3346704"/>
            <a:ext cx="84124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45" name="Text 41">
            <a:extLst>
              <a:ext uri="{FF2B5EF4-FFF2-40B4-BE49-F238E27FC236}">
                <a16:creationId xmlns:a16="http://schemas.microsoft.com/office/drawing/2014/main" id="{03AE2347-126A-4050-96AE-CF2D1A4FCFCF}"/>
              </a:ext>
            </a:extLst>
          </p:cNvPr>
          <p:cNvSpPr>
            <a:spLocks noGrp="1"/>
          </p:cNvSpPr>
          <p:nvPr/>
        </p:nvSpPr>
        <p:spPr>
          <a:xfrm>
            <a:off x="5440680" y="3346704"/>
            <a:ext cx="84124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Gitleaks</a:t>
            </a:r>
            <a:endParaRPr sz="850"/>
          </a:p>
        </p:txBody>
      </p:sp>
      <p:sp>
        <p:nvSpPr>
          <p:cNvPr id="46" name="Text 42">
            <a:extLst>
              <a:ext uri="{FF2B5EF4-FFF2-40B4-BE49-F238E27FC236}">
                <a16:creationId xmlns:a16="http://schemas.microsoft.com/office/drawing/2014/main" id="{C83CE446-E8B2-4F74-8A8E-97342A003A38}"/>
              </a:ext>
            </a:extLst>
          </p:cNvPr>
          <p:cNvSpPr>
            <a:spLocks noGrp="1"/>
          </p:cNvSpPr>
          <p:nvPr/>
        </p:nvSpPr>
        <p:spPr>
          <a:xfrm>
            <a:off x="4160520" y="3794760"/>
            <a:ext cx="1280160" cy="274320"/>
          </a:xfrm>
          <a:prstGeom prst="rect">
            <a:avLst/>
          </a:prstGeom>
          <a:noFill/>
        </p:spPr>
        <p:txBody>
          <a:bodyPr wrap="square" lIns="0" tIns="0" rIns="0" bIns="0" anchor="ctr"/>
          <a:lstStyle>
            <a:defPPr>
              <a:defRPr>
                <a:solidFill>
                  <a:srgbClr val="000000"/>
                </a:solidFill>
              </a:defRPr>
            </a:defPPr>
          </a:lstStyle>
          <a:p>
            <a:pPr marL="0" indent="0">
              <a:buNone/>
              <a:defRPr>
                <a:solidFill>
                  <a:srgbClr val="000000"/>
                </a:solidFill>
              </a:defRPr>
            </a:pPr>
            <a:r>
              <a:rPr sz="950" b="1">
                <a:solidFill>
                  <a:srgbClr val="000000"/>
                </a:solidFill>
                <a:latin typeface="Malgun Gothic"/>
                <a:ea typeface="Malgun Gothic"/>
                <a:cs typeface="Malgun Gothic"/>
              </a:rPr>
              <a:t>AI·협업</a:t>
            </a:r>
            <a:endParaRPr sz="950"/>
          </a:p>
        </p:txBody>
      </p:sp>
      <p:sp>
        <p:nvSpPr>
          <p:cNvPr id="47" name="Shape 43">
            <a:extLst>
              <a:ext uri="{FF2B5EF4-FFF2-40B4-BE49-F238E27FC236}">
                <a16:creationId xmlns:a16="http://schemas.microsoft.com/office/drawing/2014/main" id="{0FFEDBB1-C479-459B-B30F-938EF7BD7F90}"/>
              </a:ext>
            </a:extLst>
          </p:cNvPr>
          <p:cNvSpPr>
            <a:spLocks noGrp="1"/>
          </p:cNvSpPr>
          <p:nvPr/>
        </p:nvSpPr>
        <p:spPr>
          <a:xfrm>
            <a:off x="5440680" y="3794760"/>
            <a:ext cx="159562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48" name="Text 44">
            <a:extLst>
              <a:ext uri="{FF2B5EF4-FFF2-40B4-BE49-F238E27FC236}">
                <a16:creationId xmlns:a16="http://schemas.microsoft.com/office/drawing/2014/main" id="{AF8D258C-2EF9-435D-B588-E11B5477913B}"/>
              </a:ext>
            </a:extLst>
          </p:cNvPr>
          <p:cNvSpPr>
            <a:spLocks noGrp="1"/>
          </p:cNvSpPr>
          <p:nvPr/>
        </p:nvSpPr>
        <p:spPr>
          <a:xfrm>
            <a:off x="5440680" y="3794760"/>
            <a:ext cx="159562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RAG (Hybrid Search)</a:t>
            </a:r>
            <a:endParaRPr sz="850"/>
          </a:p>
        </p:txBody>
      </p:sp>
      <p:sp>
        <p:nvSpPr>
          <p:cNvPr id="49" name="Shape 45">
            <a:extLst>
              <a:ext uri="{FF2B5EF4-FFF2-40B4-BE49-F238E27FC236}">
                <a16:creationId xmlns:a16="http://schemas.microsoft.com/office/drawing/2014/main" id="{41D30DD0-59DC-4031-B1B8-2E466571DDFD}"/>
              </a:ext>
            </a:extLst>
          </p:cNvPr>
          <p:cNvSpPr>
            <a:spLocks noGrp="1"/>
          </p:cNvSpPr>
          <p:nvPr/>
        </p:nvSpPr>
        <p:spPr>
          <a:xfrm>
            <a:off x="7109460" y="3794760"/>
            <a:ext cx="1046988" cy="256032"/>
          </a:xfrm>
          <a:prstGeom prst="roundRect">
            <a:avLst>
              <a:gd name="adj" fmla="val 50000"/>
            </a:avLst>
          </a:prstGeom>
          <a:solidFill>
            <a:srgbClr val="FFFFFF"/>
          </a:solidFill>
          <a:ln w="12700">
            <a:solidFill>
              <a:srgbClr val="C5CDD8"/>
            </a:solidFill>
            <a:prstDash val="solid"/>
          </a:ln>
        </p:spPr>
        <p:txBody>
          <a:bodyPr/>
          <a:lstStyle/>
          <a:p>
            <a:endParaRPr/>
          </a:p>
        </p:txBody>
      </p:sp>
      <p:sp>
        <p:nvSpPr>
          <p:cNvPr id="50" name="Text 46">
            <a:extLst>
              <a:ext uri="{FF2B5EF4-FFF2-40B4-BE49-F238E27FC236}">
                <a16:creationId xmlns:a16="http://schemas.microsoft.com/office/drawing/2014/main" id="{3051864E-BED0-4BB3-B404-3085A02A4127}"/>
              </a:ext>
            </a:extLst>
          </p:cNvPr>
          <p:cNvSpPr>
            <a:spLocks noGrp="1"/>
          </p:cNvSpPr>
          <p:nvPr/>
        </p:nvSpPr>
        <p:spPr>
          <a:xfrm>
            <a:off x="7109460" y="3794760"/>
            <a:ext cx="1046988" cy="256032"/>
          </a:xfrm>
          <a:prstGeom prst="rect">
            <a:avLst/>
          </a:prstGeom>
          <a:noFill/>
        </p:spPr>
        <p:txBody>
          <a:bodyPr wrap="square" lIns="0" tIns="0" rIns="0" bIns="0" anchor="ctr"/>
          <a:lstStyle>
            <a:defPPr>
              <a:defRPr>
                <a:solidFill>
                  <a:srgbClr val="000000"/>
                </a:solidFill>
              </a:defRPr>
            </a:defPPr>
          </a:lstStyle>
          <a:p>
            <a:pPr marL="0" indent="0" algn="ctr">
              <a:buNone/>
            </a:pPr>
            <a:r>
              <a:rPr sz="850" b="1">
                <a:solidFill>
                  <a:srgbClr val="000000"/>
                </a:solidFill>
                <a:latin typeface="Malgun Gothic"/>
                <a:ea typeface="Malgun Gothic"/>
                <a:cs typeface="Malgun Gothic"/>
              </a:rPr>
              <a:t>Discord API</a:t>
            </a:r>
            <a:endParaRPr sz="850"/>
          </a:p>
        </p:txBody>
      </p:sp>
      <p:sp>
        <p:nvSpPr>
          <p:cNvPr id="51" name="Slide Number Placeholder 0">
            <a:extLst>
              <a:ext uri="{FF2B5EF4-FFF2-40B4-BE49-F238E27FC236}">
                <a16:creationId xmlns:a16="http://schemas.microsoft.com/office/drawing/2014/main" id="{0131F8E6-9D16-4721-91A8-3AC62A92E9D2}"/>
              </a:ext>
            </a:extLst>
          </p:cNvPr>
          <p:cNvSpPr>
            <a:spLocks noGrp="1"/>
          </p:cNvSpPr>
          <p:nvPr>
            <p:ph type="sldNum" idx="4294967295"/>
          </p:nvPr>
        </p:nvSpPr>
        <p:spPr>
          <a:xfrm>
            <a:off x="8366760" y="4773168"/>
            <a:ext cx="457200" cy="228600"/>
          </a:xfrm>
          <a:prstGeom prst="rect">
            <a:avLst/>
          </a:prstGeom>
        </p:spPr>
        <p:txBody>
          <a:bodyPr/>
          <a:lstStyle>
            <a:defPPr algn="r">
              <a:defRPr sz="900">
                <a:solidFill>
                  <a:srgbClr val="2B7FD4"/>
                </a:solidFill>
                <a:latin typeface="Malgun Gothic"/>
                <a:ea typeface="Malgun Gothic"/>
                <a:cs typeface="Malgun Gothic"/>
              </a:defRPr>
            </a:defPPr>
            <a:lvl1pPr>
              <a:buNone/>
              <a:defRPr sz="900">
                <a:solidFill>
                  <a:srgbClr val="2B7FD4"/>
                </a:solidFill>
                <a:latin typeface="Malgun Gothic"/>
                <a:ea typeface="Malgun Gothic"/>
                <a:cs typeface="Malgun Gothic"/>
              </a:defRPr>
            </a:lvl1pPr>
          </a:lstStyle>
          <a:p>
            <a:pPr algn="r">
              <a:buNone/>
              <a:defRPr sz="900">
                <a:solidFill>
                  <a:srgbClr val="2B7FD4"/>
                </a:solidFill>
                <a:latin typeface="Malgun Gothic"/>
                <a:ea typeface="Malgun Gothic"/>
                <a:cs typeface="Malgun Gothic"/>
              </a:defRPr>
            </a:pPr>
            <a:fld id="{68AD4375-9F50-F53A-6F9F-DD8473067C05}" type="slidenum">
              <a:rPr sz="900" b="1">
                <a:solidFill>
                  <a:srgbClr val="2B7FD4"/>
                </a:solidFill>
                <a:latin typeface="Malgun Gothic"/>
                <a:ea typeface="Malgun Gothic"/>
                <a:cs typeface="Malgun Gothic"/>
              </a:rPr>
              <a:t>26</a:t>
            </a:fld>
            <a:endParaRPr/>
          </a:p>
        </p:txBody>
      </p:sp>
    </p:spTree>
    <p:extLst>
      <p:ext uri="{BB962C8B-B14F-4D97-AF65-F5344CB8AC3E}">
        <p14:creationId xmlns:p14="http://schemas.microsoft.com/office/powerpoint/2010/main" val="1819382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a/logo_white.png"/>
          <p:cNvPicPr>
            <a:picLocks noChangeAspect="1"/>
          </p:cNvPicPr>
          <p:nvPr/>
        </p:nvPicPr>
        <p:blipFill>
          <a:blip r:embed="rId3"/>
          <a:stretch>
            <a:fillRect/>
          </a:stretch>
        </p:blipFill>
        <p:spPr>
          <a:xfrm>
            <a:off x="411480" y="256032"/>
            <a:ext cx="384048" cy="384048"/>
          </a:xfrm>
          <a:prstGeom prst="rect">
            <a:avLst/>
          </a:prstGeom>
        </p:spPr>
      </p:pic>
      <p:sp>
        <p:nvSpPr>
          <p:cNvPr id="3" name="Text 0"/>
          <p:cNvSpPr txBox="1"/>
          <p:nvPr/>
        </p:nvSpPr>
        <p:spPr>
          <a:xfrm>
            <a:off x="868680" y="301752"/>
            <a:ext cx="1828800" cy="292608"/>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ReCoder</a:t>
            </a:r>
            <a:endParaRPr lang="en-US" sz="1300" dirty="0"/>
          </a:p>
        </p:txBody>
      </p:sp>
      <p:sp>
        <p:nvSpPr>
          <p:cNvPr id="4" name="Text 1"/>
          <p:cNvSpPr txBox="1"/>
          <p:nvPr/>
        </p:nvSpPr>
        <p:spPr>
          <a:xfrm>
            <a:off x="502920" y="1463040"/>
            <a:ext cx="4572000" cy="1371600"/>
          </a:xfrm>
          <a:prstGeom prst="rect">
            <a:avLst/>
          </a:prstGeom>
          <a:noFill/>
          <a:ln/>
        </p:spPr>
        <p:txBody>
          <a:bodyPr wrap="square" lIns="0" tIns="0" rIns="0" bIns="0" rtlCol="0" anchor="t"/>
          <a:lstStyle/>
          <a:p>
            <a:pPr marL="0" indent="0">
              <a:buNone/>
            </a:pPr>
            <a:r>
              <a:rPr lang="en-US" sz="3400" b="1" dirty="0">
                <a:solidFill>
                  <a:srgbClr val="FFFFFF"/>
                </a:solidFill>
                <a:latin typeface="Malgun Gothic" pitchFamily="34" charset="0"/>
                <a:ea typeface="Malgun Gothic" pitchFamily="34" charset="-122"/>
                <a:cs typeface="Malgun Gothic" pitchFamily="34" charset="-120"/>
              </a:rPr>
              <a:t>발표를 들어주셔서</a:t>
            </a:r>
            <a:endParaRPr lang="en-US" sz="3400" dirty="0"/>
          </a:p>
          <a:p>
            <a:pPr marL="0" indent="0">
              <a:buNone/>
            </a:pPr>
            <a:r>
              <a:rPr lang="en-US" sz="3400" b="1" dirty="0">
                <a:solidFill>
                  <a:srgbClr val="FFFFFF"/>
                </a:solidFill>
                <a:latin typeface="Malgun Gothic" pitchFamily="34" charset="0"/>
                <a:ea typeface="Malgun Gothic" pitchFamily="34" charset="-122"/>
                <a:cs typeface="Malgun Gothic" pitchFamily="34" charset="-120"/>
              </a:rPr>
              <a:t>감사합니다!</a:t>
            </a:r>
            <a:endParaRPr lang="en-US" sz="3400" dirty="0"/>
          </a:p>
        </p:txBody>
      </p:sp>
      <p:sp>
        <p:nvSpPr>
          <p:cNvPr id="5" name="Text 2"/>
          <p:cNvSpPr txBox="1"/>
          <p:nvPr/>
        </p:nvSpPr>
        <p:spPr>
          <a:xfrm>
            <a:off x="502920" y="3063240"/>
            <a:ext cx="2743200" cy="640080"/>
          </a:xfrm>
          <a:prstGeom prst="rect">
            <a:avLst/>
          </a:prstGeom>
          <a:noFill/>
          <a:ln/>
        </p:spPr>
        <p:txBody>
          <a:bodyPr wrap="square" lIns="0" tIns="0" rIns="0" bIns="0" rtlCol="0" anchor="t"/>
          <a:lstStyle/>
          <a:p>
            <a:pPr marL="0" indent="0">
              <a:buNone/>
            </a:pPr>
            <a:r>
              <a:rPr lang="en-US" sz="3000" b="1" dirty="0">
                <a:solidFill>
                  <a:srgbClr val="FFFFFF"/>
                </a:solidFill>
                <a:latin typeface="Malgun Gothic" pitchFamily="34" charset="0"/>
                <a:ea typeface="Malgun Gothic" pitchFamily="34" charset="-122"/>
                <a:cs typeface="Malgun Gothic" pitchFamily="34" charset="-120"/>
              </a:rPr>
              <a:t>Q &amp; A</a:t>
            </a:r>
            <a:endParaRPr lang="en-US" sz="3000" dirty="0"/>
          </a:p>
        </p:txBody>
      </p:sp>
      <p:sp>
        <p:nvSpPr>
          <p:cNvPr id="6" name="Shape 3"/>
          <p:cNvSpPr/>
          <p:nvPr/>
        </p:nvSpPr>
        <p:spPr>
          <a:xfrm>
            <a:off x="2926080" y="2514600"/>
            <a:ext cx="1463040" cy="0"/>
          </a:xfrm>
          <a:prstGeom prst="line">
            <a:avLst/>
          </a:prstGeom>
          <a:noFill/>
          <a:ln w="19050">
            <a:solidFill>
              <a:srgbClr val="FFFFFF"/>
            </a:solidFill>
            <a:prstDash val="solid"/>
          </a:ln>
        </p:spPr>
        <p:txBody>
          <a:bodyPr/>
          <a:lstStyle/>
          <a:p>
            <a:endParaRPr lang="ko-KR" altLang="en-US"/>
          </a:p>
        </p:txBody>
      </p:sp>
      <p:sp>
        <p:nvSpPr>
          <p:cNvPr id="7" name="Text 4"/>
          <p:cNvSpPr txBox="1"/>
          <p:nvPr/>
        </p:nvSpPr>
        <p:spPr>
          <a:xfrm>
            <a:off x="502920" y="4617720"/>
            <a:ext cx="4572000" cy="228600"/>
          </a:xfrm>
          <a:prstGeom prst="rect">
            <a:avLst/>
          </a:prstGeom>
          <a:noFill/>
          <a:ln/>
        </p:spPr>
        <p:txBody>
          <a:bodyPr wrap="square" lIns="0" tIns="0" rIns="0" bIns="0" rtlCol="0" anchor="t"/>
          <a:lstStyle/>
          <a:p>
            <a:pPr marL="0" indent="0">
              <a:buNone/>
            </a:pPr>
            <a:r>
              <a:rPr lang="en-US" sz="900" dirty="0">
                <a:solidFill>
                  <a:srgbClr val="FFFFFF"/>
                </a:solidFill>
                <a:latin typeface="Malgun Gothic" pitchFamily="34" charset="0"/>
                <a:ea typeface="Malgun Gothic" pitchFamily="34" charset="-122"/>
                <a:cs typeface="Malgun Gothic" pitchFamily="34" charset="-120"/>
              </a:rPr>
              <a:t>TEAM Chain   ·   이동규 · 윤세빈   ·   2026.10</a:t>
            </a:r>
            <a:endParaRPr lang="en-US" sz="900" dirty="0"/>
          </a:p>
        </p:txBody>
      </p:sp>
      <p:pic>
        <p:nvPicPr>
          <p:cNvPr id="8" name="Image 1" descr="/home/claude/work/a/mock_end.png"/>
          <p:cNvPicPr>
            <a:picLocks noChangeAspect="1"/>
          </p:cNvPicPr>
          <p:nvPr/>
        </p:nvPicPr>
        <p:blipFill>
          <a:blip r:embed="rId4"/>
          <a:stretch>
            <a:fillRect/>
          </a:stretch>
        </p:blipFill>
        <p:spPr>
          <a:xfrm>
            <a:off x="4343400" y="1097280"/>
            <a:ext cx="3931920" cy="2457450"/>
          </a:xfrm>
          <a:prstGeom prst="rect">
            <a:avLst/>
          </a:prstGeom>
        </p:spPr>
      </p:pic>
      <p:sp>
        <p:nvSpPr>
          <p:cNvPr id="9" name="Text 5"/>
          <p:cNvSpPr txBox="1"/>
          <p:nvPr/>
        </p:nvSpPr>
        <p:spPr>
          <a:xfrm rot="5400000">
            <a:off x="7269480" y="1600200"/>
            <a:ext cx="2926080" cy="914400"/>
          </a:xfrm>
          <a:prstGeom prst="rect">
            <a:avLst/>
          </a:prstGeom>
          <a:noFill/>
          <a:ln/>
        </p:spPr>
        <p:txBody>
          <a:bodyPr wrap="square" lIns="0" tIns="0" rIns="0" bIns="0" rtlCol="0" anchor="ctr"/>
          <a:lstStyle/>
          <a:p>
            <a:pPr marL="0" indent="0" algn="ctr">
              <a:buNone/>
            </a:pPr>
            <a:r>
              <a:rPr lang="en-US" sz="6000" b="1" dirty="0">
                <a:solidFill>
                  <a:srgbClr val="1C2A44"/>
                </a:solidFill>
                <a:latin typeface="Malgun Gothic" pitchFamily="34" charset="0"/>
                <a:ea typeface="Malgun Gothic" pitchFamily="34" charset="-122"/>
                <a:cs typeface="Malgun Gothic" pitchFamily="34" charset="-120"/>
              </a:rPr>
              <a:t>2026</a:t>
            </a:r>
            <a:endParaRPr lang="en-US" sz="6000" dirty="0"/>
          </a:p>
        </p:txBody>
      </p:sp>
      <p:sp>
        <p:nvSpPr>
          <p:cNvPr id="10" name="Text 6"/>
          <p:cNvSpPr txBox="1"/>
          <p:nvPr/>
        </p:nvSpPr>
        <p:spPr>
          <a:xfrm>
            <a:off x="6949440" y="4617720"/>
            <a:ext cx="1828800" cy="228600"/>
          </a:xfrm>
          <a:prstGeom prst="rect">
            <a:avLst/>
          </a:prstGeom>
          <a:noFill/>
          <a:ln/>
        </p:spPr>
        <p:txBody>
          <a:bodyPr wrap="square" lIns="0" tIns="0" rIns="0" bIns="0" rtlCol="0" anchor="t"/>
          <a:lstStyle/>
          <a:p>
            <a:pPr marL="0" indent="0" algn="r">
              <a:buNone/>
            </a:pPr>
            <a:r>
              <a:rPr lang="en-US" sz="900" b="1" dirty="0">
                <a:solidFill>
                  <a:srgbClr val="FFFFFF"/>
                </a:solidFill>
                <a:latin typeface="Malgun Gothic" pitchFamily="34" charset="0"/>
                <a:ea typeface="Malgun Gothic" pitchFamily="34" charset="-122"/>
                <a:cs typeface="Malgun Gothic" pitchFamily="34" charset="-120"/>
              </a:rPr>
              <a:t>졸업작품 발표</a:t>
            </a:r>
            <a:endParaRPr lang="en-US" sz="900" dirty="0"/>
          </a:p>
        </p:txBody>
      </p:sp>
    </p:spTree>
  </p:cSld>
  <p:clrMapOvr>
    <a:masterClrMapping/>
  </p:clrMapOvr>
</p:sld>
</file>

<file path=ppt/theme/theme1.xml><?xml version="1.0" encoding="utf-8"?>
<a:theme xmlns:a="http://schemas.openxmlformats.org/drawingml/2006/main" name="ReCoder">
  <a:themeElements>
    <a:clrScheme name="ReCoder">
      <a:dk1>
        <a:srgbClr val="141B26"/>
      </a:dk1>
      <a:lt1>
        <a:srgbClr val="FFFFFF"/>
      </a:lt1>
      <a:dk2>
        <a:srgbClr val="3A3A3A"/>
      </a:dk2>
      <a:lt2>
        <a:srgbClr val="F1F4F8"/>
      </a:lt2>
      <a:accent1>
        <a:srgbClr val="2B7FD4"/>
      </a:accent1>
      <a:accent2>
        <a:srgbClr val="1E9E94"/>
      </a:accent2>
      <a:accent3>
        <a:srgbClr val="3B6FD8"/>
      </a:accent3>
      <a:accent4>
        <a:srgbClr val="2FA86B"/>
      </a:accent4>
      <a:accent5>
        <a:srgbClr val="E02B2B"/>
      </a:accent5>
      <a:accent6>
        <a:srgbClr val="8C6BB1"/>
      </a:accent6>
      <a:hlink>
        <a:srgbClr val="2B7FD4"/>
      </a:hlink>
      <a:folHlink>
        <a:srgbClr val="1C5DA8"/>
      </a:folHlink>
    </a:clrScheme>
    <a:fontScheme name="ReCoder">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Code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ReCoder">
  <a:themeElements>
    <a:clrScheme name="ReCoder">
      <a:dk1>
        <a:srgbClr val="141B26"/>
      </a:dk1>
      <a:lt1>
        <a:srgbClr val="FFFFFF"/>
      </a:lt1>
      <a:dk2>
        <a:srgbClr val="3A3A3A"/>
      </a:dk2>
      <a:lt2>
        <a:srgbClr val="F1F4F8"/>
      </a:lt2>
      <a:accent1>
        <a:srgbClr val="2B7FD4"/>
      </a:accent1>
      <a:accent2>
        <a:srgbClr val="1E9E94"/>
      </a:accent2>
      <a:accent3>
        <a:srgbClr val="3B6FD8"/>
      </a:accent3>
      <a:accent4>
        <a:srgbClr val="2FA86B"/>
      </a:accent4>
      <a:accent5>
        <a:srgbClr val="E02B2B"/>
      </a:accent5>
      <a:accent6>
        <a:srgbClr val="8C6BB1"/>
      </a:accent6>
      <a:hlink>
        <a:srgbClr val="2B7FD4"/>
      </a:hlink>
      <a:folHlink>
        <a:srgbClr val="1C5DA8"/>
      </a:folHlink>
    </a:clrScheme>
    <a:fontScheme name="ReCoder">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Code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1119</TotalTime>
  <Words>3524</Words>
  <Application>Microsoft Macintosh PowerPoint</Application>
  <DocSecurity>0</DocSecurity>
  <PresentationFormat>화면 슬라이드 쇼(16:9)</PresentationFormat>
  <Paragraphs>398</Paragraphs>
  <Slides>27</Slides>
  <Notes>27</Notes>
  <HiddenSlides>0</HiddenSlides>
  <MMClips>1</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27</vt:i4>
      </vt:variant>
    </vt:vector>
  </HeadingPairs>
  <TitlesOfParts>
    <vt:vector size="30" baseType="lpstr">
      <vt:lpstr>Malgun Gothic</vt:lpstr>
      <vt:lpstr>Arial</vt:lpstr>
      <vt:lpstr>ReCoder</vt:lpstr>
      <vt:lpstr>PowerPoint 프레젠테이션</vt:lpstr>
      <vt:lpstr>PowerPoint 프레젠테이션</vt:lpstr>
      <vt:lpstr>|  배경 : 바이브 코딩의 확산</vt:lpstr>
      <vt:lpstr>|  배경 : 코드는 AI가, 결과 책임은 사람이</vt:lpstr>
      <vt:lpstr>|  페르소나 : 어려움과 요구사항</vt:lpstr>
      <vt:lpstr>|  문제 정의 : 만든 다음이 막힌다</vt:lpstr>
      <vt:lpstr>|  문제 정의 : AI 코드의 보안 위험</vt:lpstr>
      <vt:lpstr>|  문제 정의</vt:lpstr>
      <vt:lpstr>|  서비스 소개</vt:lpstr>
      <vt:lpstr>|  시스템 아키텍처</vt:lpstr>
      <vt:lpstr>|  시스템 아키텍처 : 기능 구분</vt:lpstr>
      <vt:lpstr>|  시스템 아키텍처 : 로컬 핵심 구성 확대</vt:lpstr>
      <vt:lpstr>|  기능 소개 : 개발</vt:lpstr>
      <vt:lpstr>|  Step 1. 설계 결정 카드 선택</vt:lpstr>
      <vt:lpstr>|  Step 2. AI Village 병렬 개발</vt:lpstr>
      <vt:lpstr>|  Step 3. AI 파이프라인 설계</vt:lpstr>
      <vt:lpstr>|  기능 소개 : 보안</vt:lpstr>
      <vt:lpstr>|  Step 1. 차단과 수정 후 재검사</vt:lpstr>
      <vt:lpstr>|  기능 소개 : 배포 · 운영</vt:lpstr>
      <vt:lpstr>|  Step 1. 배포 절차와 실행 검증</vt:lpstr>
      <vt:lpstr>|  Step 2. 운영 감시와 승인 기반 롤백</vt:lpstr>
      <vt:lpstr>|  시연 영상 : 핵심 흐름</vt:lpstr>
      <vt:lpstr>|  시연 영상</vt:lpstr>
      <vt:lpstr>|  기대 효과</vt:lpstr>
      <vt:lpstr>| 확장 방향</vt:lpstr>
      <vt:lpstr>|  팀 구성</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윤세빈</cp:lastModifiedBy>
  <cp:revision>9</cp:revision>
  <dcterms:created xsi:type="dcterms:W3CDTF">2026-10-12T15:23:33Z</dcterms:created>
  <dcterms:modified xsi:type="dcterms:W3CDTF">2026-10-18T18:56:26Z</dcterms:modified>
</cp:coreProperties>
</file>