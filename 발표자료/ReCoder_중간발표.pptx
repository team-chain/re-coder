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0" r:id="rId6"/>
    <p:sldId id="261" r:id="rId7"/>
    <p:sldId id="269" r:id="rId8"/>
    <p:sldId id="271" r:id="rId9"/>
    <p:sldId id="272" r:id="rId10"/>
    <p:sldId id="273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730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7A7"/>
                </a:solidFill>
              </a:rPr>
              <a:t>2026 졸업작품 기획발표  |  Team CHAIN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0097A7"/>
                </a:solidFill>
              </a:rPr>
              <a:t>Re</a:t>
            </a:r>
            <a:r>
              <a:rPr lang="en-US" sz="6800" b="1" dirty="0">
                <a:solidFill>
                  <a:srgbClr val="0D2137"/>
                </a:solidFill>
              </a:rPr>
              <a:t>Coder</a:t>
            </a:r>
            <a:endParaRPr lang="en-US" sz="68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45720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2A4A6A"/>
                </a:solidFill>
              </a:rPr>
              <a:t>코드를 생성하는 AI가 아니라,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2A4A6A"/>
                </a:solidFill>
              </a:rPr>
              <a:t>배포 가능한 상태까지 끌고 </a:t>
            </a:r>
            <a:r>
              <a:rPr lang="en-US" sz="1600" i="1" dirty="0" err="1">
                <a:solidFill>
                  <a:srgbClr val="2A4A6A"/>
                </a:solidFill>
              </a:rPr>
              <a:t>가는</a:t>
            </a:r>
            <a:r>
              <a:rPr lang="en-US" sz="1600" i="1" dirty="0">
                <a:solidFill>
                  <a:srgbClr val="2A4A6A"/>
                </a:solidFill>
              </a:rPr>
              <a:t>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1A3050"/>
                </a:solidFill>
              </a:rPr>
              <a:t>Remember.  Return.  Re-Code.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3050"/>
                </a:solidFill>
              </a:rPr>
              <a:t>Team CHAIN  |  동양미래대학교  |  이동규 · 윤세빈</a:t>
            </a:r>
            <a:endParaRPr lang="en-US" sz="1000" dirty="0"/>
          </a:p>
        </p:txBody>
      </p:sp>
      <p:pic>
        <p:nvPicPr>
          <p:cNvPr id="200" name="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3500000"/>
            <a:ext cx="1828800" cy="9968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67B135B-0EE3-479B-E9E1-9EB4ED277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421" y="574996"/>
            <a:ext cx="6276278" cy="34234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EADD4"/>
                </a:solidFill>
              </a:rPr>
              <a:t>INDEX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목  차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64008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78408" y="9784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2438"/>
                </a:solidFill>
              </a:rPr>
              <a:t>시장 배경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바이브 코딩의 확산과 한계</a:t>
            </a:r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64008" cy="1188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97A7"/>
                </a:solidFill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78408" y="23500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2438"/>
                </a:solidFill>
              </a:rPr>
              <a:t>프로젝트 개요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기존 방식 → ReCoder 해결 방향</a:t>
            </a:r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64008" cy="118872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C4DFF"/>
                </a:solidFill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78408" y="37216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2438"/>
                </a:solidFill>
              </a:rPr>
              <a:t>포지셔닝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경쟁사 비교 · 핵심 차별점</a:t>
            </a:r>
          </a:p>
        </p:txBody>
      </p:sp>
      <p:sp>
        <p:nvSpPr>
          <p:cNvPr id="21" name="Shape 19"/>
          <p:cNvSpPr/>
          <p:nvPr/>
        </p:nvSpPr>
        <p:spPr>
          <a:xfrm>
            <a:off x="4846320" y="86868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868680"/>
            <a:ext cx="64008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8348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D32"/>
                </a:solidFill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04688" y="9784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2438"/>
                </a:solidFill>
              </a:rPr>
              <a:t>핵심 기능 &amp; 아키텍처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83480" y="15544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에러 감지→코드→인프라 자동화</a:t>
            </a:r>
          </a:p>
        </p:txBody>
      </p:sp>
      <p:sp>
        <p:nvSpPr>
          <p:cNvPr id="26" name="Shape 24"/>
          <p:cNvSpPr/>
          <p:nvPr/>
        </p:nvSpPr>
        <p:spPr>
          <a:xfrm>
            <a:off x="4846320" y="224028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846320" y="2240280"/>
            <a:ext cx="64008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9834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65100"/>
                </a:solidFill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504688" y="23500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2438"/>
                </a:solidFill>
              </a:rPr>
              <a:t>데모 시나리오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83480" y="29260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에러 수정부터 컨테이너 생성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GitHub Push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까지 자동화 시연</a:t>
            </a: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46320" y="361188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846320" y="3611880"/>
            <a:ext cx="64008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9834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</a:rPr>
              <a:t>06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504688" y="37216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2438"/>
                </a:solidFill>
              </a:rPr>
              <a:t>기술 스택 &amp; 역할 분담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983480" y="42976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AI 모델 · MVP · 팀원 담당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EADD4"/>
                </a:solidFill>
              </a:rPr>
              <a:t>01  /  시장 배경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바이브 코딩의 확산, 그리고 한계</a:t>
            </a:r>
            <a:endParaRPr lang="en-US" sz="1800" dirty="0"/>
          </a:p>
        </p:txBody>
      </p:sp>
      <p:sp>
        <p:nvSpPr>
          <p:cNvPr id="100" name="CardBg100"/>
          <p:cNvSpPr/>
          <p:nvPr/>
        </p:nvSpPr>
        <p:spPr>
          <a:xfrm>
            <a:off x="200040" y="700000"/>
            <a:ext cx="2800000" cy="1680000"/>
          </a:xfrm>
          <a:prstGeom prst="roundRect">
            <a:avLst>
              <a:gd name="adj" fmla="val 30000"/>
            </a:avLst>
          </a:prstGeom>
          <a:solidFill>
            <a:srgbClr val="EBF3FC"/>
          </a:solidFill>
          <a:ln w="254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1" name="AccentBar101"/>
          <p:cNvSpPr/>
          <p:nvPr/>
        </p:nvSpPr>
        <p:spPr>
          <a:xfrm>
            <a:off x="200040" y="700000"/>
            <a:ext cx="2800000" cy="9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BigNum102"/>
          <p:cNvSpPr/>
          <p:nvPr/>
        </p:nvSpPr>
        <p:spPr>
          <a:xfrm>
            <a:off x="320040" y="941248"/>
            <a:ext cx="260604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565C0"/>
                </a:solidFill>
              </a:rPr>
              <a:t>84%</a:t>
            </a:r>
          </a:p>
        </p:txBody>
      </p:sp>
      <p:sp>
        <p:nvSpPr>
          <p:cNvPr id="103" name="BarTrack103"/>
          <p:cNvSpPr/>
          <p:nvPr/>
        </p:nvSpPr>
        <p:spPr>
          <a:xfrm>
            <a:off x="411480" y="1661248"/>
            <a:ext cx="2423160" cy="140000"/>
          </a:xfrm>
          <a:prstGeom prst="roundRect">
            <a:avLst>
              <a:gd name="adj" fmla="val 50000"/>
            </a:avLst>
          </a:prstGeom>
          <a:solidFill>
            <a:srgbClr val="D0E4F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BarFill104"/>
          <p:cNvSpPr/>
          <p:nvPr/>
        </p:nvSpPr>
        <p:spPr>
          <a:xfrm>
            <a:off x="411480" y="1661248"/>
            <a:ext cx="2035454" cy="1400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Label105"/>
          <p:cNvSpPr/>
          <p:nvPr/>
        </p:nvSpPr>
        <p:spPr>
          <a:xfrm>
            <a:off x="411480" y="1851248"/>
            <a:ext cx="242316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sz="950" b="0" dirty="0">
                <a:solidFill>
                  <a:srgbClr val="37474F"/>
                </a:solidFill>
              </a:rPr>
              <a:t>AI 코딩 도구 사용·계획 개발자</a:t>
            </a:r>
          </a:p>
        </p:txBody>
      </p:sp>
      <p:sp>
        <p:nvSpPr>
          <p:cNvPr id="106" name="Source106"/>
          <p:cNvSpPr/>
          <p:nvPr/>
        </p:nvSpPr>
        <p:spPr>
          <a:xfrm>
            <a:off x="411480" y="20612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8909C"/>
                </a:solidFill>
              </a:rPr>
              <a:t>출처: Stack Overflow Developer Survey 2025</a:t>
            </a:r>
          </a:p>
        </p:txBody>
      </p:sp>
      <p:sp>
        <p:nvSpPr>
          <p:cNvPr id="107" name="CardBg107_"/>
          <p:cNvSpPr/>
          <p:nvPr/>
        </p:nvSpPr>
        <p:spPr>
          <a:xfrm>
            <a:off x="3120000" y="700000"/>
            <a:ext cx="2800000" cy="1680000"/>
          </a:xfrm>
          <a:prstGeom prst="rect">
            <a:avLst/>
          </a:prstGeom>
          <a:solidFill>
            <a:srgbClr val="E0F7FA"/>
          </a:solidFill>
          <a:ln w="25400">
            <a:solidFill>
              <a:srgbClr val="00838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8" name="AccentBar108"/>
          <p:cNvSpPr/>
          <p:nvPr/>
        </p:nvSpPr>
        <p:spPr>
          <a:xfrm>
            <a:off x="3120000" y="700000"/>
            <a:ext cx="2800000" cy="90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BigNum109"/>
          <p:cNvSpPr/>
          <p:nvPr/>
        </p:nvSpPr>
        <p:spPr>
          <a:xfrm>
            <a:off x="3154680" y="941248"/>
            <a:ext cx="260604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838F"/>
                </a:solidFill>
              </a:rPr>
              <a:t>46%</a:t>
            </a:r>
          </a:p>
        </p:txBody>
      </p:sp>
      <p:sp>
        <p:nvSpPr>
          <p:cNvPr id="110" name="BarTrack110"/>
          <p:cNvSpPr/>
          <p:nvPr/>
        </p:nvSpPr>
        <p:spPr>
          <a:xfrm>
            <a:off x="3246120" y="1661248"/>
            <a:ext cx="2423160" cy="140000"/>
          </a:xfrm>
          <a:prstGeom prst="roundRect">
            <a:avLst>
              <a:gd name="adj" fmla="val 50000"/>
            </a:avLst>
          </a:prstGeom>
          <a:solidFill>
            <a:srgbClr val="B2EBF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BarFill111"/>
          <p:cNvSpPr/>
          <p:nvPr/>
        </p:nvSpPr>
        <p:spPr>
          <a:xfrm>
            <a:off x="3246120" y="1661248"/>
            <a:ext cx="1114653" cy="1400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Label112"/>
          <p:cNvSpPr/>
          <p:nvPr/>
        </p:nvSpPr>
        <p:spPr>
          <a:xfrm>
            <a:off x="3246120" y="1851248"/>
            <a:ext cx="242316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sz="950" b="0" dirty="0">
                <a:solidFill>
                  <a:srgbClr val="37474F"/>
                </a:solidFill>
              </a:rPr>
              <a:t>신규 작성 코드 중 AI 생성 비율</a:t>
            </a:r>
          </a:p>
        </p:txBody>
      </p:sp>
      <p:sp>
        <p:nvSpPr>
          <p:cNvPr id="113" name="Source113"/>
          <p:cNvSpPr/>
          <p:nvPr/>
        </p:nvSpPr>
        <p:spPr>
          <a:xfrm>
            <a:off x="3246120" y="20612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8909C"/>
                </a:solidFill>
              </a:rPr>
              <a:t>출처: GitHub Octoverse Report 2025</a:t>
            </a:r>
          </a:p>
        </p:txBody>
      </p:sp>
      <p:sp>
        <p:nvSpPr>
          <p:cNvPr id="114" name="CardBg114_"/>
          <p:cNvSpPr/>
          <p:nvPr/>
        </p:nvSpPr>
        <p:spPr>
          <a:xfrm>
            <a:off x="6040000" y="700000"/>
            <a:ext cx="2800000" cy="1680000"/>
          </a:xfrm>
          <a:prstGeom prst="rect">
            <a:avLst/>
          </a:prstGeom>
          <a:solidFill>
            <a:srgbClr val="FBE9E7"/>
          </a:solidFill>
          <a:ln w="2540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5" name="AccentBar115"/>
          <p:cNvSpPr/>
          <p:nvPr/>
        </p:nvSpPr>
        <p:spPr>
          <a:xfrm>
            <a:off x="6040000" y="700000"/>
            <a:ext cx="2800000" cy="90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BigNum116"/>
          <p:cNvSpPr/>
          <p:nvPr/>
        </p:nvSpPr>
        <p:spPr>
          <a:xfrm>
            <a:off x="5989320" y="941248"/>
            <a:ext cx="260604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BF360C"/>
                </a:solidFill>
              </a:rPr>
              <a:t>2.74</a:t>
            </a:r>
            <a:r>
              <a:rPr lang="ko-KR" altLang="en-US" sz="5400" b="1" dirty="0">
                <a:solidFill>
                  <a:srgbClr val="BF360C"/>
                </a:solidFill>
              </a:rPr>
              <a:t>배</a:t>
            </a:r>
            <a:endParaRPr lang="en-US" sz="6400" b="1" dirty="0">
              <a:solidFill>
                <a:srgbClr val="BF360C"/>
              </a:solidFill>
            </a:endParaRPr>
          </a:p>
        </p:txBody>
      </p:sp>
      <p:sp>
        <p:nvSpPr>
          <p:cNvPr id="117" name="BarTrack117"/>
          <p:cNvSpPr/>
          <p:nvPr/>
        </p:nvSpPr>
        <p:spPr>
          <a:xfrm>
            <a:off x="6080760" y="1661248"/>
            <a:ext cx="2423160" cy="140000"/>
          </a:xfrm>
          <a:prstGeom prst="roundRect">
            <a:avLst>
              <a:gd name="adj" fmla="val 50000"/>
            </a:avLst>
          </a:prstGeom>
          <a:solidFill>
            <a:srgbClr val="FFCCB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BarFill118"/>
          <p:cNvSpPr/>
          <p:nvPr/>
        </p:nvSpPr>
        <p:spPr>
          <a:xfrm>
            <a:off x="6080760" y="1661248"/>
            <a:ext cx="2205075" cy="140000"/>
          </a:xfrm>
          <a:prstGeom prst="roundRect">
            <a:avLst>
              <a:gd name="adj" fmla="val 50000"/>
            </a:avLst>
          </a:prstGeom>
          <a:solidFill>
            <a:srgbClr val="BF360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Label119"/>
          <p:cNvSpPr/>
          <p:nvPr/>
        </p:nvSpPr>
        <p:spPr>
          <a:xfrm>
            <a:off x="6080760" y="1851248"/>
            <a:ext cx="242316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sz="950" b="0" dirty="0">
                <a:solidFill>
                  <a:srgbClr val="37474F"/>
                </a:solidFill>
              </a:rPr>
              <a:t>AI 코드의 보안 취약점 발생률</a:t>
            </a:r>
          </a:p>
        </p:txBody>
      </p:sp>
      <p:sp>
        <p:nvSpPr>
          <p:cNvPr id="120" name="Source120"/>
          <p:cNvSpPr/>
          <p:nvPr/>
        </p:nvSpPr>
        <p:spPr>
          <a:xfrm>
            <a:off x="6080760" y="20612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8909C"/>
                </a:solidFill>
              </a:rPr>
              <a:t>출처: CodeRabbit Security Analysis 2025</a:t>
            </a:r>
          </a:p>
        </p:txBody>
      </p:sp>
      <p:sp>
        <p:nvSpPr>
          <p:cNvPr id="21" name="Shape 19"/>
          <p:cNvSpPr/>
          <p:nvPr/>
        </p:nvSpPr>
        <p:spPr>
          <a:xfrm>
            <a:off x="320040" y="2487168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20040" y="2487168"/>
            <a:ext cx="4114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11480" y="2487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 확산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21792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438"/>
                </a:solidFill>
              </a:rPr>
              <a:t>AI에 개발 위임이 일상화  ―  경향신문 2025.03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364992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21792" y="33284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438"/>
                </a:solidFill>
              </a:rPr>
              <a:t>비개발자도 앱 제작 가능  ―  매일경제 2025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803904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21792" y="3767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438"/>
                </a:solidFill>
              </a:rPr>
              <a:t>바이브 코딩 직접 해보니  ―  동아일보 2026.02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242816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21792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438"/>
                </a:solidFill>
              </a:rPr>
              <a:t>2026 바이브 코딩 로드맵  ―  요즘IT 2026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2487168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709160" y="2487168"/>
            <a:ext cx="411480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800600" y="2487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한계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2926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438"/>
                </a:solidFill>
              </a:rPr>
              <a:t>🔓  보안 취약점 무방비  ―  CIO Korea 2025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00600" y="3520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438"/>
                </a:solidFill>
              </a:rPr>
              <a:t>🚧  배포 직전에서 대부분 멈춤  ―  김호광 칼럼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00600" y="4114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438"/>
                </a:solidFill>
              </a:rPr>
              <a:t>🔄  "초고수 선호" 역설  ―  연합뉴스 2026.01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0040" y="4846320"/>
            <a:ext cx="850392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20040" y="48463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565C0"/>
                </a:solidFill>
              </a:rPr>
              <a:t>→  ReCoder는 이 ‘</a:t>
            </a:r>
            <a:r>
              <a:rPr lang="ko-KR" altLang="en-US" sz="1100" b="1" i="1" dirty="0">
                <a:solidFill>
                  <a:srgbClr val="1565C0"/>
                </a:solidFill>
              </a:rPr>
              <a:t>한계 </a:t>
            </a:r>
            <a:r>
              <a:rPr lang="en-US" sz="1100" b="1" i="1" dirty="0" err="1">
                <a:solidFill>
                  <a:srgbClr val="1565C0"/>
                </a:solidFill>
              </a:rPr>
              <a:t>구간'을</a:t>
            </a:r>
            <a:r>
              <a:rPr lang="en-US" sz="1100" b="1" i="1" dirty="0">
                <a:solidFill>
                  <a:srgbClr val="1565C0"/>
                </a:solidFill>
              </a:rPr>
              <a:t> 해결합니다.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EADD4"/>
                </a:solidFill>
              </a:rPr>
              <a:t>02  /  프로젝트 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왜 ReCoder인가?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3931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393192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11480" y="841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  기존 개발 방식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35024"/>
            <a:ext cx="164592" cy="16459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2984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438"/>
                </a:solidFill>
              </a:rPr>
              <a:t>에러 발생 → 직접 복사·붙여넣기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1993392"/>
            <a:ext cx="164592" cy="16459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9933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19568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438"/>
                </a:solidFill>
              </a:rPr>
              <a:t>상황을 ChatGPT에 매번 설명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164592" cy="16459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3232" y="26151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438"/>
                </a:solidFill>
              </a:rPr>
              <a:t>관련 파일 수동 첨부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310128"/>
            <a:ext cx="164592" cy="16459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3310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3232" y="327355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438"/>
                </a:solidFill>
              </a:rPr>
              <a:t>AI 답변 수동으로 코드 반영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164592" cy="16459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968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3232" y="3931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438"/>
                </a:solidFill>
              </a:rPr>
              <a:t>Dockerfile·CI 별도 작업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97680" y="2377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97A7"/>
                </a:solidFill>
              </a:rPr>
              <a:t>→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4892040" y="841248"/>
            <a:ext cx="393192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892040" y="841248"/>
            <a:ext cx="3931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983480" y="841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  ReCoder 방식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0" y="1335024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0" y="13350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85232" y="12984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438"/>
                </a:solidFill>
              </a:rPr>
              <a:t>작업 맥락 자동 수집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0" y="1993392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029200" y="19933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5232" y="19568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438"/>
                </a:solidFill>
              </a:rPr>
              <a:t>민감정보 제거 + 품질 필터링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0" y="2651760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029200" y="2651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85232" y="26151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438"/>
                </a:solidFill>
              </a:rPr>
              <a:t>AI가 이해할 수 있는 형태로 정제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0" y="3310128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029200" y="3310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5232" y="327355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438"/>
                </a:solidFill>
              </a:rPr>
              <a:t>승인 기반 코드 수정 직접 적용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0" y="3968496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029200" y="3968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85232" y="3931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438"/>
                </a:solidFill>
              </a:rPr>
              <a:t>Dockerfile · docker-compose 자동 생성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solidFill>
            <a:srgbClr val="F0F4FF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1565C0"/>
                </a:solidFill>
              </a:rPr>
              <a:t>Human-in-the-loop  |  에러 발생 → 코드 수정 → 인프라 생성  완전 자동 연결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EADD4"/>
                </a:solidFill>
              </a:rPr>
              <a:t>03  /  포지셔닝</a:t>
            </a:r>
          </a:p>
        </p:txBody>
      </p:sp>
      <p:sp>
        <p:nvSpPr>
          <p:cNvPr id="5" name="Text 3"/>
          <p:cNvSpPr/>
          <p:nvPr/>
        </p:nvSpPr>
        <p:spPr>
          <a:xfrm>
            <a:off x="2743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ReCoder만 할 수 있는 것</a:t>
            </a:r>
          </a:p>
        </p:txBody>
      </p:sp>
      <p:sp>
        <p:nvSpPr>
          <p:cNvPr id="6" name="R6"/>
          <p:cNvSpPr/>
          <p:nvPr/>
        </p:nvSpPr>
        <p:spPr>
          <a:xfrm>
            <a:off x="274320" y="804672"/>
            <a:ext cx="2286000" cy="3657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7"/>
          <p:cNvSpPr/>
          <p:nvPr/>
        </p:nvSpPr>
        <p:spPr>
          <a:xfrm>
            <a:off x="274320" y="80467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FFFFFF"/>
                </a:solidFill>
              </a:rPr>
              <a:t>비교 항목</a:t>
            </a:r>
          </a:p>
        </p:txBody>
      </p:sp>
      <p:sp>
        <p:nvSpPr>
          <p:cNvPr id="8" name="R8"/>
          <p:cNvSpPr/>
          <p:nvPr/>
        </p:nvSpPr>
        <p:spPr>
          <a:xfrm>
            <a:off x="2651760" y="804672"/>
            <a:ext cx="1874520" cy="3657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9"/>
          <p:cNvSpPr/>
          <p:nvPr/>
        </p:nvSpPr>
        <p:spPr>
          <a:xfrm>
            <a:off x="2651760" y="804672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FFFFFF"/>
                </a:solidFill>
              </a:rPr>
              <a:t>GitHub Copilot</a:t>
            </a:r>
          </a:p>
        </p:txBody>
      </p:sp>
      <p:sp>
        <p:nvSpPr>
          <p:cNvPr id="10" name="R10"/>
          <p:cNvSpPr/>
          <p:nvPr/>
        </p:nvSpPr>
        <p:spPr>
          <a:xfrm>
            <a:off x="4617720" y="804672"/>
            <a:ext cx="1527048" cy="3657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11"/>
          <p:cNvSpPr/>
          <p:nvPr/>
        </p:nvSpPr>
        <p:spPr>
          <a:xfrm>
            <a:off x="4617720" y="804672"/>
            <a:ext cx="152704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FFFFFF"/>
                </a:solidFill>
              </a:rPr>
              <a:t>Cursor</a:t>
            </a:r>
          </a:p>
        </p:txBody>
      </p:sp>
      <p:sp>
        <p:nvSpPr>
          <p:cNvPr id="12" name="R12"/>
          <p:cNvSpPr/>
          <p:nvPr/>
        </p:nvSpPr>
        <p:spPr>
          <a:xfrm>
            <a:off x="6236208" y="804672"/>
            <a:ext cx="2724912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13"/>
          <p:cNvSpPr/>
          <p:nvPr/>
        </p:nvSpPr>
        <p:spPr>
          <a:xfrm>
            <a:off x="6236208" y="804672"/>
            <a:ext cx="2724912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200" b="1" dirty="0" err="1">
                <a:solidFill>
                  <a:srgbClr val="0097A7"/>
                </a:solidFill>
              </a:rPr>
              <a:t>ReCoder</a:t>
            </a:r>
            <a:r>
              <a:rPr lang="ko-KR" sz="1200" b="1" dirty="0">
                <a:solidFill>
                  <a:srgbClr val="0097A7"/>
                </a:solidFill>
              </a:rPr>
              <a:t> </a:t>
            </a:r>
          </a:p>
        </p:txBody>
      </p:sp>
      <p:sp>
        <p:nvSpPr>
          <p:cNvPr id="14" name="R14"/>
          <p:cNvSpPr/>
          <p:nvPr/>
        </p:nvSpPr>
        <p:spPr>
          <a:xfrm>
            <a:off x="274320" y="1170432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15"/>
          <p:cNvSpPr/>
          <p:nvPr/>
        </p:nvSpPr>
        <p:spPr>
          <a:xfrm>
            <a:off x="310896" y="1170432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오류 감지</a:t>
            </a:r>
          </a:p>
        </p:txBody>
      </p:sp>
      <p:sp>
        <p:nvSpPr>
          <p:cNvPr id="16" name="R16"/>
          <p:cNvSpPr/>
          <p:nvPr/>
        </p:nvSpPr>
        <p:spPr>
          <a:xfrm>
            <a:off x="2651760" y="1170432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17"/>
          <p:cNvSpPr/>
          <p:nvPr/>
        </p:nvSpPr>
        <p:spPr>
          <a:xfrm>
            <a:off x="2688336" y="1170432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C62828"/>
                </a:solidFill>
              </a:rPr>
              <a:t>Autofix · 코드 보조</a:t>
            </a:r>
          </a:p>
        </p:txBody>
      </p:sp>
      <p:sp>
        <p:nvSpPr>
          <p:cNvPr id="18" name="R18"/>
          <p:cNvSpPr/>
          <p:nvPr/>
        </p:nvSpPr>
        <p:spPr>
          <a:xfrm>
            <a:off x="4617720" y="1170432"/>
            <a:ext cx="152704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19"/>
          <p:cNvSpPr/>
          <p:nvPr/>
        </p:nvSpPr>
        <p:spPr>
          <a:xfrm>
            <a:off x="4654296" y="1170432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편집기 채팅 보조</a:t>
            </a:r>
          </a:p>
        </p:txBody>
      </p:sp>
      <p:sp>
        <p:nvSpPr>
          <p:cNvPr id="20" name="R20"/>
          <p:cNvSpPr/>
          <p:nvPr/>
        </p:nvSpPr>
        <p:spPr>
          <a:xfrm>
            <a:off x="6236208" y="1170432"/>
            <a:ext cx="2724912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21"/>
          <p:cNvSpPr/>
          <p:nvPr/>
        </p:nvSpPr>
        <p:spPr>
          <a:xfrm>
            <a:off x="6272784" y="117043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1565C0"/>
                </a:solidFill>
              </a:rPr>
              <a:t>✔ 터미널·UIA·OCR 자동</a:t>
            </a:r>
          </a:p>
        </p:txBody>
      </p:sp>
      <p:sp>
        <p:nvSpPr>
          <p:cNvPr id="22" name="R22"/>
          <p:cNvSpPr/>
          <p:nvPr/>
        </p:nvSpPr>
        <p:spPr>
          <a:xfrm>
            <a:off x="274320" y="1627632"/>
            <a:ext cx="2286000" cy="457200"/>
          </a:xfrm>
          <a:prstGeom prst="rect">
            <a:avLst/>
          </a:prstGeom>
          <a:solidFill>
            <a:srgbClr val="F8FAFE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23"/>
          <p:cNvSpPr/>
          <p:nvPr/>
        </p:nvSpPr>
        <p:spPr>
          <a:xfrm>
            <a:off x="310896" y="1627632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배포</a:t>
            </a:r>
          </a:p>
        </p:txBody>
      </p:sp>
      <p:sp>
        <p:nvSpPr>
          <p:cNvPr id="24" name="R24"/>
          <p:cNvSpPr/>
          <p:nvPr/>
        </p:nvSpPr>
        <p:spPr>
          <a:xfrm>
            <a:off x="2651760" y="1627632"/>
            <a:ext cx="1874520" cy="457200"/>
          </a:xfrm>
          <a:prstGeom prst="rect">
            <a:avLst/>
          </a:prstGeom>
          <a:solidFill>
            <a:srgbClr val="F8FAFE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25"/>
          <p:cNvSpPr/>
          <p:nvPr/>
        </p:nvSpPr>
        <p:spPr>
          <a:xfrm>
            <a:off x="2688336" y="1627632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C62828"/>
                </a:solidFill>
              </a:rPr>
              <a:t>핵심 기능 아님</a:t>
            </a:r>
          </a:p>
        </p:txBody>
      </p:sp>
      <p:sp>
        <p:nvSpPr>
          <p:cNvPr id="26" name="R26"/>
          <p:cNvSpPr/>
          <p:nvPr/>
        </p:nvSpPr>
        <p:spPr>
          <a:xfrm>
            <a:off x="4617720" y="1627632"/>
            <a:ext cx="1527048" cy="457200"/>
          </a:xfrm>
          <a:prstGeom prst="rect">
            <a:avLst/>
          </a:prstGeom>
          <a:solidFill>
            <a:srgbClr val="F8FAFE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27"/>
          <p:cNvSpPr/>
          <p:nvPr/>
        </p:nvSpPr>
        <p:spPr>
          <a:xfrm>
            <a:off x="4654296" y="1627632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C62828"/>
                </a:solidFill>
              </a:rPr>
              <a:t>외부 워크플로 보조</a:t>
            </a:r>
          </a:p>
        </p:txBody>
      </p:sp>
      <p:sp>
        <p:nvSpPr>
          <p:cNvPr id="28" name="R28"/>
          <p:cNvSpPr/>
          <p:nvPr/>
        </p:nvSpPr>
        <p:spPr>
          <a:xfrm>
            <a:off x="6236208" y="1627632"/>
            <a:ext cx="2724912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29"/>
          <p:cNvSpPr/>
          <p:nvPr/>
        </p:nvSpPr>
        <p:spPr>
          <a:xfrm>
            <a:off x="6272784" y="162763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1565C0"/>
                </a:solidFill>
              </a:rPr>
              <a:t>✔ Docker·EC2·SSH·Health Check</a:t>
            </a:r>
          </a:p>
        </p:txBody>
      </p:sp>
      <p:sp>
        <p:nvSpPr>
          <p:cNvPr id="30" name="R30"/>
          <p:cNvSpPr/>
          <p:nvPr/>
        </p:nvSpPr>
        <p:spPr>
          <a:xfrm>
            <a:off x="274320" y="2084832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31"/>
          <p:cNvSpPr/>
          <p:nvPr/>
        </p:nvSpPr>
        <p:spPr>
          <a:xfrm>
            <a:off x="310896" y="2084832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코드 적용</a:t>
            </a:r>
          </a:p>
        </p:txBody>
      </p:sp>
      <p:sp>
        <p:nvSpPr>
          <p:cNvPr id="32" name="R32"/>
          <p:cNvSpPr/>
          <p:nvPr/>
        </p:nvSpPr>
        <p:spPr>
          <a:xfrm>
            <a:off x="2651760" y="2084832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33"/>
          <p:cNvSpPr/>
          <p:nvPr/>
        </p:nvSpPr>
        <p:spPr>
          <a:xfrm>
            <a:off x="2688336" y="2084832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제안 · Autofix</a:t>
            </a:r>
          </a:p>
        </p:txBody>
      </p:sp>
      <p:sp>
        <p:nvSpPr>
          <p:cNvPr id="34" name="R34"/>
          <p:cNvSpPr/>
          <p:nvPr/>
        </p:nvSpPr>
        <p:spPr>
          <a:xfrm>
            <a:off x="4617720" y="2084832"/>
            <a:ext cx="152704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35"/>
          <p:cNvSpPr/>
          <p:nvPr/>
        </p:nvSpPr>
        <p:spPr>
          <a:xfrm>
            <a:off x="4654296" y="2084832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인라인 편집</a:t>
            </a:r>
          </a:p>
        </p:txBody>
      </p:sp>
      <p:sp>
        <p:nvSpPr>
          <p:cNvPr id="36" name="R36"/>
          <p:cNvSpPr/>
          <p:nvPr/>
        </p:nvSpPr>
        <p:spPr>
          <a:xfrm>
            <a:off x="6236208" y="2084832"/>
            <a:ext cx="2724912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37"/>
          <p:cNvSpPr/>
          <p:nvPr/>
        </p:nvSpPr>
        <p:spPr>
          <a:xfrm>
            <a:off x="6272784" y="208483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1565C0"/>
                </a:solidFill>
              </a:rPr>
              <a:t>✔ PatchProposal · unified diff · 승인</a:t>
            </a:r>
          </a:p>
        </p:txBody>
      </p:sp>
      <p:sp>
        <p:nvSpPr>
          <p:cNvPr id="38" name="R38"/>
          <p:cNvSpPr/>
          <p:nvPr/>
        </p:nvSpPr>
        <p:spPr>
          <a:xfrm>
            <a:off x="274320" y="2542032"/>
            <a:ext cx="2286000" cy="457200"/>
          </a:xfrm>
          <a:prstGeom prst="rect">
            <a:avLst/>
          </a:prstGeom>
          <a:solidFill>
            <a:srgbClr val="F8FAFE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39"/>
          <p:cNvSpPr/>
          <p:nvPr/>
        </p:nvSpPr>
        <p:spPr>
          <a:xfrm>
            <a:off x="310896" y="2542032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보안 처리</a:t>
            </a:r>
          </a:p>
        </p:txBody>
      </p:sp>
      <p:sp>
        <p:nvSpPr>
          <p:cNvPr id="40" name="R40"/>
          <p:cNvSpPr/>
          <p:nvPr/>
        </p:nvSpPr>
        <p:spPr>
          <a:xfrm>
            <a:off x="2651760" y="2542032"/>
            <a:ext cx="1874520" cy="457200"/>
          </a:xfrm>
          <a:prstGeom prst="rect">
            <a:avLst/>
          </a:prstGeom>
          <a:solidFill>
            <a:srgbClr val="F8FAFE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41"/>
          <p:cNvSpPr/>
          <p:nvPr/>
        </p:nvSpPr>
        <p:spPr>
          <a:xfrm>
            <a:off x="2688336" y="2542032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C62828"/>
                </a:solidFill>
              </a:rPr>
              <a:t>정책 · 가이드 의존</a:t>
            </a:r>
          </a:p>
        </p:txBody>
      </p:sp>
      <p:sp>
        <p:nvSpPr>
          <p:cNvPr id="42" name="R42"/>
          <p:cNvSpPr/>
          <p:nvPr/>
        </p:nvSpPr>
        <p:spPr>
          <a:xfrm>
            <a:off x="4617720" y="2542032"/>
            <a:ext cx="1527048" cy="457200"/>
          </a:xfrm>
          <a:prstGeom prst="rect">
            <a:avLst/>
          </a:prstGeom>
          <a:solidFill>
            <a:srgbClr val="F8FAFE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43"/>
          <p:cNvSpPr/>
          <p:nvPr/>
        </p:nvSpPr>
        <p:spPr>
          <a:xfrm>
            <a:off x="4654296" y="2542032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C62828"/>
                </a:solidFill>
              </a:rPr>
              <a:t>Privacy Mode</a:t>
            </a:r>
          </a:p>
        </p:txBody>
      </p:sp>
      <p:sp>
        <p:nvSpPr>
          <p:cNvPr id="44" name="R44"/>
          <p:cNvSpPr/>
          <p:nvPr/>
        </p:nvSpPr>
        <p:spPr>
          <a:xfrm>
            <a:off x="6236208" y="2542032"/>
            <a:ext cx="2724912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45"/>
          <p:cNvSpPr/>
          <p:nvPr/>
        </p:nvSpPr>
        <p:spPr>
          <a:xfrm>
            <a:off x="6272784" y="254203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1565C0"/>
                </a:solidFill>
              </a:rPr>
              <a:t>✔ 16종 마스킹 · Credential · 로컬 우선</a:t>
            </a:r>
          </a:p>
        </p:txBody>
      </p:sp>
      <p:sp>
        <p:nvSpPr>
          <p:cNvPr id="46" name="R46"/>
          <p:cNvSpPr/>
          <p:nvPr/>
        </p:nvSpPr>
        <p:spPr>
          <a:xfrm>
            <a:off x="274320" y="4636008"/>
            <a:ext cx="28163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47"/>
          <p:cNvSpPr/>
          <p:nvPr/>
        </p:nvSpPr>
        <p:spPr>
          <a:xfrm>
            <a:off x="274320" y="4636008"/>
            <a:ext cx="2816352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48" name="R48"/>
          <p:cNvSpPr/>
          <p:nvPr/>
        </p:nvSpPr>
        <p:spPr>
          <a:xfrm>
            <a:off x="3227832" y="4636008"/>
            <a:ext cx="28163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49"/>
          <p:cNvSpPr/>
          <p:nvPr/>
        </p:nvSpPr>
        <p:spPr>
          <a:xfrm>
            <a:off x="3227832" y="4636008"/>
            <a:ext cx="2816352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50" name="R50"/>
          <p:cNvSpPr/>
          <p:nvPr/>
        </p:nvSpPr>
        <p:spPr>
          <a:xfrm>
            <a:off x="6181344" y="4636008"/>
            <a:ext cx="28163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51"/>
          <p:cNvSpPr/>
          <p:nvPr/>
        </p:nvSpPr>
        <p:spPr>
          <a:xfrm>
            <a:off x="6181344" y="4636008"/>
            <a:ext cx="2816352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98" name="FootText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EADD4"/>
                </a:solidFill>
              </a:rPr>
              <a:t>04  /  핵심 기능</a:t>
            </a:r>
          </a:p>
        </p:txBody>
      </p:sp>
      <p:sp>
        <p:nvSpPr>
          <p:cNvPr id="5" name="Text 3"/>
          <p:cNvSpPr/>
          <p:nvPr/>
        </p:nvSpPr>
        <p:spPr>
          <a:xfrm>
            <a:off x="2743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4단계 자동화 파이프라인</a:t>
            </a:r>
          </a:p>
        </p:txBody>
      </p:sp>
      <p:sp>
        <p:nvSpPr>
          <p:cNvPr id="10" name="R10"/>
          <p:cNvSpPr/>
          <p:nvPr/>
        </p:nvSpPr>
        <p:spPr>
          <a:xfrm>
            <a:off x="274320" y="841248"/>
            <a:ext cx="2057400" cy="3657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R11"/>
          <p:cNvSpPr/>
          <p:nvPr/>
        </p:nvSpPr>
        <p:spPr>
          <a:xfrm>
            <a:off x="274320" y="841248"/>
            <a:ext cx="2057400" cy="1828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12"/>
          <p:cNvSpPr/>
          <p:nvPr/>
        </p:nvSpPr>
        <p:spPr>
          <a:xfrm>
            <a:off x="274320" y="841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13"/>
          <p:cNvSpPr/>
          <p:nvPr/>
        </p:nvSpPr>
        <p:spPr>
          <a:xfrm>
            <a:off x="274320" y="1091248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3200" dirty="0">
                <a:solidFill>
                  <a:srgbClr val="1565C0"/>
                </a:solidFill>
              </a:rPr>
              <a:t>🔍</a:t>
            </a:r>
          </a:p>
        </p:txBody>
      </p:sp>
      <p:sp>
        <p:nvSpPr>
          <p:cNvPr id="14" name="T14"/>
          <p:cNvSpPr/>
          <p:nvPr/>
        </p:nvSpPr>
        <p:spPr>
          <a:xfrm>
            <a:off x="274320" y="1841248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600" b="1" dirty="0">
                <a:solidFill>
                  <a:srgbClr val="1565C0"/>
                </a:solidFill>
              </a:rPr>
              <a:t>감지</a:t>
            </a:r>
          </a:p>
        </p:txBody>
      </p:sp>
      <p:sp>
        <p:nvSpPr>
          <p:cNvPr id="15" name="T15"/>
          <p:cNvSpPr/>
          <p:nvPr/>
        </p:nvSpPr>
        <p:spPr>
          <a:xfrm>
            <a:off x="365760" y="239124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에러 발생 즉시</a:t>
            </a:r>
          </a:p>
        </p:txBody>
      </p:sp>
      <p:sp>
        <p:nvSpPr>
          <p:cNvPr id="16" name="T16"/>
          <p:cNvSpPr/>
          <p:nvPr/>
        </p:nvSpPr>
        <p:spPr>
          <a:xfrm>
            <a:off x="365760" y="279124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터미널 · 윈도우 자동 캡처</a:t>
            </a:r>
          </a:p>
        </p:txBody>
      </p:sp>
      <p:sp>
        <p:nvSpPr>
          <p:cNvPr id="17" name="T17"/>
          <p:cNvSpPr/>
          <p:nvPr/>
        </p:nvSpPr>
        <p:spPr>
          <a:xfrm>
            <a:off x="2228870" y="2641248"/>
            <a:ext cx="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3000" b="1" dirty="0">
                <a:solidFill>
                  <a:srgbClr val="9E9E9E"/>
                </a:solidFill>
              </a:rPr>
              <a:t>›</a:t>
            </a:r>
          </a:p>
        </p:txBody>
      </p:sp>
      <p:sp>
        <p:nvSpPr>
          <p:cNvPr id="18" name="R18"/>
          <p:cNvSpPr/>
          <p:nvPr/>
        </p:nvSpPr>
        <p:spPr>
          <a:xfrm>
            <a:off x="2446020" y="841248"/>
            <a:ext cx="2057400" cy="3657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R19"/>
          <p:cNvSpPr/>
          <p:nvPr/>
        </p:nvSpPr>
        <p:spPr>
          <a:xfrm>
            <a:off x="2446020" y="841248"/>
            <a:ext cx="2057400" cy="1828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20"/>
          <p:cNvSpPr/>
          <p:nvPr/>
        </p:nvSpPr>
        <p:spPr>
          <a:xfrm>
            <a:off x="2446020" y="841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21"/>
          <p:cNvSpPr/>
          <p:nvPr/>
        </p:nvSpPr>
        <p:spPr>
          <a:xfrm>
            <a:off x="2446020" y="1091248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3200" dirty="0">
                <a:solidFill>
                  <a:srgbClr val="0097A7"/>
                </a:solidFill>
              </a:rPr>
              <a:t>🛡️</a:t>
            </a:r>
          </a:p>
        </p:txBody>
      </p:sp>
      <p:sp>
        <p:nvSpPr>
          <p:cNvPr id="22" name="T22"/>
          <p:cNvSpPr/>
          <p:nvPr/>
        </p:nvSpPr>
        <p:spPr>
          <a:xfrm>
            <a:off x="2446020" y="1841248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600" b="1" dirty="0">
                <a:solidFill>
                  <a:srgbClr val="0097A7"/>
                </a:solidFill>
              </a:rPr>
              <a:t>보안</a:t>
            </a:r>
          </a:p>
        </p:txBody>
      </p:sp>
      <p:sp>
        <p:nvSpPr>
          <p:cNvPr id="23" name="T23"/>
          <p:cNvSpPr/>
          <p:nvPr/>
        </p:nvSpPr>
        <p:spPr>
          <a:xfrm>
            <a:off x="2537460" y="239124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민감정보 마스킹 후</a:t>
            </a:r>
          </a:p>
        </p:txBody>
      </p:sp>
      <p:sp>
        <p:nvSpPr>
          <p:cNvPr id="24" name="T24"/>
          <p:cNvSpPr/>
          <p:nvPr/>
        </p:nvSpPr>
        <p:spPr>
          <a:xfrm>
            <a:off x="2537460" y="279124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AI에 전달할 수준으로 정제</a:t>
            </a:r>
          </a:p>
        </p:txBody>
      </p:sp>
      <p:sp>
        <p:nvSpPr>
          <p:cNvPr id="25" name="T25"/>
          <p:cNvSpPr/>
          <p:nvPr/>
        </p:nvSpPr>
        <p:spPr>
          <a:xfrm>
            <a:off x="4400570" y="2641248"/>
            <a:ext cx="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3000" b="1" dirty="0">
                <a:solidFill>
                  <a:srgbClr val="9E9E9E"/>
                </a:solidFill>
              </a:rPr>
              <a:t>›</a:t>
            </a:r>
          </a:p>
        </p:txBody>
      </p:sp>
      <p:sp>
        <p:nvSpPr>
          <p:cNvPr id="26" name="R26"/>
          <p:cNvSpPr/>
          <p:nvPr/>
        </p:nvSpPr>
        <p:spPr>
          <a:xfrm>
            <a:off x="4617720" y="841248"/>
            <a:ext cx="2057400" cy="3657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R27"/>
          <p:cNvSpPr/>
          <p:nvPr/>
        </p:nvSpPr>
        <p:spPr>
          <a:xfrm>
            <a:off x="4617720" y="841248"/>
            <a:ext cx="2057400" cy="18288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28"/>
          <p:cNvSpPr/>
          <p:nvPr/>
        </p:nvSpPr>
        <p:spPr>
          <a:xfrm>
            <a:off x="4617720" y="841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29"/>
          <p:cNvSpPr/>
          <p:nvPr/>
        </p:nvSpPr>
        <p:spPr>
          <a:xfrm>
            <a:off x="4617720" y="1091248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3200" dirty="0">
                <a:solidFill>
                  <a:srgbClr val="7C4DFF"/>
                </a:solidFill>
              </a:rPr>
              <a:t>✅</a:t>
            </a:r>
          </a:p>
        </p:txBody>
      </p:sp>
      <p:sp>
        <p:nvSpPr>
          <p:cNvPr id="30" name="T30"/>
          <p:cNvSpPr/>
          <p:nvPr/>
        </p:nvSpPr>
        <p:spPr>
          <a:xfrm>
            <a:off x="4617720" y="1841248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600" b="1" dirty="0">
                <a:solidFill>
                  <a:srgbClr val="7C4DFF"/>
                </a:solidFill>
              </a:rPr>
              <a:t>AI 분석 &amp; 승인</a:t>
            </a:r>
          </a:p>
        </p:txBody>
      </p:sp>
      <p:sp>
        <p:nvSpPr>
          <p:cNvPr id="31" name="T31"/>
          <p:cNvSpPr/>
          <p:nvPr/>
        </p:nvSpPr>
        <p:spPr>
          <a:xfrm>
            <a:off x="4709160" y="239124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Gemini Flash 수정 제안</a:t>
            </a:r>
          </a:p>
        </p:txBody>
      </p:sp>
      <p:sp>
        <p:nvSpPr>
          <p:cNvPr id="32" name="T32"/>
          <p:cNvSpPr/>
          <p:nvPr/>
        </p:nvSpPr>
        <p:spPr>
          <a:xfrm>
            <a:off x="4709160" y="279124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사용자 승인 기반 적용</a:t>
            </a:r>
          </a:p>
        </p:txBody>
      </p:sp>
      <p:sp>
        <p:nvSpPr>
          <p:cNvPr id="33" name="T33"/>
          <p:cNvSpPr/>
          <p:nvPr/>
        </p:nvSpPr>
        <p:spPr>
          <a:xfrm>
            <a:off x="6572270" y="2641248"/>
            <a:ext cx="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3000" b="1" dirty="0">
                <a:solidFill>
                  <a:srgbClr val="9E9E9E"/>
                </a:solidFill>
              </a:rPr>
              <a:t>›</a:t>
            </a:r>
          </a:p>
        </p:txBody>
      </p:sp>
      <p:sp>
        <p:nvSpPr>
          <p:cNvPr id="34" name="R34"/>
          <p:cNvSpPr/>
          <p:nvPr/>
        </p:nvSpPr>
        <p:spPr>
          <a:xfrm>
            <a:off x="6789420" y="841248"/>
            <a:ext cx="2057400" cy="3657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R35"/>
          <p:cNvSpPr/>
          <p:nvPr/>
        </p:nvSpPr>
        <p:spPr>
          <a:xfrm>
            <a:off x="6789420" y="841248"/>
            <a:ext cx="2057400" cy="1828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36"/>
          <p:cNvSpPr/>
          <p:nvPr/>
        </p:nvSpPr>
        <p:spPr>
          <a:xfrm>
            <a:off x="6789420" y="841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37"/>
          <p:cNvSpPr/>
          <p:nvPr/>
        </p:nvSpPr>
        <p:spPr>
          <a:xfrm>
            <a:off x="6789420" y="1091248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3200" dirty="0">
                <a:solidFill>
                  <a:srgbClr val="E65100"/>
                </a:solidFill>
              </a:rPr>
              <a:t>🚀</a:t>
            </a:r>
          </a:p>
        </p:txBody>
      </p:sp>
      <p:sp>
        <p:nvSpPr>
          <p:cNvPr id="38" name="T38"/>
          <p:cNvSpPr/>
          <p:nvPr/>
        </p:nvSpPr>
        <p:spPr>
          <a:xfrm>
            <a:off x="6789420" y="1841248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600" b="1" dirty="0">
                <a:solidFill>
                  <a:srgbClr val="E65100"/>
                </a:solidFill>
              </a:rPr>
              <a:t>인프라 자동화</a:t>
            </a:r>
          </a:p>
        </p:txBody>
      </p:sp>
      <p:sp>
        <p:nvSpPr>
          <p:cNvPr id="39" name="T39"/>
          <p:cNvSpPr/>
          <p:nvPr/>
        </p:nvSpPr>
        <p:spPr>
          <a:xfrm>
            <a:off x="6880860" y="239124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Dockerfile · docker-compose</a:t>
            </a:r>
          </a:p>
        </p:txBody>
      </p:sp>
      <p:sp>
        <p:nvSpPr>
          <p:cNvPr id="40" name="T40"/>
          <p:cNvSpPr/>
          <p:nvPr/>
        </p:nvSpPr>
        <p:spPr>
          <a:xfrm>
            <a:off x="6880860" y="279124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1C2438"/>
                </a:solidFill>
              </a:rPr>
              <a:t>원클릭 생성 및 저장</a:t>
            </a:r>
          </a:p>
        </p:txBody>
      </p:sp>
      <p:sp>
        <p:nvSpPr>
          <p:cNvPr id="99" name="FootBar"/>
          <p:cNvSpPr/>
          <p:nvPr/>
        </p:nvSpPr>
        <p:spPr>
          <a:xfrm>
            <a:off x="320040" y="4846320"/>
            <a:ext cx="850392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FootText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900" b="1" i="1" dirty="0">
                <a:solidFill>
                  <a:srgbClr val="1565C0"/>
                </a:solidFill>
              </a:rPr>
              <a:t>Human-in-the-Loop  |  에러 발생 → 코드 수정 → 인프라 생성  완전 자동 연결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4A7CA8"/>
                </a:solidFill>
              </a:rPr>
              <a:t>04  /  아키텍처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4-Layer 시스템 아키텍처</a:t>
            </a:r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603000"/>
            <a:ext cx="8686800" cy="3500000"/>
          </a:xfrm>
          <a:prstGeom prst="rect">
            <a:avLst/>
          </a:prstGeom>
        </p:spPr>
      </p:pic>
      <p:sp>
        <p:nvSpPr>
          <p:cNvPr id="7" name="DescBg"/>
          <p:cNvSpPr/>
          <p:nvPr/>
        </p:nvSpPr>
        <p:spPr>
          <a:xfrm>
            <a:off x="228600" y="4140000"/>
            <a:ext cx="8686800" cy="900000"/>
          </a:xfrm>
          <a:prstGeom prst="rect">
            <a:avLst/>
          </a:prstGeom>
          <a:solidFill>
            <a:srgbClr val="0D1829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sc1"/>
          <p:cNvSpPr/>
          <p:nvPr/>
        </p:nvSpPr>
        <p:spPr>
          <a:xfrm>
            <a:off x="365760" y="4160000"/>
            <a:ext cx="2800000" cy="8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000" b="1" dirty="0">
                <a:solidFill>
                  <a:srgbClr val="0097A7"/>
                </a:solidFill>
              </a:rPr>
              <a:t>Layer 1 — 모니터링</a:t>
            </a:r>
          </a:p>
          <a:p>
            <a:pPr marL="0" indent="0" algn="l">
              <a:buNone/>
            </a:pPr>
            <a:r>
              <a:rPr lang="ko-KR" sz="900" dirty="0">
                <a:solidFill>
                  <a:srgbClr val="A8C8E8"/>
                </a:solidFill>
              </a:rPr>
              <a:t>Window · UIA · 터미널 · Trigger</a:t>
            </a:r>
          </a:p>
        </p:txBody>
      </p:sp>
      <p:sp>
        <p:nvSpPr>
          <p:cNvPr id="9" name="Desc2"/>
          <p:cNvSpPr/>
          <p:nvPr/>
        </p:nvSpPr>
        <p:spPr>
          <a:xfrm>
            <a:off x="2800000" y="4160000"/>
            <a:ext cx="2800000" cy="8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000" b="1" dirty="0">
                <a:solidFill>
                  <a:srgbClr val="E91E63"/>
                </a:solidFill>
              </a:rPr>
              <a:t>Layer 2 — 보안 처리</a:t>
            </a:r>
          </a:p>
          <a:p>
            <a:pPr marL="0" indent="0" algn="l">
              <a:buNone/>
            </a:pPr>
            <a:r>
              <a:rPr lang="ko-KR" sz="900" dirty="0">
                <a:solidFill>
                  <a:srgbClr val="A8C8E8"/>
                </a:solidFill>
              </a:rPr>
              <a:t>마스킹 · Analyzer · FSM</a:t>
            </a:r>
          </a:p>
        </p:txBody>
      </p:sp>
      <p:sp>
        <p:nvSpPr>
          <p:cNvPr id="10" name="Desc3"/>
          <p:cNvSpPr/>
          <p:nvPr/>
        </p:nvSpPr>
        <p:spPr>
          <a:xfrm>
            <a:off x="5400000" y="4160000"/>
            <a:ext cx="1900000" cy="8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000" b="1" dirty="0">
                <a:solidFill>
                  <a:srgbClr val="9C27B0"/>
                </a:solidFill>
              </a:rPr>
              <a:t>Layer 3 — 실행</a:t>
            </a:r>
          </a:p>
          <a:p>
            <a:pPr marL="0" indent="0" algn="l">
              <a:buNone/>
            </a:pPr>
            <a:r>
              <a:rPr lang="ko-KR" sz="900" dirty="0">
                <a:solidFill>
                  <a:srgbClr val="A8C8E8"/>
                </a:solidFill>
              </a:rPr>
              <a:t>Agent · FastAPI · PyQt6</a:t>
            </a:r>
          </a:p>
        </p:txBody>
      </p:sp>
      <p:sp>
        <p:nvSpPr>
          <p:cNvPr id="11" name="Desc4"/>
          <p:cNvSpPr/>
          <p:nvPr/>
        </p:nvSpPr>
        <p:spPr>
          <a:xfrm>
            <a:off x="7200000" y="4160000"/>
            <a:ext cx="1600000" cy="8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000" b="1" dirty="0">
                <a:solidFill>
                  <a:srgbClr val="FF9800"/>
                </a:solidFill>
              </a:rPr>
              <a:t>Layer 4 — 저장</a:t>
            </a:r>
          </a:p>
          <a:p>
            <a:pPr marL="0" indent="0" algn="l">
              <a:buNone/>
            </a:pPr>
            <a:r>
              <a:rPr lang="ko-KR" sz="900" dirty="0">
                <a:solidFill>
                  <a:srgbClr val="A8C8E8"/>
                </a:solidFill>
              </a:rPr>
              <a:t>JSONL · S3 · Gemini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EADD4"/>
                </a:solidFill>
              </a:rPr>
              <a:t>05  /  데모 시나리오</a:t>
            </a:r>
          </a:p>
        </p:txBody>
      </p:sp>
      <p:sp>
        <p:nvSpPr>
          <p:cNvPr id="5" name="Text 3"/>
          <p:cNvSpPr/>
          <p:nvPr/>
        </p:nvSpPr>
        <p:spPr>
          <a:xfrm>
            <a:off x="2743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데모 1: 에러 감지 → AI 코드 자동 수정</a:t>
            </a:r>
          </a:p>
        </p:txBody>
      </p:sp>
      <p:sp>
        <p:nvSpPr>
          <p:cNvPr id="7" name="DemoLabel"/>
          <p:cNvSpPr/>
          <p:nvPr/>
        </p:nvSpPr>
        <p:spPr>
          <a:xfrm>
            <a:off x="274320" y="800000"/>
            <a:ext cx="8595360" cy="3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ko-KR" sz="2000" dirty="0">
              <a:solidFill>
                <a:srgbClr val="CCCCCC"/>
              </a:solidFill>
            </a:endParaRPr>
          </a:p>
        </p:txBody>
      </p:sp>
      <p:pic>
        <p:nvPicPr>
          <p:cNvPr id="9" name="1">
            <a:hlinkClick r:id="" action="ppaction://media"/>
            <a:extLst>
              <a:ext uri="{FF2B5EF4-FFF2-40B4-BE49-F238E27FC236}">
                <a16:creationId xmlns:a16="http://schemas.microsoft.com/office/drawing/2014/main" id="{88A12CDB-988A-0FC6-AB20-3D64EA0AAE6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85850" y="672084"/>
            <a:ext cx="6972300" cy="44714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04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EADD4"/>
                </a:solidFill>
              </a:rPr>
              <a:t>05  /  데모 시나리오</a:t>
            </a:r>
          </a:p>
        </p:txBody>
      </p:sp>
      <p:sp>
        <p:nvSpPr>
          <p:cNvPr id="5" name="Text 3"/>
          <p:cNvSpPr/>
          <p:nvPr/>
        </p:nvSpPr>
        <p:spPr>
          <a:xfrm>
            <a:off x="2743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데모 2: Docker 컨테이너 자동 생성</a:t>
            </a:r>
          </a:p>
        </p:txBody>
      </p:sp>
      <p:sp>
        <p:nvSpPr>
          <p:cNvPr id="10" name="T10"/>
          <p:cNvSpPr/>
          <p:nvPr/>
        </p:nvSpPr>
        <p:spPr>
          <a:xfrm>
            <a:off x="274320" y="800000"/>
            <a:ext cx="8595360" cy="38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endParaRPr lang="ko-KR" sz="2000" dirty="0">
              <a:solidFill>
                <a:srgbClr val="CCCCCC"/>
              </a:solidFill>
            </a:endParaRPr>
          </a:p>
        </p:txBody>
      </p:sp>
      <p:pic>
        <p:nvPicPr>
          <p:cNvPr id="6" name="2">
            <a:hlinkClick r:id="" action="ppaction://media"/>
            <a:extLst>
              <a:ext uri="{FF2B5EF4-FFF2-40B4-BE49-F238E27FC236}">
                <a16:creationId xmlns:a16="http://schemas.microsoft.com/office/drawing/2014/main" id="{6C528F2B-F212-6E63-3F2E-630B319D25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1250" y="656082"/>
            <a:ext cx="6921500" cy="44874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0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EADD4"/>
                </a:solidFill>
              </a:rPr>
              <a:t>05  /  데모 시나리오</a:t>
            </a:r>
          </a:p>
        </p:txBody>
      </p:sp>
      <p:sp>
        <p:nvSpPr>
          <p:cNvPr id="5" name="Text 3"/>
          <p:cNvSpPr/>
          <p:nvPr/>
        </p:nvSpPr>
        <p:spPr>
          <a:xfrm>
            <a:off x="2743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데모 3: GitHub 브랜치 커밋 · PR 생성</a:t>
            </a:r>
          </a:p>
        </p:txBody>
      </p:sp>
      <p:sp>
        <p:nvSpPr>
          <p:cNvPr id="11" name="T11"/>
          <p:cNvSpPr/>
          <p:nvPr/>
        </p:nvSpPr>
        <p:spPr>
          <a:xfrm>
            <a:off x="274320" y="800000"/>
            <a:ext cx="8595360" cy="38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endParaRPr lang="ko-KR" sz="2000" dirty="0">
              <a:solidFill>
                <a:srgbClr val="CCCCCC"/>
              </a:solidFill>
            </a:endParaRPr>
          </a:p>
        </p:txBody>
      </p:sp>
      <p:pic>
        <p:nvPicPr>
          <p:cNvPr id="6" name="3">
            <a:hlinkClick r:id="" action="ppaction://media"/>
            <a:extLst>
              <a:ext uri="{FF2B5EF4-FFF2-40B4-BE49-F238E27FC236}">
                <a16:creationId xmlns:a16="http://schemas.microsoft.com/office/drawing/2014/main" id="{72283F60-EE5C-E7D9-654F-ABBB52F56C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8550" y="672084"/>
            <a:ext cx="6946900" cy="44714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45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EADD4"/>
                </a:solidFill>
              </a:rPr>
              <a:t>06  /  개발 로드맵</a:t>
            </a:r>
          </a:p>
        </p:txBody>
      </p:sp>
      <p:sp>
        <p:nvSpPr>
          <p:cNvPr id="5" name="Text 3"/>
          <p:cNvSpPr/>
          <p:nvPr/>
        </p:nvSpPr>
        <p:spPr>
          <a:xfrm>
            <a:off x="2743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1학기 MVP → 2학기 고도화</a:t>
            </a:r>
          </a:p>
        </p:txBody>
      </p:sp>
      <p:sp>
        <p:nvSpPr>
          <p:cNvPr id="10" name="R10"/>
          <p:cNvSpPr/>
          <p:nvPr/>
        </p:nvSpPr>
        <p:spPr>
          <a:xfrm>
            <a:off x="274320" y="800000"/>
            <a:ext cx="4160000" cy="3900000"/>
          </a:xfrm>
          <a:prstGeom prst="rect">
            <a:avLst/>
          </a:prstGeom>
          <a:solidFill>
            <a:srgbClr val="EBF5FB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R11"/>
          <p:cNvSpPr/>
          <p:nvPr/>
        </p:nvSpPr>
        <p:spPr>
          <a:xfrm>
            <a:off x="274320" y="800000"/>
            <a:ext cx="4160000" cy="2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12"/>
          <p:cNvSpPr/>
          <p:nvPr/>
        </p:nvSpPr>
        <p:spPr>
          <a:xfrm>
            <a:off x="274320" y="800000"/>
            <a:ext cx="4160000" cy="25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400" b="1" dirty="0">
                <a:solidFill>
                  <a:srgbClr val="FFFFFF"/>
                </a:solidFill>
              </a:rPr>
              <a:t>✅  1학기  —  MVP 구현 완료</a:t>
            </a:r>
          </a:p>
        </p:txBody>
      </p:sp>
      <p:sp>
        <p:nvSpPr>
          <p:cNvPr id="20" name="T20"/>
          <p:cNvSpPr/>
          <p:nvPr/>
        </p:nvSpPr>
        <p:spPr>
          <a:xfrm>
            <a:off x="410000" y="1100000"/>
            <a:ext cx="3900000" cy="26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565C0"/>
                </a:solidFill>
              </a:rPr>
              <a:t>🔍  에러 자동 감지</a:t>
            </a:r>
          </a:p>
        </p:txBody>
      </p:sp>
      <p:sp>
        <p:nvSpPr>
          <p:cNvPr id="21" name="T21"/>
          <p:cNvSpPr/>
          <p:nvPr/>
        </p:nvSpPr>
        <p:spPr>
          <a:xfrm>
            <a:off x="410000" y="1340000"/>
            <a:ext cx="3900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00" dirty="0">
                <a:solidFill>
                  <a:srgbClr val="546E7A"/>
                </a:solidFill>
              </a:rPr>
              <a:t>터미널 · 윈도우 실시간 모니터링</a:t>
            </a:r>
          </a:p>
        </p:txBody>
      </p:sp>
      <p:sp>
        <p:nvSpPr>
          <p:cNvPr id="22" name="T22"/>
          <p:cNvSpPr/>
          <p:nvPr/>
        </p:nvSpPr>
        <p:spPr>
          <a:xfrm>
            <a:off x="410000" y="1580000"/>
            <a:ext cx="3900000" cy="26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565C0"/>
                </a:solidFill>
              </a:rPr>
              <a:t>🛡️  보안 처리</a:t>
            </a:r>
          </a:p>
        </p:txBody>
      </p:sp>
      <p:sp>
        <p:nvSpPr>
          <p:cNvPr id="23" name="T23"/>
          <p:cNvSpPr/>
          <p:nvPr/>
        </p:nvSpPr>
        <p:spPr>
          <a:xfrm>
            <a:off x="410000" y="1820000"/>
            <a:ext cx="3900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00" dirty="0">
                <a:solidFill>
                  <a:srgbClr val="546E7A"/>
                </a:solidFill>
              </a:rPr>
              <a:t>16종 패턴 마스킹 · 품질 게이트</a:t>
            </a:r>
          </a:p>
        </p:txBody>
      </p:sp>
      <p:sp>
        <p:nvSpPr>
          <p:cNvPr id="24" name="T24"/>
          <p:cNvSpPr/>
          <p:nvPr/>
        </p:nvSpPr>
        <p:spPr>
          <a:xfrm>
            <a:off x="410000" y="2060000"/>
            <a:ext cx="3900000" cy="26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565C0"/>
                </a:solidFill>
              </a:rPr>
              <a:t>🤖  AI 코드 수정</a:t>
            </a:r>
          </a:p>
        </p:txBody>
      </p:sp>
      <p:sp>
        <p:nvSpPr>
          <p:cNvPr id="25" name="T25"/>
          <p:cNvSpPr/>
          <p:nvPr/>
        </p:nvSpPr>
        <p:spPr>
          <a:xfrm>
            <a:off x="410000" y="2300000"/>
            <a:ext cx="3900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00" dirty="0">
                <a:solidFill>
                  <a:srgbClr val="546E7A"/>
                </a:solidFill>
              </a:rPr>
              <a:t>Gemini Flash PatchProposal · 승인 적용</a:t>
            </a:r>
          </a:p>
        </p:txBody>
      </p:sp>
      <p:sp>
        <p:nvSpPr>
          <p:cNvPr id="26" name="T26"/>
          <p:cNvSpPr/>
          <p:nvPr/>
        </p:nvSpPr>
        <p:spPr>
          <a:xfrm>
            <a:off x="410000" y="2540000"/>
            <a:ext cx="3900000" cy="26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565C0"/>
                </a:solidFill>
              </a:rPr>
              <a:t>🐳  인프라 자동화</a:t>
            </a:r>
          </a:p>
        </p:txBody>
      </p:sp>
      <p:sp>
        <p:nvSpPr>
          <p:cNvPr id="27" name="T27"/>
          <p:cNvSpPr/>
          <p:nvPr/>
        </p:nvSpPr>
        <p:spPr>
          <a:xfrm>
            <a:off x="410000" y="2780000"/>
            <a:ext cx="3900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00" dirty="0">
                <a:solidFill>
                  <a:srgbClr val="546E7A"/>
                </a:solidFill>
              </a:rPr>
              <a:t>Dockerfile · docker-compose 생성</a:t>
            </a:r>
          </a:p>
        </p:txBody>
      </p:sp>
      <p:sp>
        <p:nvSpPr>
          <p:cNvPr id="28" name="T28"/>
          <p:cNvSpPr/>
          <p:nvPr/>
        </p:nvSpPr>
        <p:spPr>
          <a:xfrm>
            <a:off x="410000" y="3020000"/>
            <a:ext cx="3900000" cy="26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565C0"/>
                </a:solidFill>
              </a:rPr>
              <a:t>🔗  GitHub 연동</a:t>
            </a:r>
          </a:p>
        </p:txBody>
      </p:sp>
      <p:sp>
        <p:nvSpPr>
          <p:cNvPr id="29" name="T29"/>
          <p:cNvSpPr/>
          <p:nvPr/>
        </p:nvSpPr>
        <p:spPr>
          <a:xfrm>
            <a:off x="410000" y="3260000"/>
            <a:ext cx="3900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00" dirty="0">
                <a:solidFill>
                  <a:srgbClr val="546E7A"/>
                </a:solidFill>
              </a:rPr>
              <a:t>로컬 브랜치 커밋 · PR 자동 생성</a:t>
            </a:r>
          </a:p>
        </p:txBody>
      </p:sp>
      <p:sp>
        <p:nvSpPr>
          <p:cNvPr id="50" name="R50"/>
          <p:cNvSpPr/>
          <p:nvPr/>
        </p:nvSpPr>
        <p:spPr>
          <a:xfrm>
            <a:off x="4709160" y="800000"/>
            <a:ext cx="4160000" cy="3900000"/>
          </a:xfrm>
          <a:prstGeom prst="rect">
            <a:avLst/>
          </a:prstGeom>
          <a:solidFill>
            <a:srgbClr val="FFF8E1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R51"/>
          <p:cNvSpPr/>
          <p:nvPr/>
        </p:nvSpPr>
        <p:spPr>
          <a:xfrm>
            <a:off x="4709160" y="800000"/>
            <a:ext cx="4160000" cy="250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52"/>
          <p:cNvSpPr/>
          <p:nvPr/>
        </p:nvSpPr>
        <p:spPr>
          <a:xfrm>
            <a:off x="4709160" y="800000"/>
            <a:ext cx="4160000" cy="25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400" b="1" dirty="0">
                <a:solidFill>
                  <a:srgbClr val="FFFFFF"/>
                </a:solidFill>
              </a:rPr>
              <a:t>🔮  2학기  —  고도화 예정</a:t>
            </a:r>
          </a:p>
        </p:txBody>
      </p:sp>
      <p:sp>
        <p:nvSpPr>
          <p:cNvPr id="60" name="T60"/>
          <p:cNvSpPr/>
          <p:nvPr/>
        </p:nvSpPr>
        <p:spPr>
          <a:xfrm>
            <a:off x="4850000" y="1100000"/>
            <a:ext cx="3900000" cy="26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65100"/>
                </a:solidFill>
              </a:rPr>
              <a:t>🚀  EC2 · k8s 배포 자동화</a:t>
            </a:r>
          </a:p>
        </p:txBody>
      </p:sp>
      <p:sp>
        <p:nvSpPr>
          <p:cNvPr id="61" name="T61"/>
          <p:cNvSpPr/>
          <p:nvPr/>
        </p:nvSpPr>
        <p:spPr>
          <a:xfrm>
            <a:off x="4850000" y="1340000"/>
            <a:ext cx="3900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00" dirty="0">
                <a:solidFill>
                  <a:srgbClr val="546E7A"/>
                </a:solidFill>
              </a:rPr>
              <a:t>Docker build/run → EC2 SSH 배포 연결</a:t>
            </a:r>
          </a:p>
        </p:txBody>
      </p:sp>
      <p:sp>
        <p:nvSpPr>
          <p:cNvPr id="62" name="T62"/>
          <p:cNvSpPr/>
          <p:nvPr/>
        </p:nvSpPr>
        <p:spPr>
          <a:xfrm>
            <a:off x="4850000" y="1580000"/>
            <a:ext cx="3900000" cy="26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65100"/>
                </a:solidFill>
              </a:rPr>
              <a:t>☁️  AWS S3 세션 저장</a:t>
            </a:r>
          </a:p>
        </p:txBody>
      </p:sp>
      <p:sp>
        <p:nvSpPr>
          <p:cNvPr id="63" name="T63"/>
          <p:cNvSpPr/>
          <p:nvPr/>
        </p:nvSpPr>
        <p:spPr>
          <a:xfrm>
            <a:off x="4850000" y="1820000"/>
            <a:ext cx="3900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00" dirty="0">
                <a:solidFill>
                  <a:srgbClr val="546E7A"/>
                </a:solidFill>
              </a:rPr>
              <a:t>세션 기록 암호화 · 90일 보관 · 분석 대시보드</a:t>
            </a:r>
          </a:p>
        </p:txBody>
      </p:sp>
      <p:sp>
        <p:nvSpPr>
          <p:cNvPr id="64" name="T64"/>
          <p:cNvSpPr/>
          <p:nvPr/>
        </p:nvSpPr>
        <p:spPr>
          <a:xfrm>
            <a:off x="4850000" y="2060000"/>
            <a:ext cx="3900000" cy="26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65100"/>
                </a:solidFill>
              </a:rPr>
              <a:t>🔐  보안 </a:t>
            </a:r>
            <a:r>
              <a:rPr lang="ko-KR" altLang="en-US" sz="1100" b="1" dirty="0">
                <a:solidFill>
                  <a:srgbClr val="E65100"/>
                </a:solidFill>
              </a:rPr>
              <a:t>강화</a:t>
            </a:r>
            <a:endParaRPr lang="ko-KR" sz="1100" b="1" dirty="0">
              <a:solidFill>
                <a:srgbClr val="E65100"/>
              </a:solidFill>
            </a:endParaRPr>
          </a:p>
        </p:txBody>
      </p:sp>
      <p:sp>
        <p:nvSpPr>
          <p:cNvPr id="65" name="T65"/>
          <p:cNvSpPr/>
          <p:nvPr/>
        </p:nvSpPr>
        <p:spPr>
          <a:xfrm>
            <a:off x="4850000" y="2300000"/>
            <a:ext cx="3900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00" dirty="0">
                <a:solidFill>
                  <a:srgbClr val="546E7A"/>
                </a:solidFill>
              </a:rPr>
              <a:t>패키지 CVE · Dockerfile 보안 검사</a:t>
            </a:r>
          </a:p>
        </p:txBody>
      </p:sp>
      <p:sp>
        <p:nvSpPr>
          <p:cNvPr id="66" name="T66"/>
          <p:cNvSpPr/>
          <p:nvPr/>
        </p:nvSpPr>
        <p:spPr>
          <a:xfrm>
            <a:off x="4850000" y="2540000"/>
            <a:ext cx="3900000" cy="26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endParaRPr lang="ko-KR" sz="1100" b="1" dirty="0">
              <a:solidFill>
                <a:srgbClr val="E651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EADD4"/>
                </a:solidFill>
              </a:rPr>
              <a:t>07  /  팀 역할</a:t>
            </a:r>
          </a:p>
        </p:txBody>
      </p:sp>
      <p:sp>
        <p:nvSpPr>
          <p:cNvPr id="5" name="Text 3"/>
          <p:cNvSpPr/>
          <p:nvPr/>
        </p:nvSpPr>
        <p:spPr>
          <a:xfrm>
            <a:off x="2743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팀원별 담당 역할</a:t>
            </a:r>
          </a:p>
        </p:txBody>
      </p:sp>
      <p:sp>
        <p:nvSpPr>
          <p:cNvPr id="10" name="R10"/>
          <p:cNvSpPr/>
          <p:nvPr/>
        </p:nvSpPr>
        <p:spPr>
          <a:xfrm>
            <a:off x="274320" y="800000"/>
            <a:ext cx="4160000" cy="3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R11"/>
          <p:cNvSpPr/>
          <p:nvPr/>
        </p:nvSpPr>
        <p:spPr>
          <a:xfrm>
            <a:off x="274320" y="800000"/>
            <a:ext cx="4160000" cy="30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12"/>
          <p:cNvSpPr/>
          <p:nvPr/>
        </p:nvSpPr>
        <p:spPr>
          <a:xfrm>
            <a:off x="274320" y="800000"/>
            <a:ext cx="4160000" cy="3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200" b="1" dirty="0">
                <a:solidFill>
                  <a:srgbClr val="FFFFFF"/>
                </a:solidFill>
              </a:rPr>
              <a:t>👨‍💻  이동규  —  Infra / Backend / UI</a:t>
            </a:r>
          </a:p>
        </p:txBody>
      </p:sp>
      <p:sp>
        <p:nvSpPr>
          <p:cNvPr id="20" name="R20"/>
          <p:cNvSpPr/>
          <p:nvPr/>
        </p:nvSpPr>
        <p:spPr>
          <a:xfrm>
            <a:off x="310000" y="1200000"/>
            <a:ext cx="4080000" cy="8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30"/>
          <p:cNvSpPr/>
          <p:nvPr/>
        </p:nvSpPr>
        <p:spPr>
          <a:xfrm>
            <a:off x="365760" y="1260000"/>
            <a:ext cx="3960000" cy="2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565C0"/>
                </a:solidFill>
              </a:rPr>
              <a:t>🐳  인프라 &amp; 배포</a:t>
            </a:r>
          </a:p>
        </p:txBody>
      </p:sp>
      <p:sp>
        <p:nvSpPr>
          <p:cNvPr id="40" name="T40"/>
          <p:cNvSpPr/>
          <p:nvPr/>
        </p:nvSpPr>
        <p:spPr>
          <a:xfrm>
            <a:off x="365760" y="1540000"/>
            <a:ext cx="3960000" cy="19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74F"/>
                </a:solidFill>
              </a:rPr>
              <a:t>Infra Agent (Dockerfile/docker-compose)</a:t>
            </a:r>
          </a:p>
        </p:txBody>
      </p:sp>
      <p:sp>
        <p:nvSpPr>
          <p:cNvPr id="41" name="T41"/>
          <p:cNvSpPr/>
          <p:nvPr/>
        </p:nvSpPr>
        <p:spPr>
          <a:xfrm>
            <a:off x="365760" y="1740000"/>
            <a:ext cx="3960000" cy="19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74F"/>
                </a:solidFill>
              </a:rPr>
              <a:t>Deploy Agent (Docker build · EC2 · Health Check)</a:t>
            </a:r>
          </a:p>
        </p:txBody>
      </p:sp>
      <p:sp>
        <p:nvSpPr>
          <p:cNvPr id="21" name="R21"/>
          <p:cNvSpPr/>
          <p:nvPr/>
        </p:nvSpPr>
        <p:spPr>
          <a:xfrm>
            <a:off x="310000" y="2040000"/>
            <a:ext cx="4080000" cy="8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31"/>
          <p:cNvSpPr/>
          <p:nvPr/>
        </p:nvSpPr>
        <p:spPr>
          <a:xfrm>
            <a:off x="365760" y="2100000"/>
            <a:ext cx="3960000" cy="2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565C0"/>
                </a:solidFill>
              </a:rPr>
              <a:t>🖥️  시스템 UI</a:t>
            </a:r>
          </a:p>
        </p:txBody>
      </p:sp>
      <p:sp>
        <p:nvSpPr>
          <p:cNvPr id="43" name="T43"/>
          <p:cNvSpPr/>
          <p:nvPr/>
        </p:nvSpPr>
        <p:spPr>
          <a:xfrm>
            <a:off x="365760" y="2380000"/>
            <a:ext cx="3960000" cy="19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50" dirty="0">
                <a:solidFill>
                  <a:srgbClr val="37474F"/>
                </a:solidFill>
              </a:rPr>
              <a:t>QSystemTrayIcon · PyQt6 GUI 창 설계</a:t>
            </a:r>
          </a:p>
        </p:txBody>
      </p:sp>
      <p:sp>
        <p:nvSpPr>
          <p:cNvPr id="44" name="T44"/>
          <p:cNvSpPr/>
          <p:nvPr/>
        </p:nvSpPr>
        <p:spPr>
          <a:xfrm>
            <a:off x="365760" y="2580000"/>
            <a:ext cx="3960000" cy="19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50" dirty="0">
                <a:solidFill>
                  <a:srgbClr val="37474F"/>
                </a:solidFill>
              </a:rPr>
              <a:t>대시보드 · 상태 창 · 히스토리 창</a:t>
            </a:r>
          </a:p>
        </p:txBody>
      </p:sp>
      <p:sp>
        <p:nvSpPr>
          <p:cNvPr id="22" name="R22"/>
          <p:cNvSpPr/>
          <p:nvPr/>
        </p:nvSpPr>
        <p:spPr>
          <a:xfrm>
            <a:off x="310000" y="2880000"/>
            <a:ext cx="4080000" cy="8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32"/>
          <p:cNvSpPr/>
          <p:nvPr/>
        </p:nvSpPr>
        <p:spPr>
          <a:xfrm>
            <a:off x="365760" y="2940000"/>
            <a:ext cx="3960000" cy="2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565C0"/>
                </a:solidFill>
              </a:rPr>
              <a:t>☁️  클라우드 &amp; 스토리지</a:t>
            </a:r>
          </a:p>
        </p:txBody>
      </p:sp>
      <p:sp>
        <p:nvSpPr>
          <p:cNvPr id="46" name="T46"/>
          <p:cNvSpPr/>
          <p:nvPr/>
        </p:nvSpPr>
        <p:spPr>
          <a:xfrm>
            <a:off x="365760" y="3220000"/>
            <a:ext cx="3960000" cy="19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50" dirty="0">
                <a:solidFill>
                  <a:srgbClr val="37474F"/>
                </a:solidFill>
              </a:rPr>
              <a:t>AWS S3/ECR/EC2 연동 · 세션 업로드</a:t>
            </a:r>
          </a:p>
        </p:txBody>
      </p:sp>
      <p:sp>
        <p:nvSpPr>
          <p:cNvPr id="50" name="R50"/>
          <p:cNvSpPr/>
          <p:nvPr/>
        </p:nvSpPr>
        <p:spPr>
          <a:xfrm>
            <a:off x="4709160" y="800000"/>
            <a:ext cx="4160000" cy="3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R51"/>
          <p:cNvSpPr/>
          <p:nvPr/>
        </p:nvSpPr>
        <p:spPr>
          <a:xfrm>
            <a:off x="4709160" y="800000"/>
            <a:ext cx="4160000" cy="300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52"/>
          <p:cNvSpPr/>
          <p:nvPr/>
        </p:nvSpPr>
        <p:spPr>
          <a:xfrm>
            <a:off x="4709160" y="800000"/>
            <a:ext cx="4160000" cy="3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1200" b="1" dirty="0">
                <a:solidFill>
                  <a:srgbClr val="FFFFFF"/>
                </a:solidFill>
              </a:rPr>
              <a:t>👩‍💻  윤세빈  —  Monitor / Code / AI</a:t>
            </a:r>
          </a:p>
        </p:txBody>
      </p:sp>
      <p:sp>
        <p:nvSpPr>
          <p:cNvPr id="60" name="R60"/>
          <p:cNvSpPr/>
          <p:nvPr/>
        </p:nvSpPr>
        <p:spPr>
          <a:xfrm>
            <a:off x="4750000" y="1200000"/>
            <a:ext cx="4080000" cy="800000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70"/>
          <p:cNvSpPr/>
          <p:nvPr/>
        </p:nvSpPr>
        <p:spPr>
          <a:xfrm>
            <a:off x="4805760" y="1260000"/>
            <a:ext cx="3960000" cy="2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097A7"/>
                </a:solidFill>
              </a:rPr>
              <a:t>🔍  에러 감지 &amp; 수집</a:t>
            </a:r>
          </a:p>
        </p:txBody>
      </p:sp>
      <p:sp>
        <p:nvSpPr>
          <p:cNvPr id="80" name="T80"/>
          <p:cNvSpPr/>
          <p:nvPr/>
        </p:nvSpPr>
        <p:spPr>
          <a:xfrm>
            <a:off x="4805760" y="1540000"/>
            <a:ext cx="3960000" cy="19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50" dirty="0">
                <a:solidFill>
                  <a:srgbClr val="37474F"/>
                </a:solidFill>
              </a:rPr>
              <a:t>Window/Terminal 모니터링</a:t>
            </a:r>
          </a:p>
        </p:txBody>
      </p:sp>
      <p:sp>
        <p:nvSpPr>
          <p:cNvPr id="81" name="T81"/>
          <p:cNvSpPr/>
          <p:nvPr/>
        </p:nvSpPr>
        <p:spPr>
          <a:xfrm>
            <a:off x="4805760" y="1740000"/>
            <a:ext cx="3960000" cy="19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74F"/>
                </a:solidFill>
              </a:rPr>
              <a:t>Trigger Detector · Context Gate</a:t>
            </a:r>
          </a:p>
        </p:txBody>
      </p:sp>
      <p:sp>
        <p:nvSpPr>
          <p:cNvPr id="61" name="R61"/>
          <p:cNvSpPr/>
          <p:nvPr/>
        </p:nvSpPr>
        <p:spPr>
          <a:xfrm>
            <a:off x="4750000" y="2040000"/>
            <a:ext cx="4080000" cy="800000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71"/>
          <p:cNvSpPr/>
          <p:nvPr/>
        </p:nvSpPr>
        <p:spPr>
          <a:xfrm>
            <a:off x="4805760" y="2100000"/>
            <a:ext cx="3960000" cy="2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097A7"/>
                </a:solidFill>
              </a:rPr>
              <a:t>🤖  AI 분석 &amp; 코드 수정</a:t>
            </a:r>
          </a:p>
        </p:txBody>
      </p:sp>
      <p:sp>
        <p:nvSpPr>
          <p:cNvPr id="83" name="T83"/>
          <p:cNvSpPr/>
          <p:nvPr/>
        </p:nvSpPr>
        <p:spPr>
          <a:xfrm>
            <a:off x="4805760" y="2380000"/>
            <a:ext cx="3960000" cy="19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74F"/>
                </a:solidFill>
              </a:rPr>
              <a:t>Context Analyzer · Code Agent</a:t>
            </a:r>
          </a:p>
        </p:txBody>
      </p:sp>
      <p:sp>
        <p:nvSpPr>
          <p:cNvPr id="84" name="T84"/>
          <p:cNvSpPr/>
          <p:nvPr/>
        </p:nvSpPr>
        <p:spPr>
          <a:xfrm>
            <a:off x="4805760" y="2580000"/>
            <a:ext cx="3960000" cy="19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50" dirty="0">
                <a:solidFill>
                  <a:srgbClr val="37474F"/>
                </a:solidFill>
              </a:rPr>
              <a:t>Gemini Flash 호출 · PatchProposal</a:t>
            </a:r>
          </a:p>
        </p:txBody>
      </p:sp>
      <p:sp>
        <p:nvSpPr>
          <p:cNvPr id="62" name="R62"/>
          <p:cNvSpPr/>
          <p:nvPr/>
        </p:nvSpPr>
        <p:spPr>
          <a:xfrm>
            <a:off x="4750000" y="2880000"/>
            <a:ext cx="4080000" cy="800000"/>
          </a:xfrm>
          <a:prstGeom prst="rect">
            <a:avLst/>
          </a:prstGeom>
          <a:solidFill>
            <a:srgbClr val="E0F7F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72"/>
          <p:cNvSpPr/>
          <p:nvPr/>
        </p:nvSpPr>
        <p:spPr>
          <a:xfrm>
            <a:off x="4805760" y="2940000"/>
            <a:ext cx="3960000" cy="2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097A7"/>
                </a:solidFill>
              </a:rPr>
              <a:t>📸  보조 기능</a:t>
            </a:r>
          </a:p>
        </p:txBody>
      </p:sp>
      <p:sp>
        <p:nvSpPr>
          <p:cNvPr id="86" name="T86"/>
          <p:cNvSpPr/>
          <p:nvPr/>
        </p:nvSpPr>
        <p:spPr>
          <a:xfrm>
            <a:off x="4805760" y="3220000"/>
            <a:ext cx="3960000" cy="19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74F"/>
                </a:solidFill>
              </a:rPr>
              <a:t>Capture Manager + RapidOCR</a:t>
            </a:r>
          </a:p>
        </p:txBody>
      </p:sp>
      <p:sp>
        <p:nvSpPr>
          <p:cNvPr id="87" name="T87"/>
          <p:cNvSpPr/>
          <p:nvPr/>
        </p:nvSpPr>
        <p:spPr>
          <a:xfrm>
            <a:off x="4805760" y="3420000"/>
            <a:ext cx="3960000" cy="19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ko-KR" sz="950" dirty="0">
                <a:solidFill>
                  <a:srgbClr val="37474F"/>
                </a:solidFill>
              </a:rPr>
              <a:t>OCR Fallback · 화면 캡처</a:t>
            </a:r>
          </a:p>
        </p:txBody>
      </p:sp>
      <p:sp>
        <p:nvSpPr>
          <p:cNvPr id="95" name="R95"/>
          <p:cNvSpPr/>
          <p:nvPr/>
        </p:nvSpPr>
        <p:spPr>
          <a:xfrm>
            <a:off x="274320" y="4780000"/>
            <a:ext cx="8595360" cy="60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96"/>
          <p:cNvSpPr/>
          <p:nvPr/>
        </p:nvSpPr>
        <p:spPr>
          <a:xfrm>
            <a:off x="274320" y="4720000"/>
            <a:ext cx="8595360" cy="3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ko-KR" sz="950" dirty="0">
                <a:solidFill>
                  <a:srgbClr val="546E7A"/>
                </a:solidFill>
              </a:rPr>
              <a:t>공통: FastAPI 서버 · Orchestrator FSM · PyQt6 위젯 · 세션 기록 · schemas.py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2744"/>
                </a:solidFill>
              </a:rPr>
              <a:t>에러 해결부터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097A7"/>
                </a:solidFill>
              </a:rPr>
              <a:t>배포까지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2744"/>
                </a:solidFill>
              </a:rPr>
              <a:t>자동으로 연결합니다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41148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46E7A"/>
                </a:solidFill>
              </a:rPr>
              <a:t>ReCoder — Remember. Return. Re-Code.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744"/>
                </a:solidFill>
              </a:rPr>
              <a:t>감사합니다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4663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46E7A"/>
                </a:solidFill>
              </a:rPr>
              <a:t>Team CHAIN  |  이동규 · 윤세빈  |  동양미래대학교  |  2026 졸업작품</a:t>
            </a:r>
            <a:endParaRPr lang="en-US" sz="1050" dirty="0"/>
          </a:p>
        </p:txBody>
      </p:sp>
      <p:pic>
        <p:nvPicPr>
          <p:cNvPr id="200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0" y="274320"/>
            <a:ext cx="2057400" cy="112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825</Words>
  <Application>Microsoft Macintosh PowerPoint</Application>
  <PresentationFormat>화면 슬라이드 쇼(16:9)</PresentationFormat>
  <Paragraphs>197</Paragraphs>
  <Slides>13</Slides>
  <Notes>12</Notes>
  <HiddenSlides>0</HiddenSlides>
  <MMClips>3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윤세빈</cp:lastModifiedBy>
  <cp:revision>13</cp:revision>
  <dcterms:created xsi:type="dcterms:W3CDTF">2026-04-27T15:30:38Z</dcterms:created>
  <dcterms:modified xsi:type="dcterms:W3CDTF">2026-04-28T02:08:14Z</dcterms:modified>
</cp:coreProperties>
</file>